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733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72B5A-B8D7-571E-C3FA-D28BA220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158B6-B446-96DA-6164-DB9520D11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F6D20-D14B-D81C-F693-6F3AA6827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163CF-F08C-4125-1CD5-EA0B21470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767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8245" y="665040"/>
            <a:ext cx="5287509" cy="112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1500"/>
              </a:spcBef>
            </a:pPr>
            <a:r>
              <a:rPr lang="en-US" sz="4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Conditional with </a:t>
            </a:r>
            <a:r>
              <a:rPr lang="en-US" sz="40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4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4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00500" y="1951732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08676" y="2389882"/>
            <a:ext cx="33266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1500"/>
              </a:spcBef>
              <a:buNone/>
            </a:pP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808427" y="2389882"/>
            <a:ext cx="5768029" cy="1938278"/>
          </a:xfrm>
          <a:prstGeom prst="roundRect">
            <a:avLst>
              <a:gd name="adj" fmla="val 16396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8433" y="2704207"/>
            <a:ext cx="5337140" cy="138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Each row (1-4) writes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sentence.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65064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1746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umbrella → get wet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295525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500" y="2188964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2654" y="2312789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8250" y="2188964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404" y="2312789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649885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777" y="2792760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33500" y="2669828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8250" y="2669828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000" y="317554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77" y="33184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3500" y="3195489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48250" y="3195489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1000" y="3929807"/>
            <a:ext cx="8382000" cy="41523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3929807"/>
            <a:ext cx="0" cy="415230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3BEDB-AF26-27EA-D5A6-A8909187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2BAD2A-C67D-BDFF-8C3A-1C0B0ED8CC55}"/>
              </a:ext>
            </a:extLst>
          </p:cNvPr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983A52-C62D-A7F6-E009-C07F024E119C}"/>
              </a:ext>
            </a:extLst>
          </p:cNvPr>
          <p:cNvSpPr/>
          <p:nvPr/>
        </p:nvSpPr>
        <p:spPr>
          <a:xfrm>
            <a:off x="381000" y="1465064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F4E5EB-F6A6-F77B-B7F7-FBA891801A23}"/>
              </a:ext>
            </a:extLst>
          </p:cNvPr>
          <p:cNvSpPr/>
          <p:nvPr/>
        </p:nvSpPr>
        <p:spPr>
          <a:xfrm>
            <a:off x="609600" y="161746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D893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No umbrella → get wet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B0BD9A-DBF2-B8AF-F672-DF10B375FD67}"/>
              </a:ext>
            </a:extLst>
          </p:cNvPr>
          <p:cNvSpPr/>
          <p:nvPr/>
        </p:nvSpPr>
        <p:spPr>
          <a:xfrm>
            <a:off x="381000" y="2295525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2FD31F-1637-A4A5-3657-7CA2E9AF40EE}"/>
              </a:ext>
            </a:extLst>
          </p:cNvPr>
          <p:cNvSpPr/>
          <p:nvPr/>
        </p:nvSpPr>
        <p:spPr>
          <a:xfrm>
            <a:off x="1333500" y="2188964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2451A4-BB7C-5FC8-8912-53219F5F09C7}"/>
              </a:ext>
            </a:extLst>
          </p:cNvPr>
          <p:cNvSpPr/>
          <p:nvPr/>
        </p:nvSpPr>
        <p:spPr>
          <a:xfrm>
            <a:off x="1422654" y="2312789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A2995F-10B3-3983-CA1A-3D4914F59C5F}"/>
              </a:ext>
            </a:extLst>
          </p:cNvPr>
          <p:cNvSpPr/>
          <p:nvPr/>
        </p:nvSpPr>
        <p:spPr>
          <a:xfrm>
            <a:off x="5048250" y="2188964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601805-5176-5CAE-B3D9-97038ED98739}"/>
              </a:ext>
            </a:extLst>
          </p:cNvPr>
          <p:cNvSpPr/>
          <p:nvPr/>
        </p:nvSpPr>
        <p:spPr>
          <a:xfrm>
            <a:off x="5137404" y="2312789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A76A1A-33A5-7601-1EE6-17B2DE0CA077}"/>
              </a:ext>
            </a:extLst>
          </p:cNvPr>
          <p:cNvSpPr/>
          <p:nvPr/>
        </p:nvSpPr>
        <p:spPr>
          <a:xfrm>
            <a:off x="381000" y="2649885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BBD624-CAC6-12C3-D8C3-E0389A030BED}"/>
              </a:ext>
            </a:extLst>
          </p:cNvPr>
          <p:cNvSpPr/>
          <p:nvPr/>
        </p:nvSpPr>
        <p:spPr>
          <a:xfrm>
            <a:off x="497777" y="2792760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ECBBD9-F253-59BC-198D-08A663053CA8}"/>
              </a:ext>
            </a:extLst>
          </p:cNvPr>
          <p:cNvSpPr/>
          <p:nvPr/>
        </p:nvSpPr>
        <p:spPr>
          <a:xfrm>
            <a:off x="1333500" y="2669828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24FC38-B156-5C65-C2EE-13DF8043B8FC}"/>
              </a:ext>
            </a:extLst>
          </p:cNvPr>
          <p:cNvSpPr/>
          <p:nvPr/>
        </p:nvSpPr>
        <p:spPr>
          <a:xfrm>
            <a:off x="1495425" y="2812703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you don't take an umbrella, you will get wet.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C94DE3E-EDD7-C8C5-5701-4861BF3B31ED}"/>
              </a:ext>
            </a:extLst>
          </p:cNvPr>
          <p:cNvSpPr/>
          <p:nvPr/>
        </p:nvSpPr>
        <p:spPr>
          <a:xfrm>
            <a:off x="5048250" y="2669828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305D86-749E-1C58-6025-5A96A59A42AD}"/>
              </a:ext>
            </a:extLst>
          </p:cNvPr>
          <p:cNvSpPr/>
          <p:nvPr/>
        </p:nvSpPr>
        <p:spPr>
          <a:xfrm>
            <a:off x="5210175" y="2812703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will get wet </a:t>
            </a: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you don't take an umbrella.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2B371A-1C46-F05E-58BF-8616851D50D8}"/>
              </a:ext>
            </a:extLst>
          </p:cNvPr>
          <p:cNvSpPr/>
          <p:nvPr/>
        </p:nvSpPr>
        <p:spPr>
          <a:xfrm>
            <a:off x="381000" y="317554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2929FE-4376-B04D-8AAD-1F24902D2721}"/>
              </a:ext>
            </a:extLst>
          </p:cNvPr>
          <p:cNvSpPr/>
          <p:nvPr/>
        </p:nvSpPr>
        <p:spPr>
          <a:xfrm>
            <a:off x="497777" y="33184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8C9E97-D45A-2C8C-8A25-946F5A8D5A86}"/>
              </a:ext>
            </a:extLst>
          </p:cNvPr>
          <p:cNvSpPr/>
          <p:nvPr/>
        </p:nvSpPr>
        <p:spPr>
          <a:xfrm>
            <a:off x="1333500" y="3195489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CCF667-4FA3-546A-381B-0380E23E6AAB}"/>
              </a:ext>
            </a:extLst>
          </p:cNvPr>
          <p:cNvSpPr/>
          <p:nvPr/>
        </p:nvSpPr>
        <p:spPr>
          <a:xfrm>
            <a:off x="1495425" y="3338364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you take an umbrella, you will get wet.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82B606-E09B-3D44-29E3-9A2B643B4222}"/>
              </a:ext>
            </a:extLst>
          </p:cNvPr>
          <p:cNvSpPr/>
          <p:nvPr/>
        </p:nvSpPr>
        <p:spPr>
          <a:xfrm>
            <a:off x="5048250" y="3195489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E7F1B01-7FAF-C050-CF2D-8D7516B98B5F}"/>
              </a:ext>
            </a:extLst>
          </p:cNvPr>
          <p:cNvSpPr/>
          <p:nvPr/>
        </p:nvSpPr>
        <p:spPr>
          <a:xfrm>
            <a:off x="5210175" y="3338364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1A20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will get wet </a:t>
            </a: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A20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1A20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you take an umbrella.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524AAB8-6FB3-F8AC-D5DB-695DBAA5B07B}"/>
              </a:ext>
            </a:extLst>
          </p:cNvPr>
          <p:cNvSpPr/>
          <p:nvPr/>
        </p:nvSpPr>
        <p:spPr>
          <a:xfrm>
            <a:off x="381000" y="3929807"/>
            <a:ext cx="8382000" cy="41523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450E547-2D19-73C1-D194-02CD3A346C88}"/>
              </a:ext>
            </a:extLst>
          </p:cNvPr>
          <p:cNvSpPr/>
          <p:nvPr/>
        </p:nvSpPr>
        <p:spPr>
          <a:xfrm>
            <a:off x="400050" y="3929807"/>
            <a:ext cx="0" cy="415230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61BFE3-0240-407A-FEC0-7540CA7E5670}"/>
              </a:ext>
            </a:extLst>
          </p:cNvPr>
          <p:cNvSpPr/>
          <p:nvPr/>
        </p:nvSpPr>
        <p:spPr>
          <a:xfrm>
            <a:off x="609600" y="4044107"/>
            <a:ext cx="8122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10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"unless" = "if ... not" – so the negative is turned around!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117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08820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6122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breakfast → be hungry later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33928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50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265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825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40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832646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777" y="29755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3350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542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825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017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63646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77" y="377934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350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9542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825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017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062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75495" y="306735"/>
            <a:ext cx="993874" cy="300930"/>
          </a:xfrm>
          <a:prstGeom prst="roundRect">
            <a:avLst>
              <a:gd name="adj" fmla="val 6330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27895" y="363885"/>
            <a:ext cx="702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748879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127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breakfast → be hungry later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57934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265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825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740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933700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777" y="3076575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3500" y="2953643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9542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eat breakfast, you will be hungry later.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48250" y="2953643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1017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be hungry later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eat breakfast.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81000" y="3459361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777" y="3602236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3479304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9542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eat breakfast, you will be hungry later.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48250" y="3479304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17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be hungry later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eat breakfast.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08820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6122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Leave now → catch the bus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33928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50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265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825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40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832646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777" y="29755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3350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542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825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017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63646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77" y="377934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350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9542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825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017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062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75495" y="306735"/>
            <a:ext cx="993874" cy="300930"/>
          </a:xfrm>
          <a:prstGeom prst="roundRect">
            <a:avLst>
              <a:gd name="adj" fmla="val 6330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27895" y="363885"/>
            <a:ext cx="702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748879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127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Leave now → catch the bus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57934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265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825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740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933700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777" y="3076575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3500" y="2953643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9542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leave now, you will catch the bus.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48250" y="2953643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1017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catch the bus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leave now.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81000" y="3459361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777" y="3602236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3479304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9542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leave now, you won't catch the bus.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48250" y="3479304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17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won't catch the bus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leave now.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08820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6122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practice → not improve at guitar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33928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50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265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825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40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832646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777" y="29755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3350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542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825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017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63646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77" y="377934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350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9542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825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017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062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75495" y="306735"/>
            <a:ext cx="993874" cy="300930"/>
          </a:xfrm>
          <a:prstGeom prst="roundRect">
            <a:avLst>
              <a:gd name="adj" fmla="val 6330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27895" y="363885"/>
            <a:ext cx="702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748879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127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practice → not improve at guitar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57934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265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825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740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933700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777" y="3076575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3500" y="2953643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9542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practise, you won't improve at guitar.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48250" y="2953643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1017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won't improve at guitar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practise.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81000" y="3459361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777" y="3602236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3479304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9542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practise, you won't improve at guitar.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48250" y="3479304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17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won't improve at guitar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practise.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08820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6122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coat → get cold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33928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3350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265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8250" y="2232720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7404" y="2356545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832646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777" y="297552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3350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542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8250" y="2693640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10175" y="2988915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636466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77" y="3779341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3350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9542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8250" y="3497461"/>
            <a:ext cx="3714750" cy="803821"/>
          </a:xfrm>
          <a:prstGeom prst="rect">
            <a:avLst/>
          </a:prstGeom>
          <a:solidFill>
            <a:srgbClr val="1A365D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0175" y="3792736"/>
            <a:ext cx="34587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062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75495" y="306735"/>
            <a:ext cx="993874" cy="300930"/>
          </a:xfrm>
          <a:prstGeom prst="roundRect">
            <a:avLst>
              <a:gd name="adj" fmla="val 6330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27895" y="363885"/>
            <a:ext cx="702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748879"/>
            <a:ext cx="8382000" cy="57150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127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coat → get cold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579340"/>
            <a:ext cx="952500" cy="247650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265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8250" y="2472779"/>
            <a:ext cx="3714750" cy="460921"/>
          </a:xfrm>
          <a:prstGeom prst="rect">
            <a:avLst/>
          </a:prstGeom>
          <a:solidFill>
            <a:srgbClr val="2D3748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7404" y="2596604"/>
            <a:ext cx="3536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933700"/>
            <a:ext cx="952500" cy="525661"/>
          </a:xfrm>
          <a:prstGeom prst="rect">
            <a:avLst/>
          </a:prstGeom>
          <a:solidFill>
            <a:srgbClr val="2B6CB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777" y="3076575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3500" y="2953643"/>
            <a:ext cx="3714750" cy="485775"/>
          </a:xfrm>
          <a:prstGeom prst="rect">
            <a:avLst/>
          </a:prstGeom>
          <a:solidFill>
            <a:srgbClr val="3182CE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9542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wear a coat, you will get cold.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48250" y="2953643"/>
            <a:ext cx="3714750" cy="485775"/>
          </a:xfrm>
          <a:prstGeom prst="rect">
            <a:avLst/>
          </a:prstGeom>
          <a:solidFill>
            <a:srgbClr val="4299E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10175" y="3096518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get cold </a:t>
            </a: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don't wear a coat.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81000" y="3459361"/>
            <a:ext cx="952500" cy="525661"/>
          </a:xfrm>
          <a:prstGeom prst="rect">
            <a:avLst/>
          </a:prstGeom>
          <a:solidFill>
            <a:srgbClr val="C05621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777" y="3602236"/>
            <a:ext cx="7189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3479304"/>
            <a:ext cx="3714750" cy="485775"/>
          </a:xfrm>
          <a:prstGeom prst="rect">
            <a:avLst/>
          </a:prstGeom>
          <a:solidFill>
            <a:srgbClr val="DD6B20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9542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wear a coat, you will get cold.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48250" y="3479304"/>
            <a:ext cx="3714750" cy="485775"/>
          </a:xfrm>
          <a:prstGeom prst="rect">
            <a:avLst/>
          </a:prstGeom>
          <a:solidFill>
            <a:srgbClr val="ED8936"/>
          </a:solidFill>
          <a:ln w="9525">
            <a:solidFill>
              <a:srgbClr val="4A556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175" y="3622179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get cold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wear a coat.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Macintosh PowerPoint</Application>
  <PresentationFormat>Bildschirmpräsentation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 it Four Ways - First Conditional</dc:title>
  <dc:subject>PptxGenJS Presentation</dc:subject>
  <dc:creator>PptxGenJS</dc:creator>
  <cp:lastModifiedBy>Orhan Vehabovic</cp:lastModifiedBy>
  <cp:revision>5</cp:revision>
  <dcterms:created xsi:type="dcterms:W3CDTF">2026-01-13T18:00:56Z</dcterms:created>
  <dcterms:modified xsi:type="dcterms:W3CDTF">2026-01-14T05:32:37Z</dcterms:modified>
</cp:coreProperties>
</file>