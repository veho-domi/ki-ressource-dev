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958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76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5491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1CBD4-FD7A-9450-DC80-2EECA4CA5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8D4C95-3DC5-478D-D257-69C9A5BB7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7EA2BE-ED99-C6FC-111E-601F095FE4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D374D-7222-1AA3-9F64-39DA6A6305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2561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EB043-116E-69E4-ECBF-BEDA395BC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0E0BA8-A847-F19A-C9A0-2684BBBB33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13F6F6-43FD-4586-8ECB-81E5C58E9A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624E6-163A-C621-D721-997FAFB993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471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4EACF-D9E5-F208-A0CB-686CAE08C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E065530-7DF0-12A7-DBB4-F68D148534D1}"/>
              </a:ext>
            </a:extLst>
          </p:cNvPr>
          <p:cNvSpPr/>
          <p:nvPr/>
        </p:nvSpPr>
        <p:spPr>
          <a:xfrm>
            <a:off x="2332577" y="228600"/>
            <a:ext cx="4478845" cy="574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exercise: </a:t>
            </a:r>
            <a:br>
              <a:rPr lang="en-US" sz="2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2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own school menu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4459764-0D7D-7FF7-B2C3-B629EBF21DC7}"/>
              </a:ext>
            </a:extLst>
          </p:cNvPr>
          <p:cNvSpPr/>
          <p:nvPr/>
        </p:nvSpPr>
        <p:spPr>
          <a:xfrm>
            <a:off x="141732" y="959273"/>
            <a:ext cx="88605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Work in pairs and create your own unique lunch menu for our school.</a:t>
            </a:r>
            <a:endParaRPr lang="en-US" b="1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4E06363-C5FD-64C6-8BFC-3AB8B57434B6}"/>
              </a:ext>
            </a:extLst>
          </p:cNvPr>
          <p:cNvSpPr/>
          <p:nvPr/>
        </p:nvSpPr>
        <p:spPr>
          <a:xfrm>
            <a:off x="252412" y="1858245"/>
            <a:ext cx="3822055" cy="1194659"/>
          </a:xfrm>
          <a:prstGeom prst="roundRect">
            <a:avLst>
              <a:gd name="adj" fmla="val 7650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82559BA-7608-6D9F-9842-F18DF046139E}"/>
              </a:ext>
            </a:extLst>
          </p:cNvPr>
          <p:cNvSpPr/>
          <p:nvPr/>
        </p:nvSpPr>
        <p:spPr>
          <a:xfrm flipH="1">
            <a:off x="271267" y="1818431"/>
            <a:ext cx="14288" cy="1189360"/>
          </a:xfrm>
          <a:prstGeom prst="line">
            <a:avLst/>
          </a:prstGeom>
          <a:noFill/>
          <a:ln w="4762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de-DE" sz="3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AE374F9-2CC9-9FE5-B266-BAB4F6A6CAFA}"/>
              </a:ext>
            </a:extLst>
          </p:cNvPr>
          <p:cNvSpPr/>
          <p:nvPr/>
        </p:nvSpPr>
        <p:spPr>
          <a:xfrm>
            <a:off x="414337" y="1977844"/>
            <a:ext cx="361674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menu must include:</a:t>
            </a:r>
            <a:endParaRPr lang="en-US" sz="1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A9AC793-F94C-A2C0-E801-9CACC949DB1A}"/>
              </a:ext>
            </a:extLst>
          </p:cNvPr>
          <p:cNvSpPr/>
          <p:nvPr/>
        </p:nvSpPr>
        <p:spPr>
          <a:xfrm>
            <a:off x="414337" y="2208230"/>
            <a:ext cx="36167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8677C7C-CB77-B8AF-8E08-792D5A6A14A0}"/>
              </a:ext>
            </a:extLst>
          </p:cNvPr>
          <p:cNvSpPr/>
          <p:nvPr/>
        </p:nvSpPr>
        <p:spPr>
          <a:xfrm>
            <a:off x="414337" y="2396795"/>
            <a:ext cx="36167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course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BED574A-0D83-162A-01CC-37FA9AF5A530}"/>
              </a:ext>
            </a:extLst>
          </p:cNvPr>
          <p:cNvSpPr/>
          <p:nvPr/>
        </p:nvSpPr>
        <p:spPr>
          <a:xfrm>
            <a:off x="414337" y="2585361"/>
            <a:ext cx="36167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Dessert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F987FEE-4735-A4BB-5C4A-4EFF274E94ED}"/>
              </a:ext>
            </a:extLst>
          </p:cNvPr>
          <p:cNvSpPr/>
          <p:nvPr/>
        </p:nvSpPr>
        <p:spPr>
          <a:xfrm>
            <a:off x="252412" y="3129104"/>
            <a:ext cx="3822055" cy="807541"/>
          </a:xfrm>
          <a:prstGeom prst="roundRect">
            <a:avLst>
              <a:gd name="adj" fmla="val 9436"/>
            </a:avLst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BDE2624-CCDD-BB30-265B-085F9CCFF892}"/>
              </a:ext>
            </a:extLst>
          </p:cNvPr>
          <p:cNvSpPr/>
          <p:nvPr/>
        </p:nvSpPr>
        <p:spPr>
          <a:xfrm>
            <a:off x="276225" y="3129104"/>
            <a:ext cx="0" cy="807541"/>
          </a:xfrm>
          <a:prstGeom prst="line">
            <a:avLst/>
          </a:prstGeom>
          <a:noFill/>
          <a:ln w="47625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de-DE" sz="32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01F68A7-A607-E2D9-6CBB-2B91718E7A0A}"/>
              </a:ext>
            </a:extLst>
          </p:cNvPr>
          <p:cNvSpPr/>
          <p:nvPr/>
        </p:nvSpPr>
        <p:spPr>
          <a:xfrm>
            <a:off x="414337" y="3243404"/>
            <a:ext cx="361674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dish: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A366FD5-2EA2-DD47-9EEF-940549CF3436}"/>
              </a:ext>
            </a:extLst>
          </p:cNvPr>
          <p:cNvSpPr/>
          <p:nvPr/>
        </p:nvSpPr>
        <p:spPr>
          <a:xfrm>
            <a:off x="414337" y="3473790"/>
            <a:ext cx="36167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Name</a:t>
            </a: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dish</a:t>
            </a:r>
            <a:endParaRPr lang="en-US" sz="1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269C978-7E86-D5AC-6281-8E338DB8737D}"/>
              </a:ext>
            </a:extLst>
          </p:cNvPr>
          <p:cNvSpPr/>
          <p:nvPr/>
        </p:nvSpPr>
        <p:spPr>
          <a:xfrm>
            <a:off x="414337" y="3662355"/>
            <a:ext cx="36167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Describe</a:t>
            </a: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- What's in it? How does it taste?</a:t>
            </a:r>
            <a:endParaRPr lang="en-US" sz="1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2D49850-4D2A-6AB5-F22B-A5A379005323}"/>
              </a:ext>
            </a:extLst>
          </p:cNvPr>
          <p:cNvSpPr/>
          <p:nvPr/>
        </p:nvSpPr>
        <p:spPr>
          <a:xfrm>
            <a:off x="252412" y="4012845"/>
            <a:ext cx="3822055" cy="902940"/>
          </a:xfrm>
          <a:prstGeom prst="roundRect">
            <a:avLst>
              <a:gd name="adj" fmla="val 8439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1C47745-8F0F-E853-B8ED-A159A5816CF6}"/>
              </a:ext>
            </a:extLst>
          </p:cNvPr>
          <p:cNvSpPr/>
          <p:nvPr/>
        </p:nvSpPr>
        <p:spPr>
          <a:xfrm>
            <a:off x="357187" y="4117620"/>
            <a:ext cx="36847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vocabulary:</a:t>
            </a: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B363D68-7E4D-CDD4-94F4-2A29D91FA8ED}"/>
              </a:ext>
            </a:extLst>
          </p:cNvPr>
          <p:cNvSpPr/>
          <p:nvPr/>
        </p:nvSpPr>
        <p:spPr>
          <a:xfrm>
            <a:off x="357187" y="4334760"/>
            <a:ext cx="36847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Taste:</a:t>
            </a: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delicious, tasty, sweet, salty, spicy, fresh,... </a:t>
            </a:r>
            <a:endParaRPr lang="en-US" sz="10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31B6C28-4A7F-224E-2883-252287C58E37}"/>
              </a:ext>
            </a:extLst>
          </p:cNvPr>
          <p:cNvSpPr/>
          <p:nvPr/>
        </p:nvSpPr>
        <p:spPr>
          <a:xfrm>
            <a:off x="357187" y="4506210"/>
            <a:ext cx="36847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Texture:</a:t>
            </a: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crispy, crunchy, soft, creamy, juicy,..</a:t>
            </a:r>
            <a:endParaRPr lang="en-US" sz="10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057BF9A-2354-F496-79DA-AC29F1031D6D}"/>
              </a:ext>
            </a:extLst>
          </p:cNvPr>
          <p:cNvSpPr/>
          <p:nvPr/>
        </p:nvSpPr>
        <p:spPr>
          <a:xfrm>
            <a:off x="357187" y="4677660"/>
            <a:ext cx="36847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Opinion:</a:t>
            </a: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healthy, nutritious, filling, fattening,...</a:t>
            </a:r>
            <a:endParaRPr lang="en-US" sz="10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0ACA402-D82C-3606-F06C-3A20CE5F04BD}"/>
              </a:ext>
            </a:extLst>
          </p:cNvPr>
          <p:cNvSpPr/>
          <p:nvPr/>
        </p:nvSpPr>
        <p:spPr>
          <a:xfrm>
            <a:off x="4293397" y="1858245"/>
            <a:ext cx="4517082" cy="198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your choices using linkers (write at least one sentence for each category)</a:t>
            </a:r>
            <a:endParaRPr lang="en-US" sz="16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86A6A1B-5A8C-35C0-57AA-D2FF47E52559}"/>
              </a:ext>
            </a:extLst>
          </p:cNvPr>
          <p:cNvSpPr/>
          <p:nvPr/>
        </p:nvSpPr>
        <p:spPr>
          <a:xfrm>
            <a:off x="4226867" y="2373057"/>
            <a:ext cx="4517082" cy="687586"/>
          </a:xfrm>
          <a:prstGeom prst="roundRect">
            <a:avLst>
              <a:gd name="adj" fmla="val 11082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8D5440C-09D3-AE85-A320-FD1B35BCEC6E}"/>
              </a:ext>
            </a:extLst>
          </p:cNvPr>
          <p:cNvSpPr/>
          <p:nvPr/>
        </p:nvSpPr>
        <p:spPr>
          <a:xfrm>
            <a:off x="4250680" y="2373057"/>
            <a:ext cx="0" cy="687586"/>
          </a:xfrm>
          <a:prstGeom prst="line">
            <a:avLst/>
          </a:prstGeom>
          <a:noFill/>
          <a:ln w="47625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de-DE" sz="32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79BD559-A141-F704-8A9D-F0EAB8C301F1}"/>
              </a:ext>
            </a:extLst>
          </p:cNvPr>
          <p:cNvSpPr/>
          <p:nvPr/>
        </p:nvSpPr>
        <p:spPr>
          <a:xfrm>
            <a:off x="4369742" y="2468307"/>
            <a:ext cx="43645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a Cause + Result</a:t>
            </a:r>
            <a:endParaRPr lang="en-US" sz="12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E60A80C-1A91-90E0-7B1B-E81A115DDB51}"/>
              </a:ext>
            </a:extLst>
          </p:cNvPr>
          <p:cNvSpPr/>
          <p:nvPr/>
        </p:nvSpPr>
        <p:spPr>
          <a:xfrm>
            <a:off x="4369742" y="2656872"/>
            <a:ext cx="43645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example: </a:t>
            </a:r>
            <a:b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students like this option </a:t>
            </a:r>
            <a:r>
              <a:rPr lang="en-US" sz="1100" b="1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of</a:t>
            </a: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(+ noun)</a:t>
            </a:r>
            <a:endParaRPr lang="en-US" sz="11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96D3848-D25A-BB16-B42C-9028241C3226}"/>
              </a:ext>
            </a:extLst>
          </p:cNvPr>
          <p:cNvSpPr/>
          <p:nvPr/>
        </p:nvSpPr>
        <p:spPr>
          <a:xfrm>
            <a:off x="4226867" y="3117793"/>
            <a:ext cx="4517082" cy="853232"/>
          </a:xfrm>
          <a:prstGeom prst="roundRect">
            <a:avLst>
              <a:gd name="adj" fmla="val 8931"/>
            </a:avLst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5169CFCD-B6F9-7A2F-D62D-3A7BC467FD15}"/>
              </a:ext>
            </a:extLst>
          </p:cNvPr>
          <p:cNvSpPr/>
          <p:nvPr/>
        </p:nvSpPr>
        <p:spPr>
          <a:xfrm>
            <a:off x="4250680" y="3117793"/>
            <a:ext cx="0" cy="853232"/>
          </a:xfrm>
          <a:prstGeom prst="line">
            <a:avLst/>
          </a:prstGeom>
          <a:noFill/>
          <a:ln w="47625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de-DE" sz="32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6F1C943-8DC3-65B5-00C6-7EB56ABB4615}"/>
              </a:ext>
            </a:extLst>
          </p:cNvPr>
          <p:cNvSpPr/>
          <p:nvPr/>
        </p:nvSpPr>
        <p:spPr>
          <a:xfrm>
            <a:off x="4369742" y="3213043"/>
            <a:ext cx="43645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12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purpose: </a:t>
            </a:r>
            <a:endParaRPr lang="en-US" sz="12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BE8F536-86A6-B851-484C-17BF9D2CDF57}"/>
              </a:ext>
            </a:extLst>
          </p:cNvPr>
          <p:cNvSpPr/>
          <p:nvPr/>
        </p:nvSpPr>
        <p:spPr>
          <a:xfrm>
            <a:off x="4369742" y="3401608"/>
            <a:ext cx="43645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example:</a:t>
            </a:r>
            <a:b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decided to put this on the menu </a:t>
            </a:r>
            <a:r>
              <a:rPr lang="en-US" sz="1100" b="1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order to</a:t>
            </a: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(+ verb)</a:t>
            </a:r>
            <a:endParaRPr lang="en-US" sz="11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C48A6F57-3166-420E-7AAB-3A0B075F6E3B}"/>
              </a:ext>
            </a:extLst>
          </p:cNvPr>
          <p:cNvSpPr/>
          <p:nvPr/>
        </p:nvSpPr>
        <p:spPr>
          <a:xfrm>
            <a:off x="4365126" y="3719653"/>
            <a:ext cx="43645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r>
              <a:rPr lang="en-US" sz="1100" b="1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that</a:t>
            </a: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(+ clause)</a:t>
            </a:r>
            <a:endParaRPr lang="en-US" sz="11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8C75F550-182D-8A9A-C263-6C249523699F}"/>
              </a:ext>
            </a:extLst>
          </p:cNvPr>
          <p:cNvSpPr/>
          <p:nvPr/>
        </p:nvSpPr>
        <p:spPr>
          <a:xfrm>
            <a:off x="4226867" y="4028174"/>
            <a:ext cx="4517082" cy="853232"/>
          </a:xfrm>
          <a:prstGeom prst="roundRect">
            <a:avLst>
              <a:gd name="adj" fmla="val 8931"/>
            </a:avLst>
          </a:prstGeom>
          <a:solidFill>
            <a:srgbClr val="FBE9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77DDAEBD-B5BB-B96A-8236-47DE85DF43A8}"/>
              </a:ext>
            </a:extLst>
          </p:cNvPr>
          <p:cNvSpPr/>
          <p:nvPr/>
        </p:nvSpPr>
        <p:spPr>
          <a:xfrm>
            <a:off x="4250680" y="4028174"/>
            <a:ext cx="0" cy="853232"/>
          </a:xfrm>
          <a:prstGeom prst="line">
            <a:avLst/>
          </a:prstGeom>
          <a:noFill/>
          <a:ln w="47625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de-DE" sz="320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D2B0219E-1269-BA6A-FB1F-8FF88F354E69}"/>
              </a:ext>
            </a:extLst>
          </p:cNvPr>
          <p:cNvSpPr/>
          <p:nvPr/>
        </p:nvSpPr>
        <p:spPr>
          <a:xfrm>
            <a:off x="4369742" y="4123424"/>
            <a:ext cx="43645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1200" b="1" dirty="0">
                <a:solidFill>
                  <a:srgbClr val="D84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a contrast: </a:t>
            </a:r>
            <a:endParaRPr lang="en-US" sz="12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0211BE82-CFF1-2F94-0F75-65B00E1BDDFF}"/>
              </a:ext>
            </a:extLst>
          </p:cNvPr>
          <p:cNvSpPr/>
          <p:nvPr/>
        </p:nvSpPr>
        <p:spPr>
          <a:xfrm>
            <a:off x="4369742" y="4311990"/>
            <a:ext cx="43645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example:</a:t>
            </a:r>
          </a:p>
          <a:p>
            <a:pPr marL="0" indent="0" algn="l">
              <a:lnSpc>
                <a:spcPts val="1155"/>
              </a:lnSpc>
              <a:buNone/>
            </a:pP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chose this option </a:t>
            </a:r>
            <a:r>
              <a:rPr lang="en-US" sz="1100" b="1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although</a:t>
            </a: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(mid-sentence)</a:t>
            </a:r>
            <a:endParaRPr lang="en-US" sz="11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BE3B31D8-2794-A1C0-9A31-B32734AAC8F2}"/>
              </a:ext>
            </a:extLst>
          </p:cNvPr>
          <p:cNvSpPr/>
          <p:nvPr/>
        </p:nvSpPr>
        <p:spPr>
          <a:xfrm>
            <a:off x="4365126" y="4632642"/>
            <a:ext cx="43645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1100" b="1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However</a:t>
            </a: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...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(new sentence)</a:t>
            </a:r>
            <a:endParaRPr lang="en-US" sz="11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35CBA289-CEAA-B293-2DC7-09371424C31A}"/>
              </a:ext>
            </a:extLst>
          </p:cNvPr>
          <p:cNvSpPr/>
          <p:nvPr/>
        </p:nvSpPr>
        <p:spPr>
          <a:xfrm>
            <a:off x="216352" y="1419146"/>
            <a:ext cx="3858115" cy="263091"/>
          </a:xfrm>
          <a:prstGeom prst="roundRect">
            <a:avLst>
              <a:gd name="adj" fmla="val 17550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D9F0669F-0E3D-2686-B11F-5DFE921EC5AD}"/>
              </a:ext>
            </a:extLst>
          </p:cNvPr>
          <p:cNvSpPr/>
          <p:nvPr/>
        </p:nvSpPr>
        <p:spPr>
          <a:xfrm>
            <a:off x="578155" y="1492344"/>
            <a:ext cx="2828544" cy="19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Decide together </a:t>
            </a:r>
            <a:endParaRPr lang="en-US" dirty="0"/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01F31721-F4BE-8339-D4BF-48F4FD456D9D}"/>
              </a:ext>
            </a:extLst>
          </p:cNvPr>
          <p:cNvSpPr/>
          <p:nvPr/>
        </p:nvSpPr>
        <p:spPr>
          <a:xfrm>
            <a:off x="4226867" y="1419687"/>
            <a:ext cx="4464549" cy="263092"/>
          </a:xfrm>
          <a:prstGeom prst="roundRect">
            <a:avLst>
              <a:gd name="adj" fmla="val 17550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41" name="Text 37">
            <a:extLst>
              <a:ext uri="{FF2B5EF4-FFF2-40B4-BE49-F238E27FC236}">
                <a16:creationId xmlns:a16="http://schemas.microsoft.com/office/drawing/2014/main" id="{26D7269D-F914-27D6-BB84-D5BD8B4409F9}"/>
              </a:ext>
            </a:extLst>
          </p:cNvPr>
          <p:cNvSpPr/>
          <p:nvPr/>
        </p:nvSpPr>
        <p:spPr>
          <a:xfrm>
            <a:off x="4241010" y="1481820"/>
            <a:ext cx="4374207" cy="211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Write a short  text (~ 80 words) about it: </a:t>
            </a:r>
            <a:endParaRPr lang="en-US" sz="1600" dirty="0"/>
          </a:p>
        </p:txBody>
      </p:sp>
      <p:sp>
        <p:nvSpPr>
          <p:cNvPr id="42" name="Text 7">
            <a:extLst>
              <a:ext uri="{FF2B5EF4-FFF2-40B4-BE49-F238E27FC236}">
                <a16:creationId xmlns:a16="http://schemas.microsoft.com/office/drawing/2014/main" id="{23E496F9-ADA0-65D7-4244-6F6033F81255}"/>
              </a:ext>
            </a:extLst>
          </p:cNvPr>
          <p:cNvSpPr/>
          <p:nvPr/>
        </p:nvSpPr>
        <p:spPr>
          <a:xfrm>
            <a:off x="409721" y="2790705"/>
            <a:ext cx="36167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Drink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98068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48603-A033-66AF-AACF-7F50B701C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CCDB46D-0E91-2E40-CA06-5F3E9172B289}"/>
              </a:ext>
            </a:extLst>
          </p:cNvPr>
          <p:cNvSpPr/>
          <p:nvPr/>
        </p:nvSpPr>
        <p:spPr>
          <a:xfrm>
            <a:off x="2332577" y="228600"/>
            <a:ext cx="4478845" cy="574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exercise: </a:t>
            </a:r>
            <a:br>
              <a:rPr lang="en-US" sz="2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2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own school menu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B16038A-75C0-4E8E-2BEF-57FDB038A367}"/>
              </a:ext>
            </a:extLst>
          </p:cNvPr>
          <p:cNvSpPr/>
          <p:nvPr/>
        </p:nvSpPr>
        <p:spPr>
          <a:xfrm>
            <a:off x="141732" y="959273"/>
            <a:ext cx="88605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Work in pairs and create your own unique lunch menu for our school.</a:t>
            </a:r>
            <a:endParaRPr lang="en-US" b="1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51D266F-5322-02B2-C6D6-737E26C409DB}"/>
              </a:ext>
            </a:extLst>
          </p:cNvPr>
          <p:cNvSpPr/>
          <p:nvPr/>
        </p:nvSpPr>
        <p:spPr>
          <a:xfrm>
            <a:off x="252412" y="1858245"/>
            <a:ext cx="3822055" cy="1194659"/>
          </a:xfrm>
          <a:prstGeom prst="roundRect">
            <a:avLst>
              <a:gd name="adj" fmla="val 7650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7A720DE-7B27-E4A8-32C0-CDEDBF8E1E3F}"/>
              </a:ext>
            </a:extLst>
          </p:cNvPr>
          <p:cNvSpPr/>
          <p:nvPr/>
        </p:nvSpPr>
        <p:spPr>
          <a:xfrm flipH="1">
            <a:off x="271267" y="1818431"/>
            <a:ext cx="14288" cy="1189360"/>
          </a:xfrm>
          <a:prstGeom prst="line">
            <a:avLst/>
          </a:prstGeom>
          <a:noFill/>
          <a:ln w="4762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de-DE" sz="3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44FBF29-246E-524C-4F62-39F47534B19F}"/>
              </a:ext>
            </a:extLst>
          </p:cNvPr>
          <p:cNvSpPr/>
          <p:nvPr/>
        </p:nvSpPr>
        <p:spPr>
          <a:xfrm>
            <a:off x="414337" y="1977844"/>
            <a:ext cx="361674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menu must include:</a:t>
            </a:r>
            <a:endParaRPr lang="en-US" sz="1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99FBA4B-CFFF-FFB5-6D4A-D937BC4B3F97}"/>
              </a:ext>
            </a:extLst>
          </p:cNvPr>
          <p:cNvSpPr/>
          <p:nvPr/>
        </p:nvSpPr>
        <p:spPr>
          <a:xfrm>
            <a:off x="414337" y="2208230"/>
            <a:ext cx="36167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AD61623-377D-7F93-BBEB-131D7CC7C9EA}"/>
              </a:ext>
            </a:extLst>
          </p:cNvPr>
          <p:cNvSpPr/>
          <p:nvPr/>
        </p:nvSpPr>
        <p:spPr>
          <a:xfrm>
            <a:off x="414337" y="2396795"/>
            <a:ext cx="36167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course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95966AA-1EEA-C2B2-E63C-617589AEA6C8}"/>
              </a:ext>
            </a:extLst>
          </p:cNvPr>
          <p:cNvSpPr/>
          <p:nvPr/>
        </p:nvSpPr>
        <p:spPr>
          <a:xfrm>
            <a:off x="414337" y="2585361"/>
            <a:ext cx="36167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Dessert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B7CD708-E7D2-D0F9-CAEC-757E0EE70101}"/>
              </a:ext>
            </a:extLst>
          </p:cNvPr>
          <p:cNvSpPr/>
          <p:nvPr/>
        </p:nvSpPr>
        <p:spPr>
          <a:xfrm>
            <a:off x="252412" y="3129104"/>
            <a:ext cx="3822055" cy="807541"/>
          </a:xfrm>
          <a:prstGeom prst="roundRect">
            <a:avLst>
              <a:gd name="adj" fmla="val 9436"/>
            </a:avLst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1B2870B-520D-11F1-A0CA-AE10DCCE9FF8}"/>
              </a:ext>
            </a:extLst>
          </p:cNvPr>
          <p:cNvSpPr/>
          <p:nvPr/>
        </p:nvSpPr>
        <p:spPr>
          <a:xfrm>
            <a:off x="276225" y="3129104"/>
            <a:ext cx="0" cy="807541"/>
          </a:xfrm>
          <a:prstGeom prst="line">
            <a:avLst/>
          </a:prstGeom>
          <a:noFill/>
          <a:ln w="47625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de-DE" sz="32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042DA6C-B7EE-F13B-D6A5-0A229D8A5494}"/>
              </a:ext>
            </a:extLst>
          </p:cNvPr>
          <p:cNvSpPr/>
          <p:nvPr/>
        </p:nvSpPr>
        <p:spPr>
          <a:xfrm>
            <a:off x="414337" y="3243404"/>
            <a:ext cx="361674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dish: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7039AAB-6318-ABD3-07BA-3EF2DCC52981}"/>
              </a:ext>
            </a:extLst>
          </p:cNvPr>
          <p:cNvSpPr/>
          <p:nvPr/>
        </p:nvSpPr>
        <p:spPr>
          <a:xfrm>
            <a:off x="414337" y="3473790"/>
            <a:ext cx="36167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Name</a:t>
            </a: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dish</a:t>
            </a:r>
            <a:endParaRPr lang="en-US" sz="1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59C406A-4240-1C88-E9C6-85B315B67877}"/>
              </a:ext>
            </a:extLst>
          </p:cNvPr>
          <p:cNvSpPr/>
          <p:nvPr/>
        </p:nvSpPr>
        <p:spPr>
          <a:xfrm>
            <a:off x="414337" y="3662355"/>
            <a:ext cx="36167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Describe</a:t>
            </a: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- What's in it? How does it taste?</a:t>
            </a:r>
            <a:endParaRPr lang="en-US" sz="1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B5F9F97-9CBA-CD00-4CED-F8AFB1E62AD1}"/>
              </a:ext>
            </a:extLst>
          </p:cNvPr>
          <p:cNvSpPr/>
          <p:nvPr/>
        </p:nvSpPr>
        <p:spPr>
          <a:xfrm>
            <a:off x="252412" y="4012845"/>
            <a:ext cx="3822055" cy="902940"/>
          </a:xfrm>
          <a:prstGeom prst="roundRect">
            <a:avLst>
              <a:gd name="adj" fmla="val 8439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E423FB0-AB77-CEEB-DB33-7ABCD431E2D8}"/>
              </a:ext>
            </a:extLst>
          </p:cNvPr>
          <p:cNvSpPr/>
          <p:nvPr/>
        </p:nvSpPr>
        <p:spPr>
          <a:xfrm>
            <a:off x="357187" y="4117620"/>
            <a:ext cx="36847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vocabulary:</a:t>
            </a: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3A889A2-9385-859A-D8AB-968B8E88156B}"/>
              </a:ext>
            </a:extLst>
          </p:cNvPr>
          <p:cNvSpPr/>
          <p:nvPr/>
        </p:nvSpPr>
        <p:spPr>
          <a:xfrm>
            <a:off x="357187" y="4334760"/>
            <a:ext cx="36847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Taste:</a:t>
            </a: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delicious, tasty, sweet, salty, spicy, fresh,... </a:t>
            </a:r>
            <a:endParaRPr lang="en-US" sz="10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C5DA2E4-7045-08C0-BFDA-490B982C954F}"/>
              </a:ext>
            </a:extLst>
          </p:cNvPr>
          <p:cNvSpPr/>
          <p:nvPr/>
        </p:nvSpPr>
        <p:spPr>
          <a:xfrm>
            <a:off x="357187" y="4506210"/>
            <a:ext cx="36847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Texture:</a:t>
            </a: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crispy, crunchy, soft, creamy, juicy,..</a:t>
            </a:r>
            <a:endParaRPr lang="en-US" sz="10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3E5C485-147A-704C-7D6B-A4D377A75E5A}"/>
              </a:ext>
            </a:extLst>
          </p:cNvPr>
          <p:cNvSpPr/>
          <p:nvPr/>
        </p:nvSpPr>
        <p:spPr>
          <a:xfrm>
            <a:off x="357187" y="4677660"/>
            <a:ext cx="36847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Opinion:</a:t>
            </a: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healthy, nutritious, filling, fattening,...</a:t>
            </a:r>
            <a:endParaRPr lang="en-US" sz="10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03DF7D9-C495-3BDD-90E0-BB5376415298}"/>
              </a:ext>
            </a:extLst>
          </p:cNvPr>
          <p:cNvSpPr/>
          <p:nvPr/>
        </p:nvSpPr>
        <p:spPr>
          <a:xfrm>
            <a:off x="4293397" y="1858245"/>
            <a:ext cx="4517082" cy="198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your choices using linkers (write at least one sentence for each category)</a:t>
            </a:r>
            <a:endParaRPr lang="en-US" sz="16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0F3B843-BC7D-6F0D-CBBB-7C3529769871}"/>
              </a:ext>
            </a:extLst>
          </p:cNvPr>
          <p:cNvSpPr/>
          <p:nvPr/>
        </p:nvSpPr>
        <p:spPr>
          <a:xfrm>
            <a:off x="4226867" y="2373057"/>
            <a:ext cx="4517082" cy="687586"/>
          </a:xfrm>
          <a:prstGeom prst="roundRect">
            <a:avLst>
              <a:gd name="adj" fmla="val 11082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885C488B-E43D-A45D-8C6D-8019B424E7F5}"/>
              </a:ext>
            </a:extLst>
          </p:cNvPr>
          <p:cNvSpPr/>
          <p:nvPr/>
        </p:nvSpPr>
        <p:spPr>
          <a:xfrm>
            <a:off x="4250680" y="2373057"/>
            <a:ext cx="0" cy="687586"/>
          </a:xfrm>
          <a:prstGeom prst="line">
            <a:avLst/>
          </a:prstGeom>
          <a:noFill/>
          <a:ln w="47625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de-DE" sz="32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BBB0B40-BB8A-491D-8B56-1B87707752D4}"/>
              </a:ext>
            </a:extLst>
          </p:cNvPr>
          <p:cNvSpPr/>
          <p:nvPr/>
        </p:nvSpPr>
        <p:spPr>
          <a:xfrm>
            <a:off x="4369742" y="2468307"/>
            <a:ext cx="43645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a Cause + Result</a:t>
            </a:r>
            <a:endParaRPr lang="en-US" sz="12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540228D-472A-36CC-9525-F754CAF197B0}"/>
              </a:ext>
            </a:extLst>
          </p:cNvPr>
          <p:cNvSpPr/>
          <p:nvPr/>
        </p:nvSpPr>
        <p:spPr>
          <a:xfrm>
            <a:off x="4369742" y="2656872"/>
            <a:ext cx="43645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example: </a:t>
            </a:r>
            <a:b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students like this option </a:t>
            </a:r>
            <a:r>
              <a:rPr lang="en-US" sz="1100" b="1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of</a:t>
            </a: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(+ noun)</a:t>
            </a:r>
            <a:endParaRPr lang="en-US" sz="11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3734384C-F089-71BA-1CA7-2383342F0737}"/>
              </a:ext>
            </a:extLst>
          </p:cNvPr>
          <p:cNvSpPr/>
          <p:nvPr/>
        </p:nvSpPr>
        <p:spPr>
          <a:xfrm>
            <a:off x="4226867" y="3117793"/>
            <a:ext cx="4517082" cy="853232"/>
          </a:xfrm>
          <a:prstGeom prst="roundRect">
            <a:avLst>
              <a:gd name="adj" fmla="val 8931"/>
            </a:avLst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7848FBB0-FB92-4E27-B29D-B587220C0EA8}"/>
              </a:ext>
            </a:extLst>
          </p:cNvPr>
          <p:cNvSpPr/>
          <p:nvPr/>
        </p:nvSpPr>
        <p:spPr>
          <a:xfrm>
            <a:off x="4250680" y="3117793"/>
            <a:ext cx="0" cy="853232"/>
          </a:xfrm>
          <a:prstGeom prst="line">
            <a:avLst/>
          </a:prstGeom>
          <a:noFill/>
          <a:ln w="47625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de-DE" sz="32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EE919BB-019D-1156-7A84-F0340EF0CF33}"/>
              </a:ext>
            </a:extLst>
          </p:cNvPr>
          <p:cNvSpPr/>
          <p:nvPr/>
        </p:nvSpPr>
        <p:spPr>
          <a:xfrm>
            <a:off x="4369742" y="3213043"/>
            <a:ext cx="43645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12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purpose: </a:t>
            </a:r>
            <a:endParaRPr lang="en-US" sz="12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8D6AA28-CE2D-61CD-170B-622D0641B7CD}"/>
              </a:ext>
            </a:extLst>
          </p:cNvPr>
          <p:cNvSpPr/>
          <p:nvPr/>
        </p:nvSpPr>
        <p:spPr>
          <a:xfrm>
            <a:off x="4369742" y="3401608"/>
            <a:ext cx="43645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example:</a:t>
            </a:r>
            <a:b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decided to put this on the menu </a:t>
            </a:r>
            <a:r>
              <a:rPr lang="en-US" sz="1100" b="1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order to</a:t>
            </a: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(+ verb)</a:t>
            </a:r>
            <a:endParaRPr lang="en-US" sz="11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0D5C5669-0885-D12E-FBF4-1B615F0ED07D}"/>
              </a:ext>
            </a:extLst>
          </p:cNvPr>
          <p:cNvSpPr/>
          <p:nvPr/>
        </p:nvSpPr>
        <p:spPr>
          <a:xfrm>
            <a:off x="4365126" y="3719653"/>
            <a:ext cx="43645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r>
              <a:rPr lang="en-US" sz="1100" b="1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that</a:t>
            </a: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(+ clause)</a:t>
            </a:r>
            <a:endParaRPr lang="en-US" sz="11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904840CB-CCB5-7219-4CB0-9AE1A22DE418}"/>
              </a:ext>
            </a:extLst>
          </p:cNvPr>
          <p:cNvSpPr/>
          <p:nvPr/>
        </p:nvSpPr>
        <p:spPr>
          <a:xfrm>
            <a:off x="4226867" y="4028174"/>
            <a:ext cx="4517082" cy="853232"/>
          </a:xfrm>
          <a:prstGeom prst="roundRect">
            <a:avLst>
              <a:gd name="adj" fmla="val 8931"/>
            </a:avLst>
          </a:prstGeom>
          <a:solidFill>
            <a:srgbClr val="FBE9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031C925C-3958-4608-730C-400EF60742D2}"/>
              </a:ext>
            </a:extLst>
          </p:cNvPr>
          <p:cNvSpPr/>
          <p:nvPr/>
        </p:nvSpPr>
        <p:spPr>
          <a:xfrm>
            <a:off x="4250680" y="4028174"/>
            <a:ext cx="0" cy="853232"/>
          </a:xfrm>
          <a:prstGeom prst="line">
            <a:avLst/>
          </a:prstGeom>
          <a:noFill/>
          <a:ln w="47625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de-DE" sz="320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8A2CA5FF-727C-5219-5721-F8161E852EE3}"/>
              </a:ext>
            </a:extLst>
          </p:cNvPr>
          <p:cNvSpPr/>
          <p:nvPr/>
        </p:nvSpPr>
        <p:spPr>
          <a:xfrm>
            <a:off x="4369742" y="4123424"/>
            <a:ext cx="43645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1200" b="1" dirty="0">
                <a:solidFill>
                  <a:srgbClr val="D84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a contrast: </a:t>
            </a:r>
            <a:endParaRPr lang="en-US" sz="12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A601D8A4-212B-CC84-6056-1D174209E5FA}"/>
              </a:ext>
            </a:extLst>
          </p:cNvPr>
          <p:cNvSpPr/>
          <p:nvPr/>
        </p:nvSpPr>
        <p:spPr>
          <a:xfrm>
            <a:off x="4369742" y="4311990"/>
            <a:ext cx="43645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example:</a:t>
            </a:r>
          </a:p>
          <a:p>
            <a:pPr marL="0" indent="0" algn="l">
              <a:lnSpc>
                <a:spcPts val="1155"/>
              </a:lnSpc>
              <a:buNone/>
            </a:pP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chose this option </a:t>
            </a:r>
            <a:r>
              <a:rPr lang="en-US" sz="1100" b="1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although</a:t>
            </a: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(mid-sentence)</a:t>
            </a:r>
            <a:endParaRPr lang="en-US" sz="11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C0DEAFE7-8F94-D3CA-E2A5-8928AD2217D5}"/>
              </a:ext>
            </a:extLst>
          </p:cNvPr>
          <p:cNvSpPr/>
          <p:nvPr/>
        </p:nvSpPr>
        <p:spPr>
          <a:xfrm>
            <a:off x="4365126" y="4632642"/>
            <a:ext cx="43645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1100" b="1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However</a:t>
            </a: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...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(new sentence)</a:t>
            </a:r>
            <a:endParaRPr lang="en-US" sz="11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07C37FC5-22D9-F075-E737-5BC4BBF7C9F4}"/>
              </a:ext>
            </a:extLst>
          </p:cNvPr>
          <p:cNvSpPr/>
          <p:nvPr/>
        </p:nvSpPr>
        <p:spPr>
          <a:xfrm>
            <a:off x="216352" y="1419146"/>
            <a:ext cx="3858115" cy="263091"/>
          </a:xfrm>
          <a:prstGeom prst="roundRect">
            <a:avLst>
              <a:gd name="adj" fmla="val 17550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B4A1C3C6-1266-BCBB-82A3-F5D275CBE57F}"/>
              </a:ext>
            </a:extLst>
          </p:cNvPr>
          <p:cNvSpPr/>
          <p:nvPr/>
        </p:nvSpPr>
        <p:spPr>
          <a:xfrm>
            <a:off x="578155" y="1492344"/>
            <a:ext cx="2828544" cy="19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Decide together </a:t>
            </a:r>
            <a:endParaRPr lang="en-US" dirty="0"/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826B2FB4-BEA9-2852-CC5C-61D719CF1665}"/>
              </a:ext>
            </a:extLst>
          </p:cNvPr>
          <p:cNvSpPr/>
          <p:nvPr/>
        </p:nvSpPr>
        <p:spPr>
          <a:xfrm>
            <a:off x="4226867" y="1419687"/>
            <a:ext cx="4464549" cy="263092"/>
          </a:xfrm>
          <a:prstGeom prst="roundRect">
            <a:avLst>
              <a:gd name="adj" fmla="val 17550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41" name="Text 37">
            <a:extLst>
              <a:ext uri="{FF2B5EF4-FFF2-40B4-BE49-F238E27FC236}">
                <a16:creationId xmlns:a16="http://schemas.microsoft.com/office/drawing/2014/main" id="{EBF87C93-6B58-9CEC-A01D-5CCD1571A3A2}"/>
              </a:ext>
            </a:extLst>
          </p:cNvPr>
          <p:cNvSpPr/>
          <p:nvPr/>
        </p:nvSpPr>
        <p:spPr>
          <a:xfrm>
            <a:off x="4241010" y="1481820"/>
            <a:ext cx="4374207" cy="211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Write a short  text (~ 80 words) about it: </a:t>
            </a:r>
            <a:endParaRPr lang="en-US" sz="1600" dirty="0"/>
          </a:p>
        </p:txBody>
      </p:sp>
      <p:sp>
        <p:nvSpPr>
          <p:cNvPr id="42" name="Text 7">
            <a:extLst>
              <a:ext uri="{FF2B5EF4-FFF2-40B4-BE49-F238E27FC236}">
                <a16:creationId xmlns:a16="http://schemas.microsoft.com/office/drawing/2014/main" id="{A89101ED-1497-EF05-162C-E750EDF9264B}"/>
              </a:ext>
            </a:extLst>
          </p:cNvPr>
          <p:cNvSpPr/>
          <p:nvPr/>
        </p:nvSpPr>
        <p:spPr>
          <a:xfrm>
            <a:off x="409721" y="2790705"/>
            <a:ext cx="36167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Drink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67546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408</Words>
  <Application>Microsoft Macintosh PowerPoint</Application>
  <PresentationFormat>Bildschirmpräsentation (16:9)</PresentationFormat>
  <Paragraphs>54</Paragraphs>
  <Slides>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Cafeteria Menu Activity</dc:title>
  <dc:subject>PptxGenJS Presentation</dc:subject>
  <dc:creator>PptxGenJS</dc:creator>
  <cp:lastModifiedBy>Orhan Vehabovic</cp:lastModifiedBy>
  <cp:revision>10</cp:revision>
  <cp:lastPrinted>2025-12-13T08:45:25Z</cp:lastPrinted>
  <dcterms:created xsi:type="dcterms:W3CDTF">2025-12-13T08:12:01Z</dcterms:created>
  <dcterms:modified xsi:type="dcterms:W3CDTF">2025-12-13T08:45:27Z</dcterms:modified>
</cp:coreProperties>
</file>