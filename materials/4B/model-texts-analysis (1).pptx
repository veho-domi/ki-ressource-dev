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2" r:id="rId3"/>
    <p:sldId id="27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03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06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7022" y="1025949"/>
            <a:ext cx="6649956" cy="101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How to get full points on your text</a:t>
            </a:r>
            <a:endParaRPr lang="en-US" sz="4800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pic>
        <p:nvPicPr>
          <p:cNvPr id="3" name="Image 0" descr="/tmp/rasterized-gradient-779431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2636490"/>
            <a:ext cx="11430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4856" y="2865090"/>
            <a:ext cx="1454289" cy="519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4B SA Writing Task</a:t>
            </a:r>
            <a:b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Example Texts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Text, Screenshot, Clipart, Essen enthält.&#10;&#10;KI-generierte Inhalte können fehlerhaft sein.">
            <a:extLst>
              <a:ext uri="{FF2B5EF4-FFF2-40B4-BE49-F238E27FC236}">
                <a16:creationId xmlns:a16="http://schemas.microsoft.com/office/drawing/2014/main" id="{6EA06BB5-14D0-0545-7519-DB503A6BE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143" y="482600"/>
            <a:ext cx="6821713" cy="41782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5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4C59F4D6-6983-4A47-3E2E-7ED43A2BA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204" y="421877"/>
            <a:ext cx="6558209" cy="4443185"/>
          </a:xfrm>
          <a:prstGeom prst="rect">
            <a:avLst/>
          </a:prstGeom>
          <a:ln>
            <a:noFill/>
          </a:ln>
        </p:spPr>
      </p:pic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06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599" y="228599"/>
            <a:ext cx="7852955" cy="112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categories we analyze for each text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28600" y="1919288"/>
            <a:ext cx="3987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ACHIEVEMENT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228600" y="2309813"/>
            <a:ext cx="3908971" cy="457200"/>
          </a:xfrm>
          <a:prstGeom prst="roundRect">
            <a:avLst>
              <a:gd name="adj" fmla="val 8333"/>
            </a:avLst>
          </a:prstGeom>
          <a:solidFill>
            <a:srgbClr val="16A08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47650" y="2309813"/>
            <a:ext cx="0" cy="4572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81000" y="2424113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899" y="2445097"/>
            <a:ext cx="3073037" cy="195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Favourite cuisine</a:t>
            </a: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job fits</a:t>
            </a:r>
            <a:endParaRPr lang="en-US" sz="1050" b="1" dirty="0"/>
          </a:p>
        </p:txBody>
      </p:sp>
      <p:sp>
        <p:nvSpPr>
          <p:cNvPr id="8" name="Text 6"/>
          <p:cNvSpPr/>
          <p:nvPr/>
        </p:nvSpPr>
        <p:spPr>
          <a:xfrm>
            <a:off x="228600" y="2881313"/>
            <a:ext cx="3908971" cy="457200"/>
          </a:xfrm>
          <a:prstGeom prst="roundRect">
            <a:avLst>
              <a:gd name="adj" fmla="val 8333"/>
            </a:avLst>
          </a:prstGeom>
          <a:solidFill>
            <a:srgbClr val="3498DB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7650" y="2881313"/>
            <a:ext cx="0" cy="45720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81000" y="2995613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3899" y="3016597"/>
            <a:ext cx="3351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you cook or eat</a:t>
            </a: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job involves</a:t>
            </a:r>
            <a:endParaRPr lang="en-US" sz="1050" b="1" dirty="0"/>
          </a:p>
        </p:txBody>
      </p:sp>
      <p:sp>
        <p:nvSpPr>
          <p:cNvPr id="12" name="Text 10"/>
          <p:cNvSpPr/>
          <p:nvPr/>
        </p:nvSpPr>
        <p:spPr>
          <a:xfrm>
            <a:off x="228600" y="3452813"/>
            <a:ext cx="3908971" cy="457200"/>
          </a:xfrm>
          <a:prstGeom prst="roundRect">
            <a:avLst>
              <a:gd name="adj" fmla="val 8333"/>
            </a:avLst>
          </a:prstGeom>
          <a:solidFill>
            <a:srgbClr val="9B59B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47650" y="3452813"/>
            <a:ext cx="0" cy="457200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81000" y="3567113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3899" y="3588097"/>
            <a:ext cx="30730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details</a:t>
            </a: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Pros and cons of the job</a:t>
            </a:r>
            <a:endParaRPr lang="en-US" sz="1050" b="1" dirty="0"/>
          </a:p>
        </p:txBody>
      </p:sp>
      <p:sp>
        <p:nvSpPr>
          <p:cNvPr id="16" name="Text 14"/>
          <p:cNvSpPr/>
          <p:nvPr/>
        </p:nvSpPr>
        <p:spPr>
          <a:xfrm>
            <a:off x="4442371" y="1678484"/>
            <a:ext cx="3987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FACTORS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442371" y="2069009"/>
            <a:ext cx="3908971" cy="457200"/>
          </a:xfrm>
          <a:prstGeom prst="roundRect">
            <a:avLst>
              <a:gd name="adj" fmla="val 8333"/>
            </a:avLst>
          </a:prstGeom>
          <a:solidFill>
            <a:srgbClr val="E67E22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461421" y="2069009"/>
            <a:ext cx="0" cy="45720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594771" y="2183309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37671" y="2204293"/>
            <a:ext cx="140616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vocabulary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42371" y="2640509"/>
            <a:ext cx="3908971" cy="457200"/>
          </a:xfrm>
          <a:prstGeom prst="roundRect">
            <a:avLst>
              <a:gd name="adj" fmla="val 8333"/>
            </a:avLst>
          </a:prstGeom>
          <a:solidFill>
            <a:srgbClr val="E91E63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461421" y="2640509"/>
            <a:ext cx="0" cy="457200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4594771" y="2754809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E91E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37671" y="2775793"/>
            <a:ext cx="221255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descriptions</a:t>
            </a: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details</a:t>
            </a:r>
            <a:endParaRPr lang="en-US" sz="105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68f2e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1630"/>
            <a:ext cx="3591074" cy="9600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06387" y="2091630"/>
            <a:ext cx="77815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6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5576251" y="1358292"/>
            <a:ext cx="2296298" cy="452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TEXT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7223" y="1699783"/>
            <a:ext cx="2708366" cy="96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4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576251" y="2376519"/>
            <a:ext cx="2296298" cy="581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</a:t>
            </a:r>
            <a:br>
              <a:rPr lang="en-US" sz="2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Foodie Visit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593258" y="3031749"/>
            <a:ext cx="2296297" cy="107956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A: Opening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28600" y="533400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the scene with personal connection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90500" y="1997273"/>
            <a:ext cx="4954339" cy="2324356"/>
          </a:xfrm>
          <a:prstGeom prst="roundRect">
            <a:avLst>
              <a:gd name="adj" fmla="val 3795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2187773"/>
            <a:ext cx="4664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576364"/>
            <a:ext cx="466480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Dear Marianna,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3085951"/>
            <a:ext cx="4664806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spcBef>
                <a:spcPts val="900"/>
              </a:spcBef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texted me and told me you're arriving in Vienna tomorrow, so I wanted to </a:t>
            </a: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a restaurant </a:t>
            </a:r>
            <a:r>
              <a:rPr lang="en-US" sz="1400" b="1" i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you</a:t>
            </a: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I know how you love food. I will also </a:t>
            </a: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 for you,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you don't have to eat take out.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73439" y="1843236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92489" y="1843236"/>
            <a:ext cx="0" cy="638026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544889" y="1976586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73439" y="2595563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92489" y="2595563"/>
            <a:ext cx="0" cy="638026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544889" y="2728913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73439" y="3347889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06789" y="3481239"/>
            <a:ext cx="33796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TOUCH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599"/>
            <a:ext cx="5963194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A: Cuisine + Homemade Meal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77177" y="972294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bullet points covered in one natural paragraph</a:t>
            </a:r>
            <a:endParaRPr lang="en-US" b="1" dirty="0"/>
          </a:p>
        </p:txBody>
      </p:sp>
      <p:sp>
        <p:nvSpPr>
          <p:cNvPr id="4" name="Text 2"/>
          <p:cNvSpPr/>
          <p:nvPr/>
        </p:nvSpPr>
        <p:spPr>
          <a:xfrm>
            <a:off x="190500" y="2102048"/>
            <a:ext cx="4954339" cy="2069158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292548"/>
            <a:ext cx="4664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681139"/>
            <a:ext cx="466480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favourite cuisine is Japanese cuisine,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I've learnt how to </a:t>
            </a: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sushi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I'm sure you'll like </a:t>
            </a: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 usually make </a:t>
            </a: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salmon and some cucumbers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but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you hate cucumbers, I'll replace them with some cream cheese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73439" y="1530846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92489" y="1530846"/>
            <a:ext cx="0" cy="63802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544889" y="1664196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FAVOURITE CUISINE 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73439" y="2264122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92489" y="2264122"/>
            <a:ext cx="0" cy="638026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544889" y="2397472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DETAILS 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73439" y="2997398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392489" y="2997398"/>
            <a:ext cx="0" cy="811262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544889" y="3130748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DETAIL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6335486" cy="293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A: Restaurant Introduction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28600" y="1003663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the detailed description</a:t>
            </a:r>
            <a:endParaRPr lang="en-US" b="1" dirty="0"/>
          </a:p>
        </p:txBody>
      </p:sp>
      <p:sp>
        <p:nvSpPr>
          <p:cNvPr id="4" name="Text 2"/>
          <p:cNvSpPr/>
          <p:nvPr/>
        </p:nvSpPr>
        <p:spPr>
          <a:xfrm>
            <a:off x="190500" y="2230636"/>
            <a:ext cx="4954339" cy="1797100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421136"/>
            <a:ext cx="4664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809726"/>
            <a:ext cx="46648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told me you </a:t>
            </a: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wanted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visit a nice restaurant, so I found one. It's called </a:t>
            </a: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808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it's </a:t>
            </a: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located near the city center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It's a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 and cozy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restaurant. My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favourite dish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there is their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truffle pasta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73439" y="1540371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92489" y="1540371"/>
            <a:ext cx="0" cy="811262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544889" y="1673721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73439" y="2446883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92489" y="2446883"/>
            <a:ext cx="0" cy="638026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544889" y="2580233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73439" y="3180159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392489" y="3180159"/>
            <a:ext cx="0" cy="638026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544889" y="3313509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5867400" cy="452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38316" y="988318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Vivid, sensory details</a:t>
            </a:r>
            <a:endParaRPr lang="en-US" sz="2400" b="1" dirty="0"/>
          </a:p>
        </p:txBody>
      </p:sp>
      <p:sp>
        <p:nvSpPr>
          <p:cNvPr id="4" name="Text 2"/>
          <p:cNvSpPr/>
          <p:nvPr/>
        </p:nvSpPr>
        <p:spPr>
          <a:xfrm>
            <a:off x="190500" y="2077788"/>
            <a:ext cx="4718000" cy="2077393"/>
          </a:xfrm>
          <a:prstGeom prst="roundRect">
            <a:avLst>
              <a:gd name="adj" fmla="val 4169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2230189"/>
            <a:ext cx="45014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42900" y="2586335"/>
            <a:ext cx="4501464" cy="1166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8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of flavour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hot and the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definitely worth watching. The waiter brings the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boiled pasta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to your table and throws it into a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huge parmesan wheel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He adds a tiny bit of alcohol and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blue fire starts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He mixes it with the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melting cheese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in front of you and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grates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truffles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top of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99000" y="1521321"/>
            <a:ext cx="3854500" cy="723751"/>
          </a:xfrm>
          <a:prstGeom prst="roundRect">
            <a:avLst>
              <a:gd name="adj" fmla="val 105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18050" y="1521321"/>
            <a:ext cx="0" cy="723751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251400" y="1635621"/>
            <a:ext cx="3659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DETAILS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099000" y="2321272"/>
            <a:ext cx="3854500" cy="723751"/>
          </a:xfrm>
          <a:prstGeom prst="roundRect">
            <a:avLst>
              <a:gd name="adj" fmla="val 105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118050" y="2321272"/>
            <a:ext cx="0" cy="723751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251400" y="2435572"/>
            <a:ext cx="3659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VOCABULARY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099000" y="3121223"/>
            <a:ext cx="3854500" cy="723751"/>
          </a:xfrm>
          <a:prstGeom prst="roundRect">
            <a:avLst>
              <a:gd name="adj" fmla="val 105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118050" y="3121223"/>
            <a:ext cx="0" cy="723751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251400" y="3235523"/>
            <a:ext cx="3659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DETAIL ✓✓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A: Strong Finish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90500" y="1821061"/>
            <a:ext cx="4954339" cy="2842765"/>
          </a:xfrm>
          <a:prstGeom prst="roundRect">
            <a:avLst>
              <a:gd name="adj" fmla="val 3228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011561"/>
            <a:ext cx="4664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400151"/>
            <a:ext cx="46648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flavour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incredible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tenderness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pasta and the flavour of the truffles will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your taste buds go crazy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It's also really </a:t>
            </a: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filling and not fattening at all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I'm definitely taking you to that place!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3572322"/>
            <a:ext cx="46648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regards,</a:t>
            </a:r>
            <a:endParaRPr lang="en-US" sz="1400" dirty="0"/>
          </a:p>
          <a:p>
            <a:pPr marL="0" indent="0" algn="l">
              <a:lnSpc>
                <a:spcPts val="2025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73439" y="1338560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92489" y="1338560"/>
            <a:ext cx="0" cy="811262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544889" y="1471910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VIVID EXPRESSION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73439" y="2245072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92489" y="2245072"/>
            <a:ext cx="0" cy="811262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544889" y="2378422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73439" y="3151584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392489" y="3151584"/>
            <a:ext cx="0" cy="811262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544889" y="3284934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INFO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6917f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1630"/>
            <a:ext cx="3591074" cy="9600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06387" y="2091630"/>
            <a:ext cx="77815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6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5576250" y="1432970"/>
            <a:ext cx="18761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TEXT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64350" y="1892718"/>
            <a:ext cx="2899953" cy="45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4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B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524054" y="2433158"/>
            <a:ext cx="187615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Career Advice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524054" y="3048893"/>
            <a:ext cx="1857760" cy="45719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B: Why This Job Fits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83464" y="771398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and clear opening</a:t>
            </a:r>
            <a:endParaRPr lang="en-US" sz="1600" b="1" dirty="0"/>
          </a:p>
        </p:txBody>
      </p:sp>
      <p:sp>
        <p:nvSpPr>
          <p:cNvPr id="4" name="Text 2"/>
          <p:cNvSpPr/>
          <p:nvPr/>
        </p:nvSpPr>
        <p:spPr>
          <a:xfrm>
            <a:off x="190500" y="2097286"/>
            <a:ext cx="4954339" cy="2045791"/>
          </a:xfrm>
          <a:prstGeom prst="roundRect">
            <a:avLst>
              <a:gd name="adj" fmla="val 4215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287786"/>
            <a:ext cx="4664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676376"/>
            <a:ext cx="46648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Dear Stella,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3200251"/>
            <a:ext cx="46648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spcBef>
                <a:spcPts val="900"/>
              </a:spcBef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think it's great that you want to become a </a:t>
            </a: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children's doctor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This job is </a:t>
            </a: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 you because you are kind, patient and responsible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73439" y="1859459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92489" y="1859459"/>
            <a:ext cx="0" cy="638026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544889" y="1992809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IDENTIFIED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73439" y="2611785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92489" y="2611785"/>
            <a:ext cx="0" cy="811262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544889" y="2745135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FITS ✓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B: What the Job Involves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28600" y="691009"/>
            <a:ext cx="83493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5"/>
              </a:lnSpc>
              <a:spcBef>
                <a:spcPts val="300"/>
              </a:spcBef>
            </a:pPr>
            <a:r>
              <a:rPr lang="en-US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discussion daily tasks and requirements of the job</a:t>
            </a:r>
            <a:endParaRPr lang="en-US" b="1" dirty="0"/>
          </a:p>
        </p:txBody>
      </p:sp>
      <p:sp>
        <p:nvSpPr>
          <p:cNvPr id="4" name="Text 2"/>
          <p:cNvSpPr/>
          <p:nvPr/>
        </p:nvSpPr>
        <p:spPr>
          <a:xfrm>
            <a:off x="190500" y="2077789"/>
            <a:ext cx="4718000" cy="2201466"/>
          </a:xfrm>
          <a:prstGeom prst="roundRect">
            <a:avLst>
              <a:gd name="adj" fmla="val 4169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2230189"/>
            <a:ext cx="45014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42900" y="2586335"/>
            <a:ext cx="4501464" cy="1166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8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children's doctor, you will </a:t>
            </a: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babies and kids, do check-ups, find out what's wrong, and tell parents what to do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You can work in </a:t>
            </a: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doctor's office or hospital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you will see </a:t>
            </a: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visits, shots and sometimes emergencies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You need to </a:t>
            </a: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lot about medicine, talk well with others, work in a team, and stay calm when things are hard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99000" y="1589931"/>
            <a:ext cx="3854500" cy="723751"/>
          </a:xfrm>
          <a:prstGeom prst="roundRect">
            <a:avLst>
              <a:gd name="adj" fmla="val 105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18050" y="1589931"/>
            <a:ext cx="0" cy="723751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251400" y="1704231"/>
            <a:ext cx="3659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TASKS ✓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099000" y="2389882"/>
            <a:ext cx="3854500" cy="563761"/>
          </a:xfrm>
          <a:prstGeom prst="roundRect">
            <a:avLst>
              <a:gd name="adj" fmla="val 135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118050" y="2389882"/>
            <a:ext cx="0" cy="563761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251400" y="2504182"/>
            <a:ext cx="3659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SETTINGS ✓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099000" y="3029843"/>
            <a:ext cx="3854500" cy="563761"/>
          </a:xfrm>
          <a:prstGeom prst="roundRect">
            <a:avLst>
              <a:gd name="adj" fmla="val 135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118050" y="3029843"/>
            <a:ext cx="0" cy="563761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251400" y="3144143"/>
            <a:ext cx="3659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VARIETY OF WORK ✓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099000" y="3669804"/>
            <a:ext cx="3854500" cy="723751"/>
          </a:xfrm>
          <a:prstGeom prst="roundRect">
            <a:avLst>
              <a:gd name="adj" fmla="val 105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118050" y="3669804"/>
            <a:ext cx="0" cy="723751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251400" y="3784104"/>
            <a:ext cx="3659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NEEDED ✓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B: Pros and Cons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28600" y="781944"/>
            <a:ext cx="5529943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Balanced, honest assessment</a:t>
            </a:r>
            <a:endParaRPr lang="en-US" b="1" dirty="0"/>
          </a:p>
        </p:txBody>
      </p:sp>
      <p:sp>
        <p:nvSpPr>
          <p:cNvPr id="4" name="Text 2"/>
          <p:cNvSpPr/>
          <p:nvPr/>
        </p:nvSpPr>
        <p:spPr>
          <a:xfrm>
            <a:off x="190500" y="2230636"/>
            <a:ext cx="4954339" cy="1824037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421136"/>
            <a:ext cx="4664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809726"/>
            <a:ext cx="46648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things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about this job are </a:t>
            </a: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helping children, doing many different tasks, and having a steady job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parts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</a:t>
            </a: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work hours, feeling sad sometimes, and learning all the time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73439" y="1181993"/>
            <a:ext cx="3580061" cy="134109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92489" y="1181993"/>
            <a:ext cx="0" cy="134109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544889" y="1315343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 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44889" y="1513433"/>
            <a:ext cx="3275261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Helping children (meaningful)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Variety of tasks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security ("steady job")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73439" y="2618333"/>
            <a:ext cx="3580061" cy="134109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92489" y="2618333"/>
            <a:ext cx="0" cy="1341090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544889" y="2751683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 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44889" y="2949773"/>
            <a:ext cx="3275261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hours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factors ("feeling sad")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learning required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73439" y="4054673"/>
            <a:ext cx="3580061" cy="765721"/>
          </a:xfrm>
          <a:prstGeom prst="roundRect">
            <a:avLst>
              <a:gd name="adj" fmla="val 9951"/>
            </a:avLst>
          </a:prstGeom>
          <a:solidFill>
            <a:srgbClr val="E8F5E9"/>
          </a:solidFill>
          <a:ln w="9525">
            <a:solidFill>
              <a:srgbClr val="A5D6A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16314" y="4197548"/>
            <a:ext cx="336019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structure:</a:t>
            </a: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Three pros, three cons - balanced and easy to follow. 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B: Supportive Closing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38316" y="899178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encouragement and offer of help</a:t>
            </a:r>
            <a:endParaRPr lang="en-US" sz="1600" b="1" dirty="0"/>
          </a:p>
        </p:txBody>
      </p:sp>
      <p:sp>
        <p:nvSpPr>
          <p:cNvPr id="4" name="Text 2"/>
          <p:cNvSpPr/>
          <p:nvPr/>
        </p:nvSpPr>
        <p:spPr>
          <a:xfrm>
            <a:off x="190500" y="1949648"/>
            <a:ext cx="4954339" cy="210309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140148"/>
            <a:ext cx="4664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528739"/>
            <a:ext cx="46648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think you will be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good at it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I'm here to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you with your studies anytime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3347889"/>
            <a:ext cx="46648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wishes,</a:t>
            </a:r>
            <a:endParaRPr lang="en-US" sz="1400" dirty="0"/>
          </a:p>
          <a:p>
            <a:pPr marL="0" indent="0" algn="l">
              <a:lnSpc>
                <a:spcPts val="2025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73439" y="1772841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92489" y="1772841"/>
            <a:ext cx="0" cy="811262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544889" y="1906191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73439" y="2698403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92489" y="2698403"/>
            <a:ext cx="0" cy="811262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544889" y="2831753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OF SUPPORT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722</Words>
  <Application>Microsoft Macintosh PowerPoint</Application>
  <PresentationFormat>Bildschirmpräsentation (16:9)</PresentationFormat>
  <Paragraphs>104</Paragraphs>
  <Slides>15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ADLaM Display</vt:lpstr>
      <vt:lpstr>Arial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Texts: Two Paths to Full Points</dc:title>
  <dc:subject>Writing Task Analysis</dc:subject>
  <dc:creator>EFL Teacher</dc:creator>
  <cp:lastModifiedBy>Orhan Vehabovic</cp:lastModifiedBy>
  <cp:revision>46</cp:revision>
  <dcterms:created xsi:type="dcterms:W3CDTF">2026-01-16T09:15:00Z</dcterms:created>
  <dcterms:modified xsi:type="dcterms:W3CDTF">2026-01-31T15:14:19Z</dcterms:modified>
</cp:coreProperties>
</file>