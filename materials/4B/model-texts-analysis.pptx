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72" r:id="rId3"/>
    <p:sldId id="273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364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176" y="6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2062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7022" y="1025949"/>
            <a:ext cx="6649956" cy="10101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How to get full points on your text</a:t>
            </a:r>
            <a:endParaRPr lang="en-US" sz="4800" dirty="0">
              <a:latin typeface="ADLaM Display" panose="02010000000000000000" pitchFamily="2" charset="77"/>
              <a:ea typeface="ADLaM Display" panose="02010000000000000000" pitchFamily="2" charset="77"/>
              <a:cs typeface="ADLaM Display" panose="02010000000000000000" pitchFamily="2" charset="77"/>
            </a:endParaRPr>
          </a:p>
        </p:txBody>
      </p:sp>
      <p:pic>
        <p:nvPicPr>
          <p:cNvPr id="3" name="Image 0" descr="/tmp/rasterized-gradient-7794318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500" y="2636490"/>
            <a:ext cx="1143000" cy="381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4856" y="2865090"/>
            <a:ext cx="1454289" cy="519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4B SA Writing Task</a:t>
            </a:r>
            <a:br>
              <a:rPr lang="en-US" sz="12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2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Example Texts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190252"/>
            <a:ext cx="1370728" cy="1032741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316609"/>
            <a:ext cx="484026" cy="484026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491355"/>
            <a:ext cx="515604" cy="515604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11062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4586625"/>
            <a:ext cx="1120884" cy="556875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fik 2" descr="Ein Bild, das Text, Screenshot, Clipart, Essen enthält.&#10;&#10;KI-generierte Inhalte können fehlerhaft sein.">
            <a:extLst>
              <a:ext uri="{FF2B5EF4-FFF2-40B4-BE49-F238E27FC236}">
                <a16:creationId xmlns:a16="http://schemas.microsoft.com/office/drawing/2014/main" id="{6EA06BB5-14D0-0545-7519-DB503A6BE3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143" y="482600"/>
            <a:ext cx="6821713" cy="4178299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4839857"/>
            <a:ext cx="611177" cy="303643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1586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190252"/>
            <a:ext cx="1370728" cy="1032741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316609"/>
            <a:ext cx="484026" cy="484026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491355"/>
            <a:ext cx="515604" cy="515604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11062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1" name="Isosceles Triangle 30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4586625"/>
            <a:ext cx="1120884" cy="556875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fik 2" descr="Ein Bild, das Text, Screenshot, Schrift enthält.&#10;&#10;KI-generierte Inhalte können fehlerhaft sein.">
            <a:extLst>
              <a:ext uri="{FF2B5EF4-FFF2-40B4-BE49-F238E27FC236}">
                <a16:creationId xmlns:a16="http://schemas.microsoft.com/office/drawing/2014/main" id="{4C59F4D6-6983-4A47-3E2E-7ED43A2BA1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2204" y="421877"/>
            <a:ext cx="6558209" cy="4443185"/>
          </a:xfrm>
          <a:prstGeom prst="rect">
            <a:avLst/>
          </a:prstGeom>
          <a:ln>
            <a:noFill/>
          </a:ln>
        </p:spPr>
      </p:pic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4839857"/>
            <a:ext cx="611177" cy="303643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9063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599" y="228599"/>
            <a:ext cx="7852955" cy="1129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categories we analyze for each text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228600" y="1919288"/>
            <a:ext cx="39871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ACHIEVEMENT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228600" y="2309813"/>
            <a:ext cx="3908971" cy="457200"/>
          </a:xfrm>
          <a:prstGeom prst="roundRect">
            <a:avLst>
              <a:gd name="adj" fmla="val 8333"/>
            </a:avLst>
          </a:prstGeom>
          <a:solidFill>
            <a:srgbClr val="16A085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247650" y="2309813"/>
            <a:ext cx="0" cy="457200"/>
          </a:xfrm>
          <a:prstGeom prst="line">
            <a:avLst/>
          </a:prstGeom>
          <a:noFill/>
          <a:ln w="381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381000" y="2424113"/>
            <a:ext cx="228600" cy="228600"/>
          </a:xfrm>
          <a:prstGeom prst="roundRect">
            <a:avLst>
              <a:gd name="adj" fmla="val 16667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23899" y="2445097"/>
            <a:ext cx="3073037" cy="195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Favourite cuisine</a:t>
            </a: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r>
              <a:rPr lang="en-US" sz="10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job fits</a:t>
            </a:r>
            <a:endParaRPr lang="en-US" sz="1050" b="1" dirty="0"/>
          </a:p>
        </p:txBody>
      </p:sp>
      <p:sp>
        <p:nvSpPr>
          <p:cNvPr id="8" name="Text 6"/>
          <p:cNvSpPr/>
          <p:nvPr/>
        </p:nvSpPr>
        <p:spPr>
          <a:xfrm>
            <a:off x="228600" y="2881313"/>
            <a:ext cx="3908971" cy="457200"/>
          </a:xfrm>
          <a:prstGeom prst="roundRect">
            <a:avLst>
              <a:gd name="adj" fmla="val 8333"/>
            </a:avLst>
          </a:prstGeom>
          <a:solidFill>
            <a:srgbClr val="3498DB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247650" y="2881313"/>
            <a:ext cx="0" cy="457200"/>
          </a:xfrm>
          <a:prstGeom prst="line">
            <a:avLst/>
          </a:prstGeom>
          <a:noFill/>
          <a:ln w="381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381000" y="2995613"/>
            <a:ext cx="228600" cy="228600"/>
          </a:xfrm>
          <a:prstGeom prst="roundRect">
            <a:avLst>
              <a:gd name="adj" fmla="val 16667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23899" y="3016597"/>
            <a:ext cx="33517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Meal you cook or eat</a:t>
            </a: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r>
              <a:rPr lang="en-US" sz="10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job involves</a:t>
            </a:r>
            <a:endParaRPr lang="en-US" sz="1050" b="1" dirty="0"/>
          </a:p>
        </p:txBody>
      </p:sp>
      <p:sp>
        <p:nvSpPr>
          <p:cNvPr id="12" name="Text 10"/>
          <p:cNvSpPr/>
          <p:nvPr/>
        </p:nvSpPr>
        <p:spPr>
          <a:xfrm>
            <a:off x="228600" y="3452813"/>
            <a:ext cx="3908971" cy="457200"/>
          </a:xfrm>
          <a:prstGeom prst="roundRect">
            <a:avLst>
              <a:gd name="adj" fmla="val 8333"/>
            </a:avLst>
          </a:prstGeom>
          <a:solidFill>
            <a:srgbClr val="9B59B6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247650" y="3452813"/>
            <a:ext cx="0" cy="457200"/>
          </a:xfrm>
          <a:prstGeom prst="line">
            <a:avLst/>
          </a:prstGeom>
          <a:noFill/>
          <a:ln w="381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381000" y="3567113"/>
            <a:ext cx="228600" cy="228600"/>
          </a:xfrm>
          <a:prstGeom prst="roundRect">
            <a:avLst>
              <a:gd name="adj" fmla="val 16667"/>
            </a:avLst>
          </a:prstGeom>
          <a:solidFill>
            <a:srgbClr val="9B59B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23899" y="3588097"/>
            <a:ext cx="307303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Restaurant details</a:t>
            </a: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Pros and cons of the job</a:t>
            </a:r>
            <a:endParaRPr lang="en-US" sz="1050" b="1" dirty="0"/>
          </a:p>
        </p:txBody>
      </p:sp>
      <p:sp>
        <p:nvSpPr>
          <p:cNvPr id="16" name="Text 14"/>
          <p:cNvSpPr/>
          <p:nvPr/>
        </p:nvSpPr>
        <p:spPr>
          <a:xfrm>
            <a:off x="4442371" y="1678484"/>
            <a:ext cx="39871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FACTORS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4442371" y="2069009"/>
            <a:ext cx="3908971" cy="457200"/>
          </a:xfrm>
          <a:prstGeom prst="roundRect">
            <a:avLst>
              <a:gd name="adj" fmla="val 8333"/>
            </a:avLst>
          </a:prstGeom>
          <a:solidFill>
            <a:srgbClr val="E67E22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461421" y="2069009"/>
            <a:ext cx="0" cy="457200"/>
          </a:xfrm>
          <a:prstGeom prst="line">
            <a:avLst/>
          </a:prstGeom>
          <a:noFill/>
          <a:ln w="381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/>
          <p:nvPr/>
        </p:nvSpPr>
        <p:spPr>
          <a:xfrm>
            <a:off x="4594771" y="2183309"/>
            <a:ext cx="228600" cy="228600"/>
          </a:xfrm>
          <a:prstGeom prst="roundRect">
            <a:avLst>
              <a:gd name="adj" fmla="val 16667"/>
            </a:avLst>
          </a:prstGeom>
          <a:solidFill>
            <a:srgbClr val="E67E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937671" y="2204293"/>
            <a:ext cx="140616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vocabulary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442371" y="2640509"/>
            <a:ext cx="3908971" cy="457200"/>
          </a:xfrm>
          <a:prstGeom prst="roundRect">
            <a:avLst>
              <a:gd name="adj" fmla="val 8333"/>
            </a:avLst>
          </a:prstGeom>
          <a:solidFill>
            <a:srgbClr val="E91E63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4461421" y="2640509"/>
            <a:ext cx="0" cy="457200"/>
          </a:xfrm>
          <a:prstGeom prst="line">
            <a:avLst/>
          </a:prstGeom>
          <a:noFill/>
          <a:ln w="38100">
            <a:solidFill>
              <a:srgbClr val="E91E6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3" name="Text 21"/>
          <p:cNvSpPr/>
          <p:nvPr/>
        </p:nvSpPr>
        <p:spPr>
          <a:xfrm>
            <a:off x="4594771" y="2754809"/>
            <a:ext cx="228600" cy="228600"/>
          </a:xfrm>
          <a:prstGeom prst="roundRect">
            <a:avLst>
              <a:gd name="adj" fmla="val 16667"/>
            </a:avLst>
          </a:prstGeom>
          <a:solidFill>
            <a:srgbClr val="E91E6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937671" y="2775793"/>
            <a:ext cx="221255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descriptions</a:t>
            </a: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details</a:t>
            </a:r>
            <a:endParaRPr lang="en-US" sz="1050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868f2e5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91630"/>
            <a:ext cx="3591074" cy="96009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06387" y="2091630"/>
            <a:ext cx="778151" cy="960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560"/>
              </a:lnSpc>
              <a:buNone/>
            </a:pPr>
            <a:r>
              <a:rPr lang="en-US" sz="5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5400" dirty="0"/>
          </a:p>
        </p:txBody>
      </p:sp>
      <p:sp>
        <p:nvSpPr>
          <p:cNvPr id="4" name="Text 1"/>
          <p:cNvSpPr/>
          <p:nvPr/>
        </p:nvSpPr>
        <p:spPr>
          <a:xfrm>
            <a:off x="5576251" y="1358292"/>
            <a:ext cx="2296298" cy="4522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6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TEXT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387223" y="1699783"/>
            <a:ext cx="2708366" cy="969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150"/>
              </a:lnSpc>
              <a:buNone/>
            </a:pPr>
            <a:r>
              <a:rPr lang="en-US" sz="40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 A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5576251" y="2376519"/>
            <a:ext cx="2296298" cy="5813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spcBef>
                <a:spcPts val="600"/>
              </a:spcBef>
              <a:buNone/>
            </a:pPr>
            <a:r>
              <a:rPr lang="en-US" sz="2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A: </a:t>
            </a:r>
            <a:br>
              <a:rPr lang="en-US" sz="2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2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Foodie Visit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5593258" y="3031749"/>
            <a:ext cx="2296297" cy="107956"/>
          </a:xfrm>
          <a:prstGeom prst="rect">
            <a:avLst/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4399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 A: Opening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228600" y="533400"/>
            <a:ext cx="886053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 the scene with personal connection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190500" y="1997273"/>
            <a:ext cx="4954339" cy="2324356"/>
          </a:xfrm>
          <a:prstGeom prst="roundRect">
            <a:avLst>
              <a:gd name="adj" fmla="val 3795"/>
            </a:avLst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81000" y="2187773"/>
            <a:ext cx="466480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TEXT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81000" y="2576364"/>
            <a:ext cx="4664806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13"/>
              </a:lnSpc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Dear Marianna,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81000" y="3085951"/>
            <a:ext cx="4664806" cy="728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13"/>
              </a:lnSpc>
              <a:spcBef>
                <a:spcPts val="900"/>
              </a:spcBef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texted me and told me you're arriving in Vienna tomorrow, so I wanted to </a:t>
            </a:r>
            <a:r>
              <a:rPr lang="en-US" sz="1400" b="1" dirty="0">
                <a:solidFill>
                  <a:srgbClr val="9B59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 a restaurant </a:t>
            </a:r>
            <a:r>
              <a:rPr lang="en-US" sz="1400" b="1" i="1" dirty="0">
                <a:solidFill>
                  <a:srgbClr val="9B59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you</a:t>
            </a:r>
            <a:r>
              <a:rPr lang="en-US" sz="14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since I know how you love food. I will also </a:t>
            </a:r>
            <a:r>
              <a:rPr lang="en-US" sz="14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cook for you,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 you don't have to eat take out.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73439" y="1843236"/>
            <a:ext cx="3580061" cy="638026"/>
          </a:xfrm>
          <a:prstGeom prst="roundRect">
            <a:avLst>
              <a:gd name="adj" fmla="val 1194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392489" y="1843236"/>
            <a:ext cx="0" cy="638026"/>
          </a:xfrm>
          <a:prstGeom prst="line">
            <a:avLst/>
          </a:prstGeom>
          <a:noFill/>
          <a:ln w="381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5544889" y="1976586"/>
            <a:ext cx="334076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9B59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RESTAURANT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544889" y="2174677"/>
            <a:ext cx="334076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Introduction: recommend a restaurant to you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5373439" y="2595563"/>
            <a:ext cx="3580061" cy="638026"/>
          </a:xfrm>
          <a:prstGeom prst="roundRect">
            <a:avLst>
              <a:gd name="adj" fmla="val 1194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5392489" y="2595563"/>
            <a:ext cx="0" cy="638026"/>
          </a:xfrm>
          <a:prstGeom prst="line">
            <a:avLst/>
          </a:prstGeom>
          <a:noFill/>
          <a:ln w="381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5544889" y="2728913"/>
            <a:ext cx="334076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544889" y="2927003"/>
            <a:ext cx="334076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Introduction: cook for you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5373439" y="3347889"/>
            <a:ext cx="3580061" cy="811262"/>
          </a:xfrm>
          <a:prstGeom prst="roundRect">
            <a:avLst>
              <a:gd name="adj" fmla="val 9393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506789" y="3481239"/>
            <a:ext cx="337962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E91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TOUCH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506789" y="3679329"/>
            <a:ext cx="3379628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 a real conversation ("You texted me") as an introduction</a:t>
            </a:r>
            <a:endParaRPr lang="en-US" sz="9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599"/>
            <a:ext cx="5963194" cy="424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 A: Cuisine + Homemade Meal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277177" y="972294"/>
            <a:ext cx="886053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300"/>
              </a:spcBef>
              <a:buNone/>
            </a:pPr>
            <a:r>
              <a:rPr lang="en-US" b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bullet points covered in one natural paragraph</a:t>
            </a:r>
            <a:endParaRPr lang="en-US" b="1" dirty="0"/>
          </a:p>
        </p:txBody>
      </p:sp>
      <p:sp>
        <p:nvSpPr>
          <p:cNvPr id="4" name="Text 2"/>
          <p:cNvSpPr/>
          <p:nvPr/>
        </p:nvSpPr>
        <p:spPr>
          <a:xfrm>
            <a:off x="190500" y="2102048"/>
            <a:ext cx="4954339" cy="2069158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81000" y="2292548"/>
            <a:ext cx="466480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TEXT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81000" y="2681139"/>
            <a:ext cx="4664806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4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favourite cuisine is Japanese cuisine,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 I've learnt how to </a:t>
            </a:r>
            <a:r>
              <a:rPr lang="en-US" sz="14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sushi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I'm sure you'll like </a:t>
            </a:r>
            <a:r>
              <a:rPr lang="en-US" sz="14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I usually make </a:t>
            </a:r>
            <a:r>
              <a:rPr lang="en-US" sz="14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with </a:t>
            </a:r>
            <a:r>
              <a:rPr lang="en-US" sz="14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salmon and some cucumbers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but </a:t>
            </a:r>
            <a:r>
              <a:rPr lang="en-US" sz="1400" b="1" dirty="0">
                <a:solidFill>
                  <a:srgbClr val="E91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since you hate cucumbers, I'll replace them with some cream cheese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373439" y="1530846"/>
            <a:ext cx="3580061" cy="638026"/>
          </a:xfrm>
          <a:prstGeom prst="roundRect">
            <a:avLst>
              <a:gd name="adj" fmla="val 1194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392489" y="1530846"/>
            <a:ext cx="0" cy="638026"/>
          </a:xfrm>
          <a:prstGeom prst="line">
            <a:avLst/>
          </a:prstGeom>
          <a:noFill/>
          <a:ln w="381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5544889" y="1664196"/>
            <a:ext cx="334076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FAVOURITE CUISINE ✓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544889" y="1862286"/>
            <a:ext cx="334076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Japanese - stated directly and simply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5373439" y="2264122"/>
            <a:ext cx="3580061" cy="638026"/>
          </a:xfrm>
          <a:prstGeom prst="roundRect">
            <a:avLst>
              <a:gd name="adj" fmla="val 1194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5392489" y="2264122"/>
            <a:ext cx="0" cy="638026"/>
          </a:xfrm>
          <a:prstGeom prst="line">
            <a:avLst/>
          </a:prstGeom>
          <a:noFill/>
          <a:ln w="381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5544889" y="2397472"/>
            <a:ext cx="334076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MEAL DETAILS ✓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544889" y="2595563"/>
            <a:ext cx="334076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Sushi with salmon, describes ingredients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5373439" y="2997398"/>
            <a:ext cx="3580061" cy="811262"/>
          </a:xfrm>
          <a:prstGeom prst="roundRect">
            <a:avLst>
              <a:gd name="adj" fmla="val 939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5392489" y="2997398"/>
            <a:ext cx="0" cy="811262"/>
          </a:xfrm>
          <a:prstGeom prst="line">
            <a:avLst/>
          </a:prstGeom>
          <a:noFill/>
          <a:ln w="38100">
            <a:solidFill>
              <a:srgbClr val="E91E6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5544889" y="3130748"/>
            <a:ext cx="334076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E91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DETAIL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544889" y="3328839"/>
            <a:ext cx="3340766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"since you hate cucumbers"</a:t>
            </a:r>
            <a:endParaRPr lang="en-US" sz="9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6335486" cy="2939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 A: Restaurant Introduction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228600" y="1003663"/>
            <a:ext cx="886053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300"/>
              </a:spcBef>
              <a:buNone/>
            </a:pPr>
            <a:r>
              <a:rPr lang="en-US" b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 up the detailed description</a:t>
            </a:r>
            <a:endParaRPr lang="en-US" b="1" dirty="0"/>
          </a:p>
        </p:txBody>
      </p:sp>
      <p:sp>
        <p:nvSpPr>
          <p:cNvPr id="4" name="Text 2"/>
          <p:cNvSpPr/>
          <p:nvPr/>
        </p:nvSpPr>
        <p:spPr>
          <a:xfrm>
            <a:off x="190500" y="2230636"/>
            <a:ext cx="4954339" cy="1797100"/>
          </a:xfrm>
          <a:prstGeom prst="roundRect">
            <a:avLst>
              <a:gd name="adj" fmla="val 4944"/>
            </a:avLst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81000" y="2421136"/>
            <a:ext cx="466480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TEXT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81000" y="2809726"/>
            <a:ext cx="4664806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told me you </a:t>
            </a:r>
            <a:r>
              <a:rPr lang="en-US" sz="14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wanted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visit a nice restaurant, so I found one. It's called </a:t>
            </a:r>
            <a:r>
              <a:rPr lang="en-US" sz="1400" b="1" dirty="0">
                <a:solidFill>
                  <a:srgbClr val="9B59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808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it's </a:t>
            </a:r>
            <a:r>
              <a:rPr lang="en-US" sz="1400" b="1" dirty="0">
                <a:solidFill>
                  <a:srgbClr val="9B59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located near the city center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It's a </a:t>
            </a:r>
            <a:r>
              <a:rPr lang="en-US" sz="1400" b="1" dirty="0">
                <a:solidFill>
                  <a:srgbClr val="E91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beautiful and cozy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restaurant. My </a:t>
            </a:r>
            <a:r>
              <a:rPr lang="en-US" sz="14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favourite dish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there is their </a:t>
            </a:r>
            <a:r>
              <a:rPr lang="en-US" sz="14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truffle pasta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373439" y="1540371"/>
            <a:ext cx="3580061" cy="811262"/>
          </a:xfrm>
          <a:prstGeom prst="roundRect">
            <a:avLst>
              <a:gd name="adj" fmla="val 939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392489" y="1540371"/>
            <a:ext cx="0" cy="811262"/>
          </a:xfrm>
          <a:prstGeom prst="line">
            <a:avLst/>
          </a:prstGeom>
          <a:noFill/>
          <a:ln w="381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5544889" y="1673721"/>
            <a:ext cx="334076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9B59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RESTAURANT ✓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544889" y="1871811"/>
            <a:ext cx="3340766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(808) + location (city center) - basic info covered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5373439" y="2446883"/>
            <a:ext cx="3580061" cy="638026"/>
          </a:xfrm>
          <a:prstGeom prst="roundRect">
            <a:avLst>
              <a:gd name="adj" fmla="val 1194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5392489" y="2446883"/>
            <a:ext cx="0" cy="638026"/>
          </a:xfrm>
          <a:prstGeom prst="line">
            <a:avLst/>
          </a:prstGeom>
          <a:noFill/>
          <a:ln w="38100">
            <a:solidFill>
              <a:srgbClr val="E91E6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5544889" y="2580233"/>
            <a:ext cx="334076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E91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ATMOSPHERE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544889" y="2778323"/>
            <a:ext cx="334076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"beautiful and cozy"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5373439" y="3180159"/>
            <a:ext cx="3580061" cy="638026"/>
          </a:xfrm>
          <a:prstGeom prst="roundRect">
            <a:avLst>
              <a:gd name="adj" fmla="val 1194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5392489" y="3180159"/>
            <a:ext cx="0" cy="638026"/>
          </a:xfrm>
          <a:prstGeom prst="line">
            <a:avLst/>
          </a:prstGeom>
          <a:noFill/>
          <a:ln w="381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5544889" y="3313509"/>
            <a:ext cx="334076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VOCABULARY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544889" y="3511600"/>
            <a:ext cx="334076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"truffle pasta" – specific food vocabulary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5373439" y="3913436"/>
            <a:ext cx="3580061" cy="548580"/>
          </a:xfrm>
          <a:prstGeom prst="roundRect">
            <a:avLst>
              <a:gd name="adj" fmla="val 13890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487739" y="4027736"/>
            <a:ext cx="341849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Transition:</a:t>
            </a: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References friend's wish again ("You told me") - maintains conversational flow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5867400" cy="452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 A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238316" y="988318"/>
            <a:ext cx="886053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2400" b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Vivid, sensory details</a:t>
            </a:r>
            <a:endParaRPr lang="en-US" sz="2400" b="1" dirty="0"/>
          </a:p>
        </p:txBody>
      </p:sp>
      <p:sp>
        <p:nvSpPr>
          <p:cNvPr id="4" name="Text 2"/>
          <p:cNvSpPr/>
          <p:nvPr/>
        </p:nvSpPr>
        <p:spPr>
          <a:xfrm>
            <a:off x="190500" y="2077788"/>
            <a:ext cx="4718000" cy="2077393"/>
          </a:xfrm>
          <a:prstGeom prst="roundRect">
            <a:avLst>
              <a:gd name="adj" fmla="val 4169"/>
            </a:avLst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42900" y="2230189"/>
            <a:ext cx="450146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TEXT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342900" y="2586335"/>
            <a:ext cx="4501464" cy="11668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38"/>
              </a:lnSpc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</a:t>
            </a:r>
            <a:r>
              <a:rPr lang="en-US" sz="1400" b="1" dirty="0">
                <a:solidFill>
                  <a:srgbClr val="E91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of flavour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hot and the </a:t>
            </a:r>
            <a:r>
              <a:rPr lang="en-US" sz="14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preparation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definitely worth watching. The waiter brings the </a:t>
            </a:r>
            <a:r>
              <a:rPr lang="en-US" sz="14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boiled pasta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right to your table and throws it into a </a:t>
            </a:r>
            <a:r>
              <a:rPr lang="en-US" sz="1400" b="1" dirty="0">
                <a:solidFill>
                  <a:srgbClr val="E91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huge parmesan wheel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He adds a tiny bit of alcohol and </a:t>
            </a:r>
            <a:r>
              <a:rPr lang="en-US" sz="1400" b="1" dirty="0">
                <a:solidFill>
                  <a:srgbClr val="E91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blue fire starts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He mixes it with the </a:t>
            </a:r>
            <a:r>
              <a:rPr lang="en-US" sz="1400" b="1" dirty="0">
                <a:solidFill>
                  <a:srgbClr val="E91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melting cheese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right in front of you and </a:t>
            </a:r>
            <a:r>
              <a:rPr lang="en-US" sz="14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grates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some </a:t>
            </a:r>
            <a:r>
              <a:rPr lang="en-US" sz="14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 truffles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 top of it.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99000" y="1521321"/>
            <a:ext cx="3854500" cy="723751"/>
          </a:xfrm>
          <a:prstGeom prst="roundRect">
            <a:avLst>
              <a:gd name="adj" fmla="val 1052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118050" y="1521321"/>
            <a:ext cx="0" cy="723751"/>
          </a:xfrm>
          <a:prstGeom prst="line">
            <a:avLst/>
          </a:prstGeom>
          <a:noFill/>
          <a:ln w="38100">
            <a:solidFill>
              <a:srgbClr val="E91E6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5251400" y="1635621"/>
            <a:ext cx="365955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225"/>
              </a:spcAft>
              <a:buNone/>
            </a:pPr>
            <a:r>
              <a:rPr lang="en-US" sz="825" b="1" dirty="0">
                <a:solidFill>
                  <a:srgbClr val="E91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SENSORY DETAILS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5251400" y="1810792"/>
            <a:ext cx="365955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"blue fire" / "huge parmesan wheel" / "melting cheese" - visual imagery that makes the reader hungry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99000" y="2321272"/>
            <a:ext cx="3854500" cy="723751"/>
          </a:xfrm>
          <a:prstGeom prst="roundRect">
            <a:avLst>
              <a:gd name="adj" fmla="val 1052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5118050" y="2321272"/>
            <a:ext cx="0" cy="723751"/>
          </a:xfrm>
          <a:prstGeom prst="line">
            <a:avLst/>
          </a:prstGeom>
          <a:noFill/>
          <a:ln w="381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5251400" y="2435572"/>
            <a:ext cx="365955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225"/>
              </a:spcAft>
              <a:buNone/>
            </a:pPr>
            <a:r>
              <a:rPr lang="en-US" sz="825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VOCABULARY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5251400" y="2610743"/>
            <a:ext cx="365955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"preparation" / "grates" / "black truffles" / "boiled" - precise cooking verbs and terms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99000" y="3121223"/>
            <a:ext cx="3854500" cy="723751"/>
          </a:xfrm>
          <a:prstGeom prst="roundRect">
            <a:avLst>
              <a:gd name="adj" fmla="val 1052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5118050" y="3121223"/>
            <a:ext cx="0" cy="723751"/>
          </a:xfrm>
          <a:prstGeom prst="line">
            <a:avLst/>
          </a:prstGeom>
          <a:noFill/>
          <a:ln w="381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5251400" y="3235523"/>
            <a:ext cx="365955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225"/>
              </a:spcAft>
              <a:buNone/>
            </a:pPr>
            <a:r>
              <a:rPr lang="en-US" sz="825" b="1" dirty="0">
                <a:solidFill>
                  <a:srgbClr val="9B59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RESTAURANT DETAIL ✓✓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5251400" y="3410694"/>
            <a:ext cx="365955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Describes the EXPERIENCE, not just the food - tableside service, the process, the show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99000" y="3921175"/>
            <a:ext cx="3854500" cy="540841"/>
          </a:xfrm>
          <a:prstGeom prst="roundRect">
            <a:avLst>
              <a:gd name="adj" fmla="val 14089"/>
            </a:avLst>
          </a:prstGeom>
          <a:solidFill>
            <a:srgbClr val="E8F5E9"/>
          </a:solidFill>
          <a:ln w="9525">
            <a:solidFill>
              <a:srgbClr val="A5D6A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222825" y="4045000"/>
            <a:ext cx="3678987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works well:</a:t>
            </a:r>
            <a:r>
              <a:rPr lang="en-US" sz="825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reader can picture this scene. It goes far beyond "the food is good" - shows what makes this restaurant SPECIAL.</a:t>
            </a:r>
            <a:endParaRPr lang="en-US" sz="8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4399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 A: Strong Finish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90500" y="1821061"/>
            <a:ext cx="4954339" cy="2842765"/>
          </a:xfrm>
          <a:prstGeom prst="roundRect">
            <a:avLst>
              <a:gd name="adj" fmla="val 3228"/>
            </a:avLst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81000" y="2011561"/>
            <a:ext cx="466480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TEXT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81000" y="2400151"/>
            <a:ext cx="4664806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r>
              <a:rPr lang="en-US" sz="14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flavour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</a:t>
            </a:r>
            <a:r>
              <a:rPr lang="en-US" sz="1400" b="1" dirty="0">
                <a:solidFill>
                  <a:srgbClr val="E91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incredible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The </a:t>
            </a:r>
            <a:r>
              <a:rPr lang="en-US" sz="14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tenderness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the pasta and the flavour of the truffles will </a:t>
            </a:r>
            <a:r>
              <a:rPr lang="en-US" sz="1400" b="1" dirty="0">
                <a:solidFill>
                  <a:srgbClr val="E91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your taste buds go crazy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It's also really </a:t>
            </a:r>
            <a:r>
              <a:rPr lang="en-US" sz="1400" b="1" dirty="0">
                <a:solidFill>
                  <a:srgbClr val="9B59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filling and not fattening at all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I'm definitely taking you to that place!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81000" y="3572322"/>
            <a:ext cx="4664806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25"/>
              </a:lnSpc>
              <a:spcBef>
                <a:spcPts val="1200"/>
              </a:spcBef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regards,</a:t>
            </a:r>
            <a:endParaRPr lang="en-US" sz="1400" dirty="0"/>
          </a:p>
          <a:p>
            <a:pPr marL="0" indent="0" algn="l">
              <a:lnSpc>
                <a:spcPts val="2025"/>
              </a:lnSpc>
              <a:spcBef>
                <a:spcPts val="1200"/>
              </a:spcBef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73439" y="1338560"/>
            <a:ext cx="3580061" cy="811262"/>
          </a:xfrm>
          <a:prstGeom prst="roundRect">
            <a:avLst>
              <a:gd name="adj" fmla="val 939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392489" y="1338560"/>
            <a:ext cx="0" cy="811262"/>
          </a:xfrm>
          <a:prstGeom prst="line">
            <a:avLst/>
          </a:prstGeom>
          <a:noFill/>
          <a:ln w="38100">
            <a:solidFill>
              <a:srgbClr val="E91E6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5544889" y="1471910"/>
            <a:ext cx="334076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E91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VIVID EXPRESSION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544889" y="1670000"/>
            <a:ext cx="3340766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"make your taste buds go crazy" – idiomatic (this means using phrases like Native speakers)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5373439" y="2245072"/>
            <a:ext cx="3580061" cy="811262"/>
          </a:xfrm>
          <a:prstGeom prst="roundRect">
            <a:avLst>
              <a:gd name="adj" fmla="val 939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5392489" y="2245072"/>
            <a:ext cx="0" cy="811262"/>
          </a:xfrm>
          <a:prstGeom prst="line">
            <a:avLst/>
          </a:prstGeom>
          <a:noFill/>
          <a:ln w="381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5544889" y="2378422"/>
            <a:ext cx="334076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VOCABULARY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544889" y="2576513"/>
            <a:ext cx="3340766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"tenderness" / "flavour" / "incredible" - great descriptors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5373439" y="3151584"/>
            <a:ext cx="3580061" cy="811262"/>
          </a:xfrm>
          <a:prstGeom prst="roundRect">
            <a:avLst>
              <a:gd name="adj" fmla="val 939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5392489" y="3151584"/>
            <a:ext cx="0" cy="811262"/>
          </a:xfrm>
          <a:prstGeom prst="line">
            <a:avLst/>
          </a:prstGeom>
          <a:noFill/>
          <a:ln w="381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5544889" y="3284934"/>
            <a:ext cx="334076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9B59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INFO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544889" y="3483025"/>
            <a:ext cx="3340766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"filling and not fattening" - addresses what a foodie friend would care about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5373439" y="4058096"/>
            <a:ext cx="3580061" cy="605730"/>
          </a:xfrm>
          <a:prstGeom prst="roundRect">
            <a:avLst>
              <a:gd name="adj" fmla="val 12580"/>
            </a:avLst>
          </a:prstGeom>
          <a:solidFill>
            <a:srgbClr val="E8F5E9"/>
          </a:solidFill>
          <a:ln w="9525">
            <a:solidFill>
              <a:srgbClr val="A5D6A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516314" y="4200971"/>
            <a:ext cx="336019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closing:</a:t>
            </a:r>
            <a:r>
              <a:rPr lang="en-US" sz="9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"I'm definitely taking you" -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4399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 A: Summary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228600" y="725933"/>
            <a:ext cx="886053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300"/>
              </a:spcBef>
              <a:buNone/>
            </a:pPr>
            <a:r>
              <a:rPr lang="en-US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makes this text excellent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28600" y="1888927"/>
            <a:ext cx="4169569" cy="2224534"/>
          </a:xfrm>
          <a:prstGeom prst="roundRect">
            <a:avLst>
              <a:gd name="adj" fmla="val 3425"/>
            </a:avLst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19100" y="2079427"/>
            <a:ext cx="38643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900"/>
              </a:spcAft>
              <a:buNone/>
            </a:pPr>
            <a:r>
              <a:rPr lang="en-US" sz="975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ACHIEVEMENT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419100" y="2529780"/>
            <a:ext cx="152400" cy="152400"/>
          </a:xfrm>
          <a:prstGeom prst="roundRect">
            <a:avLst>
              <a:gd name="adj" fmla="val 600000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66750" y="2519363"/>
            <a:ext cx="157269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Favourite cuisine: Japanese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419100" y="2798266"/>
            <a:ext cx="152400" cy="152400"/>
          </a:xfrm>
          <a:prstGeom prst="roundRect">
            <a:avLst>
              <a:gd name="adj" fmla="val 600000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66750" y="2787848"/>
            <a:ext cx="274144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Meal to cook: Sushi with salmon + cream cheese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419100" y="3066752"/>
            <a:ext cx="152400" cy="152400"/>
          </a:xfrm>
          <a:prstGeom prst="roundRect">
            <a:avLst>
              <a:gd name="adj" fmla="val 600000"/>
            </a:avLst>
          </a:prstGeom>
          <a:solidFill>
            <a:srgbClr val="9B59B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66750" y="3056334"/>
            <a:ext cx="249718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Restaurant: 808 with truffle pasta description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419100" y="3534370"/>
            <a:ext cx="3788569" cy="388590"/>
          </a:xfrm>
          <a:prstGeom prst="roundRect">
            <a:avLst>
              <a:gd name="adj" fmla="val 14707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33400" y="3648670"/>
            <a:ext cx="363116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bullet points covered</a:t>
            </a:r>
            <a:r>
              <a:rPr lang="en-US" sz="9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with detail that exceeds the minimum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626769" y="1754684"/>
            <a:ext cx="4169569" cy="2493020"/>
          </a:xfrm>
          <a:prstGeom prst="roundRect">
            <a:avLst>
              <a:gd name="adj" fmla="val 3057"/>
            </a:avLst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817269" y="1945184"/>
            <a:ext cx="38643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900"/>
              </a:spcAft>
              <a:buNone/>
            </a:pPr>
            <a:r>
              <a:rPr lang="en-US" sz="975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ELEVATES IT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4817269" y="2457450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E91E6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988719" y="2385120"/>
            <a:ext cx="337689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Sensory details:</a:t>
            </a:r>
            <a:r>
              <a:rPr lang="en-US" sz="97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blue fire, melting cheese, parmesan wheel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4817269" y="2725936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E67E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988719" y="2653605"/>
            <a:ext cx="295093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Vocabulary:</a:t>
            </a:r>
            <a:r>
              <a:rPr lang="en-US" sz="97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tenderness, grates, truffles, preparation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4817269" y="2994422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9B59B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988719" y="2922091"/>
            <a:ext cx="331025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touches:</a:t>
            </a:r>
            <a:r>
              <a:rPr lang="en-US" sz="97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"you hate cucumbers", "you texted me"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4817269" y="3262908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988719" y="3190577"/>
            <a:ext cx="213938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idioms:</a:t>
            </a:r>
            <a:r>
              <a:rPr lang="en-US" sz="97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"taste buds go crazy"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4817269" y="3668613"/>
            <a:ext cx="3788569" cy="388590"/>
          </a:xfrm>
          <a:prstGeom prst="roundRect">
            <a:avLst>
              <a:gd name="adj" fmla="val 14707"/>
            </a:avLst>
          </a:prstGeom>
          <a:solidFill>
            <a:srgbClr val="FFF8E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931569" y="3782913"/>
            <a:ext cx="363116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57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~245 words</a:t>
            </a:r>
            <a:r>
              <a:rPr lang="en-US" sz="900" dirty="0">
                <a:solidFill>
                  <a:srgbClr val="F57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double the requirement, but doesn’t feel like too much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a6917f7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91630"/>
            <a:ext cx="3591074" cy="96009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06387" y="2091630"/>
            <a:ext cx="778151" cy="960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560"/>
              </a:lnSpc>
              <a:buNone/>
            </a:pPr>
            <a:r>
              <a:rPr lang="en-US" sz="5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5400" dirty="0"/>
          </a:p>
        </p:txBody>
      </p:sp>
      <p:sp>
        <p:nvSpPr>
          <p:cNvPr id="4" name="Text 1"/>
          <p:cNvSpPr/>
          <p:nvPr/>
        </p:nvSpPr>
        <p:spPr>
          <a:xfrm>
            <a:off x="5576250" y="1432970"/>
            <a:ext cx="187615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6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TEXT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064350" y="1892718"/>
            <a:ext cx="2899953" cy="45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150"/>
              </a:lnSpc>
              <a:buNone/>
            </a:pPr>
            <a:r>
              <a:rPr lang="en-US" sz="44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 B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5524054" y="2433158"/>
            <a:ext cx="187615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spcBef>
                <a:spcPts val="600"/>
              </a:spcBef>
              <a:buNone/>
            </a:pPr>
            <a:r>
              <a:rPr lang="en-US" sz="2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B: Career Advice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5524054" y="3048893"/>
            <a:ext cx="1857760" cy="45719"/>
          </a:xfrm>
          <a:prstGeom prst="rect">
            <a:avLst/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4399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 B: Why This Job Fits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283464" y="771398"/>
            <a:ext cx="886053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1600" b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and clear opening</a:t>
            </a:r>
            <a:endParaRPr lang="en-US" sz="1600" b="1" dirty="0"/>
          </a:p>
        </p:txBody>
      </p:sp>
      <p:sp>
        <p:nvSpPr>
          <p:cNvPr id="4" name="Text 2"/>
          <p:cNvSpPr/>
          <p:nvPr/>
        </p:nvSpPr>
        <p:spPr>
          <a:xfrm>
            <a:off x="190500" y="2097286"/>
            <a:ext cx="4954339" cy="2045791"/>
          </a:xfrm>
          <a:prstGeom prst="roundRect">
            <a:avLst>
              <a:gd name="adj" fmla="val 4215"/>
            </a:avLst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81000" y="2287786"/>
            <a:ext cx="466480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TEXT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81000" y="2676376"/>
            <a:ext cx="466480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Dear Stella,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81000" y="3200251"/>
            <a:ext cx="4664806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25"/>
              </a:lnSpc>
              <a:spcBef>
                <a:spcPts val="900"/>
              </a:spcBef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think it's great that you want to become a </a:t>
            </a:r>
            <a:r>
              <a:rPr lang="en-US" sz="14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children's doctor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This job is </a:t>
            </a:r>
            <a:r>
              <a:rPr lang="en-US" sz="14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perfect for you because you are kind, patient and responsible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73439" y="1859459"/>
            <a:ext cx="3580061" cy="638026"/>
          </a:xfrm>
          <a:prstGeom prst="roundRect">
            <a:avLst>
              <a:gd name="adj" fmla="val 1194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392489" y="1859459"/>
            <a:ext cx="0" cy="638026"/>
          </a:xfrm>
          <a:prstGeom prst="line">
            <a:avLst/>
          </a:prstGeom>
          <a:noFill/>
          <a:ln w="381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5544889" y="1992809"/>
            <a:ext cx="334076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IDENTIFIED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373439" y="2611785"/>
            <a:ext cx="3580061" cy="811262"/>
          </a:xfrm>
          <a:prstGeom prst="roundRect">
            <a:avLst>
              <a:gd name="adj" fmla="val 939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5392489" y="2611785"/>
            <a:ext cx="0" cy="811262"/>
          </a:xfrm>
          <a:prstGeom prst="line">
            <a:avLst/>
          </a:prstGeom>
          <a:noFill/>
          <a:ln w="381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5544889" y="2745135"/>
            <a:ext cx="334076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FITS ✓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544889" y="2943225"/>
            <a:ext cx="3340766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"kind, patient and responsible" - three qualities, directly linked to why the job suits Stella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5373439" y="3537347"/>
            <a:ext cx="3580061" cy="605730"/>
          </a:xfrm>
          <a:prstGeom prst="roundRect">
            <a:avLst>
              <a:gd name="adj" fmla="val 12580"/>
            </a:avLst>
          </a:prstGeom>
          <a:solidFill>
            <a:srgbClr val="E8F5E9"/>
          </a:solidFill>
          <a:ln w="9525">
            <a:solidFill>
              <a:srgbClr val="A5D6A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516314" y="3680222"/>
            <a:ext cx="336019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Efficient:</a:t>
            </a:r>
            <a:r>
              <a:rPr lang="en-US" sz="9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First bullet point fully covered in just two sentences. No wasted words.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43998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 B: What the Job Involves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228600" y="691009"/>
            <a:ext cx="834934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365"/>
              </a:lnSpc>
              <a:spcBef>
                <a:spcPts val="300"/>
              </a:spcBef>
            </a:pPr>
            <a:r>
              <a:rPr lang="en-US" b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discussion daily tasks and requirements of the job</a:t>
            </a:r>
            <a:endParaRPr lang="en-US" b="1" dirty="0"/>
          </a:p>
        </p:txBody>
      </p:sp>
      <p:sp>
        <p:nvSpPr>
          <p:cNvPr id="4" name="Text 2"/>
          <p:cNvSpPr/>
          <p:nvPr/>
        </p:nvSpPr>
        <p:spPr>
          <a:xfrm>
            <a:off x="190500" y="2077789"/>
            <a:ext cx="4718000" cy="2201466"/>
          </a:xfrm>
          <a:prstGeom prst="roundRect">
            <a:avLst>
              <a:gd name="adj" fmla="val 4169"/>
            </a:avLst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42900" y="2230189"/>
            <a:ext cx="450146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TEXT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342900" y="2586335"/>
            <a:ext cx="4501464" cy="11668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38"/>
              </a:lnSpc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a children's doctor, you will </a:t>
            </a:r>
            <a:r>
              <a:rPr lang="en-US" sz="14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 babies and kids, do check-ups, find out what's wrong, and tell parents what to do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You can work in </a:t>
            </a:r>
            <a:r>
              <a:rPr lang="en-US" sz="14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doctor's office or hospital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and you will see </a:t>
            </a:r>
            <a:r>
              <a:rPr lang="en-US" sz="14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regular visits, shots and sometimes emergencies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You need to </a:t>
            </a:r>
            <a:r>
              <a:rPr lang="en-US" sz="14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a lot about medicine, talk well with others, work in a team, and stay calm when things are hard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99000" y="1589931"/>
            <a:ext cx="3854500" cy="723751"/>
          </a:xfrm>
          <a:prstGeom prst="roundRect">
            <a:avLst>
              <a:gd name="adj" fmla="val 1052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118050" y="1589931"/>
            <a:ext cx="0" cy="723751"/>
          </a:xfrm>
          <a:prstGeom prst="line">
            <a:avLst/>
          </a:prstGeom>
          <a:noFill/>
          <a:ln w="381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5251400" y="1704231"/>
            <a:ext cx="365955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225"/>
              </a:spcAft>
              <a:buNone/>
            </a:pPr>
            <a:r>
              <a:rPr lang="en-US" sz="825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TASKS ✓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5251400" y="1879402"/>
            <a:ext cx="365955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Check-ups, diagnose problems, advise parents - covers what you actually DO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99000" y="2389882"/>
            <a:ext cx="3854500" cy="563761"/>
          </a:xfrm>
          <a:prstGeom prst="roundRect">
            <a:avLst>
              <a:gd name="adj" fmla="val 1351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5118050" y="2389882"/>
            <a:ext cx="0" cy="563761"/>
          </a:xfrm>
          <a:prstGeom prst="line">
            <a:avLst/>
          </a:prstGeom>
          <a:noFill/>
          <a:ln w="381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5251400" y="2504182"/>
            <a:ext cx="365955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225"/>
              </a:spcAft>
              <a:buNone/>
            </a:pPr>
            <a:r>
              <a:rPr lang="en-US" sz="825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SETTINGS ✓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5251400" y="2679353"/>
            <a:ext cx="365955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"doctor's office or hospital" - two options, both realistic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99000" y="3029843"/>
            <a:ext cx="3854500" cy="563761"/>
          </a:xfrm>
          <a:prstGeom prst="roundRect">
            <a:avLst>
              <a:gd name="adj" fmla="val 1351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5118050" y="3029843"/>
            <a:ext cx="0" cy="563761"/>
          </a:xfrm>
          <a:prstGeom prst="line">
            <a:avLst/>
          </a:prstGeom>
          <a:noFill/>
          <a:ln w="381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5251400" y="3144143"/>
            <a:ext cx="365955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225"/>
              </a:spcAft>
              <a:buNone/>
            </a:pPr>
            <a:r>
              <a:rPr lang="en-US" sz="825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VARIETY OF WORK ✓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5251400" y="3319314"/>
            <a:ext cx="365955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"regular visits, shots and sometimes emergencies" - range of situations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99000" y="3669804"/>
            <a:ext cx="3854500" cy="723751"/>
          </a:xfrm>
          <a:prstGeom prst="roundRect">
            <a:avLst>
              <a:gd name="adj" fmla="val 1052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5118050" y="3669804"/>
            <a:ext cx="0" cy="723751"/>
          </a:xfrm>
          <a:prstGeom prst="line">
            <a:avLst/>
          </a:prstGeom>
          <a:noFill/>
          <a:ln w="381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5251400" y="3784104"/>
            <a:ext cx="365955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225"/>
              </a:spcAft>
              <a:buNone/>
            </a:pPr>
            <a:r>
              <a:rPr lang="en-US" sz="825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NEEDED ✓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5251400" y="3959275"/>
            <a:ext cx="365955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knowledge + communication + teamwork + staying calm - all relevant skills listed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4399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 B: Pros and Cons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228600" y="781944"/>
            <a:ext cx="5529943" cy="266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300"/>
              </a:spcBef>
              <a:buNone/>
            </a:pPr>
            <a:r>
              <a:rPr lang="en-US" b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Balanced, honest assessment</a:t>
            </a:r>
            <a:endParaRPr lang="en-US" b="1" dirty="0"/>
          </a:p>
        </p:txBody>
      </p:sp>
      <p:sp>
        <p:nvSpPr>
          <p:cNvPr id="4" name="Text 2"/>
          <p:cNvSpPr/>
          <p:nvPr/>
        </p:nvSpPr>
        <p:spPr>
          <a:xfrm>
            <a:off x="190500" y="2230636"/>
            <a:ext cx="4954339" cy="1824037"/>
          </a:xfrm>
          <a:prstGeom prst="roundRect">
            <a:avLst>
              <a:gd name="adj" fmla="val 4944"/>
            </a:avLst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81000" y="2421136"/>
            <a:ext cx="466480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TEXT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81000" y="2809726"/>
            <a:ext cx="4664806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r>
              <a:rPr lang="en-US" sz="14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things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about this job are </a:t>
            </a:r>
            <a:r>
              <a:rPr lang="en-US" sz="1400" b="1" dirty="0">
                <a:solidFill>
                  <a:srgbClr val="9B59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helping children, doing many different tasks, and having a steady job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The </a:t>
            </a:r>
            <a:r>
              <a:rPr lang="en-US" sz="1400" b="1" dirty="0">
                <a:solidFill>
                  <a:srgbClr val="E91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parts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are </a:t>
            </a:r>
            <a:r>
              <a:rPr lang="en-US" sz="1400" b="1" dirty="0">
                <a:solidFill>
                  <a:srgbClr val="9B59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work hours, feeling sad sometimes, and learning all the time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373439" y="1181993"/>
            <a:ext cx="3580061" cy="1341090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392489" y="1181993"/>
            <a:ext cx="0" cy="1341090"/>
          </a:xfrm>
          <a:prstGeom prst="line">
            <a:avLst/>
          </a:prstGeom>
          <a:noFill/>
          <a:ln w="381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5544889" y="1315343"/>
            <a:ext cx="334076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 ✓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544889" y="1513433"/>
            <a:ext cx="3275261" cy="8763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Helping children (meaningful)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Variety of tasks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security ("steady job")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373439" y="2618333"/>
            <a:ext cx="3580061" cy="1341090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5392489" y="2618333"/>
            <a:ext cx="0" cy="1341090"/>
          </a:xfrm>
          <a:prstGeom prst="line">
            <a:avLst/>
          </a:prstGeom>
          <a:noFill/>
          <a:ln w="38100">
            <a:solidFill>
              <a:srgbClr val="E91E6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5544889" y="2751683"/>
            <a:ext cx="334076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E91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 ✓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544889" y="2949773"/>
            <a:ext cx="3275261" cy="8763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hours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Emotional factors ("feeling sad")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Constant learning required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373439" y="4054673"/>
            <a:ext cx="3580061" cy="765721"/>
          </a:xfrm>
          <a:prstGeom prst="roundRect">
            <a:avLst>
              <a:gd name="adj" fmla="val 9951"/>
            </a:avLst>
          </a:prstGeom>
          <a:solidFill>
            <a:srgbClr val="E8F5E9"/>
          </a:solidFill>
          <a:ln w="9525">
            <a:solidFill>
              <a:srgbClr val="A5D6A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516314" y="4197548"/>
            <a:ext cx="3360197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 structure:</a:t>
            </a:r>
            <a:r>
              <a:rPr lang="en-US" sz="9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Three pros, three cons - balanced and easy to follow. 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4399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 B: Supportive Closing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238316" y="899178"/>
            <a:ext cx="886053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1600" b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encouragement and offer of help</a:t>
            </a:r>
            <a:endParaRPr lang="en-US" sz="1600" b="1" dirty="0"/>
          </a:p>
        </p:txBody>
      </p:sp>
      <p:sp>
        <p:nvSpPr>
          <p:cNvPr id="4" name="Text 2"/>
          <p:cNvSpPr/>
          <p:nvPr/>
        </p:nvSpPr>
        <p:spPr>
          <a:xfrm>
            <a:off x="190500" y="1949648"/>
            <a:ext cx="4954339" cy="2103090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81000" y="2140148"/>
            <a:ext cx="466480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TEXT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81000" y="2528739"/>
            <a:ext cx="4664806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think you will be </a:t>
            </a:r>
            <a:r>
              <a:rPr lang="en-US" sz="1400" b="1" dirty="0">
                <a:solidFill>
                  <a:srgbClr val="E91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very good at it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 I'm here to </a:t>
            </a:r>
            <a:r>
              <a:rPr lang="en-US" sz="1400" b="1" dirty="0">
                <a:solidFill>
                  <a:srgbClr val="E91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 you with your studies anytime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81000" y="3347889"/>
            <a:ext cx="4664806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25"/>
              </a:lnSpc>
              <a:spcBef>
                <a:spcPts val="1200"/>
              </a:spcBef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wishes,</a:t>
            </a:r>
            <a:endParaRPr lang="en-US" sz="1400" dirty="0"/>
          </a:p>
          <a:p>
            <a:pPr marL="0" indent="0" algn="l">
              <a:lnSpc>
                <a:spcPts val="2025"/>
              </a:lnSpc>
              <a:spcBef>
                <a:spcPts val="1200"/>
              </a:spcBef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73439" y="1772841"/>
            <a:ext cx="3580061" cy="811262"/>
          </a:xfrm>
          <a:prstGeom prst="roundRect">
            <a:avLst>
              <a:gd name="adj" fmla="val 939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392489" y="1772841"/>
            <a:ext cx="0" cy="811262"/>
          </a:xfrm>
          <a:prstGeom prst="line">
            <a:avLst/>
          </a:prstGeom>
          <a:noFill/>
          <a:ln w="38100">
            <a:solidFill>
              <a:srgbClr val="E91E6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5544889" y="1906191"/>
            <a:ext cx="334076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E91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ENCOURAGEMENT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544889" y="2104281"/>
            <a:ext cx="3340766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"you will be very good at it" - confident, positive, supportive tone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5373439" y="2698403"/>
            <a:ext cx="3580061" cy="811262"/>
          </a:xfrm>
          <a:prstGeom prst="roundRect">
            <a:avLst>
              <a:gd name="adj" fmla="val 939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5392489" y="2698403"/>
            <a:ext cx="0" cy="811262"/>
          </a:xfrm>
          <a:prstGeom prst="line">
            <a:avLst/>
          </a:prstGeom>
          <a:noFill/>
          <a:ln w="381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5544889" y="2831753"/>
            <a:ext cx="334076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 OF SUPPORT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544889" y="3029843"/>
            <a:ext cx="3340766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"help you with your studies anytime" - concrete offer</a:t>
            </a:r>
            <a:endParaRPr lang="en-US" sz="97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4399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 B: Summary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228600" y="533400"/>
            <a:ext cx="886053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makes this text excellent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228600" y="1888927"/>
            <a:ext cx="4169569" cy="2224534"/>
          </a:xfrm>
          <a:prstGeom prst="roundRect">
            <a:avLst>
              <a:gd name="adj" fmla="val 3425"/>
            </a:avLst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19100" y="2079427"/>
            <a:ext cx="38643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900"/>
              </a:spcAft>
              <a:buNone/>
            </a:pPr>
            <a:r>
              <a:rPr lang="en-US" sz="975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ACHIEVEMENT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419100" y="2529780"/>
            <a:ext cx="152400" cy="152400"/>
          </a:xfrm>
          <a:prstGeom prst="roundRect">
            <a:avLst>
              <a:gd name="adj" fmla="val 600000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66750" y="2519363"/>
            <a:ext cx="212025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job fits: kind, patient, responsible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419100" y="2798266"/>
            <a:ext cx="152400" cy="152400"/>
          </a:xfrm>
          <a:prstGeom prst="roundRect">
            <a:avLst>
              <a:gd name="adj" fmla="val 600000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66750" y="2787848"/>
            <a:ext cx="220405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job involves: tasks, settings, skills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419100" y="3066752"/>
            <a:ext cx="152400" cy="152400"/>
          </a:xfrm>
          <a:prstGeom prst="roundRect">
            <a:avLst>
              <a:gd name="adj" fmla="val 600000"/>
            </a:avLst>
          </a:prstGeom>
          <a:solidFill>
            <a:srgbClr val="9B59B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66750" y="3056334"/>
            <a:ext cx="183972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 and cons: 3 each, balanced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419100" y="3534370"/>
            <a:ext cx="3788569" cy="388590"/>
          </a:xfrm>
          <a:prstGeom prst="roundRect">
            <a:avLst>
              <a:gd name="adj" fmla="val 14707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33400" y="3648670"/>
            <a:ext cx="363116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bullet point addressed</a:t>
            </a:r>
            <a:r>
              <a:rPr lang="en-US" sz="9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clearly and systematically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626769" y="1754684"/>
            <a:ext cx="4169569" cy="2493020"/>
          </a:xfrm>
          <a:prstGeom prst="roundRect">
            <a:avLst>
              <a:gd name="adj" fmla="val 3057"/>
            </a:avLst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817269" y="1945184"/>
            <a:ext cx="38643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900"/>
              </a:spcAft>
              <a:buNone/>
            </a:pPr>
            <a:r>
              <a:rPr lang="en-US" sz="975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MAKES IT WORK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4817269" y="2457450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988719" y="2385120"/>
            <a:ext cx="294167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structure:</a:t>
            </a:r>
            <a:r>
              <a:rPr lang="en-US" sz="97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One idea per sentence, logical flow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4817269" y="2725936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988719" y="2653605"/>
            <a:ext cx="322448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B1 vocabulary:</a:t>
            </a:r>
            <a:r>
              <a:rPr lang="en-US" sz="97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"check-ups", "steady job", "emergencies"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4817269" y="2994422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9B59B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988719" y="2922091"/>
            <a:ext cx="318061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 structures:</a:t>
            </a:r>
            <a:r>
              <a:rPr lang="en-US" sz="97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Lists are balanced and easy to read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4817269" y="3262908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E91E6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988719" y="3190577"/>
            <a:ext cx="231912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 tone:</a:t>
            </a:r>
            <a:r>
              <a:rPr lang="en-US" sz="97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Supportive friend throughout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4817269" y="3668613"/>
            <a:ext cx="3788569" cy="388590"/>
          </a:xfrm>
          <a:prstGeom prst="roundRect">
            <a:avLst>
              <a:gd name="adj" fmla="val 14707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929651" y="3668612"/>
            <a:ext cx="3631168" cy="388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~165 words</a:t>
            </a:r>
            <a:r>
              <a:rPr lang="en-US" sz="900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meets requirement efficiently, no filler – every word appropriate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1274</Words>
  <Application>Microsoft Macintosh PowerPoint</Application>
  <PresentationFormat>Bildschirmpräsentation (16:9)</PresentationFormat>
  <Paragraphs>158</Paragraphs>
  <Slides>17</Slides>
  <Notes>15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17</vt:i4>
      </vt:variant>
    </vt:vector>
  </HeadingPairs>
  <TitlesOfParts>
    <vt:vector size="21" baseType="lpstr">
      <vt:lpstr>ADLaM Display</vt:lpstr>
      <vt:lpstr>Arial</vt:lpstr>
      <vt:lpstr>Georgia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 Texts: Two Paths to Full Points</dc:title>
  <dc:subject>Writing Task Analysis</dc:subject>
  <dc:creator>EFL Teacher</dc:creator>
  <cp:lastModifiedBy>Orhan Vehabovic</cp:lastModifiedBy>
  <cp:revision>44</cp:revision>
  <dcterms:created xsi:type="dcterms:W3CDTF">2026-01-16T09:15:00Z</dcterms:created>
  <dcterms:modified xsi:type="dcterms:W3CDTF">2026-01-16T10:15:05Z</dcterms:modified>
</cp:coreProperties>
</file>