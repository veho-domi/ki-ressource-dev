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6" r:id="rId4"/>
    <p:sldId id="277" r:id="rId5"/>
    <p:sldId id="258" r:id="rId6"/>
    <p:sldId id="259" r:id="rId7"/>
    <p:sldId id="278" r:id="rId8"/>
    <p:sldId id="279" r:id="rId9"/>
    <p:sldId id="260" r:id="rId10"/>
    <p:sldId id="261" r:id="rId11"/>
    <p:sldId id="280" r:id="rId12"/>
    <p:sldId id="262" r:id="rId13"/>
    <p:sldId id="281" r:id="rId14"/>
    <p:sldId id="263" r:id="rId15"/>
    <p:sldId id="282" r:id="rId16"/>
    <p:sldId id="264" r:id="rId17"/>
    <p:sldId id="283" r:id="rId18"/>
    <p:sldId id="265" r:id="rId19"/>
    <p:sldId id="266" r:id="rId20"/>
    <p:sldId id="284" r:id="rId21"/>
    <p:sldId id="267" r:id="rId22"/>
    <p:sldId id="271" r:id="rId23"/>
    <p:sldId id="268" r:id="rId24"/>
    <p:sldId id="272" r:id="rId25"/>
    <p:sldId id="273" r:id="rId26"/>
    <p:sldId id="275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148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7B78-4C50-7BB5-6841-3421F7C02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B5AA9-2948-1ABD-9C86-52F949C6F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49509-46CB-00F5-3823-183644A0E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A14E-9245-EAE5-7F96-635AE6774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12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92F-CCC1-48E9-655D-6981714E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C248C-2F90-FE6A-9B60-0AB59D3AE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A4E33-94B8-AF61-704B-E48A6B127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A49C-C650-8FAA-F4DA-D1D7EE350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04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5C26-5504-D4F9-1068-5A55785E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8E8AB-D713-AD79-9CD3-D1234108A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D17CE-E02F-C6C8-FDC7-7FD5172C5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1251F-F878-6937-826F-57CFF9BE3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90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1535-6C16-B778-8D16-20211E17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6FC6B-9435-2EA3-5853-023B6E9BD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7A7E0-0CF0-084E-6302-C55B18D53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191B6-7E91-7621-0269-5A4142F0F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3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4B70-F7A0-BD41-ED9D-A8701531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EB674-220A-96A9-5B76-A94AC0925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343E5-457A-1C89-8459-E81484713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901F5-0291-29C2-ACDA-2C472CA11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84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C3FA-645A-98C6-EE22-98BDB5A6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68803-AF23-11A1-C114-18282FDD2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F5F10-9EFA-289B-D66C-B3892A3A2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DC82C-5B3D-8086-8572-BAE47EC0C6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41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8E7F-8385-5BE9-BC8C-85D17A9C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405CD-974D-8354-4525-FA79064C3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962FE-8A70-2B6D-08A8-0CE177797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66E2D-F57A-83AE-59DA-687C6DD7A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58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DC0E8-E911-4D28-FC01-F44DD00A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B12B3-93B4-BD0F-C3AA-3D58CB094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AE392-FE83-1720-BEBC-2F30D1B83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DD674-0EC5-7122-F5E2-5C056933D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30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257E-1CBA-C046-54DB-346D2037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30775-1F3A-5FDC-8499-E34136DC5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25968-50DF-8F3B-8CA3-ED088352D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DC076-66CA-6541-C76E-6FBC3A516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46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1890" y="1676400"/>
            <a:ext cx="536007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Writing Mistakes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891890" y="2247900"/>
            <a:ext cx="53600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351" y="2872680"/>
            <a:ext cx="1143000" cy="3810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91890" y="3215580"/>
            <a:ext cx="53600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our errors together 🧐🤝 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383" y="533400"/>
            <a:ext cx="78986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Run-on Sentences &amp; Comma Splices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87383" y="888727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clauses joined incorrectly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87383" y="1245840"/>
            <a:ext cx="4191000" cy="57328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06433" y="1245840"/>
            <a:ext cx="0" cy="57328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/>
          <p:cNvSpPr/>
          <p:nvPr/>
        </p:nvSpPr>
        <p:spPr>
          <a:xfrm>
            <a:off x="439783" y="1360140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9783" y="153159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asked for an autograph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said no problem."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30783" y="1245840"/>
            <a:ext cx="4191000" cy="57328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87383" y="1952476"/>
            <a:ext cx="4191000" cy="7447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06433" y="1952476"/>
            <a:ext cx="0" cy="7447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4" name="Text 12"/>
          <p:cNvSpPr/>
          <p:nvPr/>
        </p:nvSpPr>
        <p:spPr>
          <a:xfrm>
            <a:off x="439783" y="206677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9783" y="223822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”But now it is getting crazy they helped us play."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783" y="2449562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(missing connection)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0783" y="1952476"/>
            <a:ext cx="4191000" cy="7447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649833" y="1952476"/>
            <a:ext cx="0" cy="7447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0398-00EB-E7D9-7EE6-D113FD48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C2A3B5-1657-1766-F979-953E6ED3B130}"/>
              </a:ext>
            </a:extLst>
          </p:cNvPr>
          <p:cNvSpPr/>
          <p:nvPr/>
        </p:nvSpPr>
        <p:spPr>
          <a:xfrm>
            <a:off x="287383" y="533400"/>
            <a:ext cx="78986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Run-on Sentences &amp; Comma Splices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D46667-7C61-52D4-AE88-11181D17D628}"/>
              </a:ext>
            </a:extLst>
          </p:cNvPr>
          <p:cNvSpPr/>
          <p:nvPr/>
        </p:nvSpPr>
        <p:spPr>
          <a:xfrm>
            <a:off x="287383" y="888727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clauses joined incorrectly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54DA68-60AE-89E6-70EE-1D81CE619017}"/>
              </a:ext>
            </a:extLst>
          </p:cNvPr>
          <p:cNvSpPr/>
          <p:nvPr/>
        </p:nvSpPr>
        <p:spPr>
          <a:xfrm>
            <a:off x="287383" y="1245840"/>
            <a:ext cx="4191000" cy="57328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0C556C0-695B-ECD8-5EF5-B3C3919A05C9}"/>
              </a:ext>
            </a:extLst>
          </p:cNvPr>
          <p:cNvSpPr/>
          <p:nvPr/>
        </p:nvSpPr>
        <p:spPr>
          <a:xfrm>
            <a:off x="306433" y="1245840"/>
            <a:ext cx="0" cy="57328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D71E10-40CA-4D01-BF94-DD293C3B24CD}"/>
              </a:ext>
            </a:extLst>
          </p:cNvPr>
          <p:cNvSpPr/>
          <p:nvPr/>
        </p:nvSpPr>
        <p:spPr>
          <a:xfrm>
            <a:off x="439783" y="1360140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D96CAF-D5AB-BDDA-8547-109602453C1A}"/>
              </a:ext>
            </a:extLst>
          </p:cNvPr>
          <p:cNvSpPr/>
          <p:nvPr/>
        </p:nvSpPr>
        <p:spPr>
          <a:xfrm>
            <a:off x="439783" y="153159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asked for an autograph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said no problem."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83C407-BB03-6696-A79E-06EC19239D56}"/>
              </a:ext>
            </a:extLst>
          </p:cNvPr>
          <p:cNvSpPr/>
          <p:nvPr/>
        </p:nvSpPr>
        <p:spPr>
          <a:xfrm>
            <a:off x="4630783" y="1245840"/>
            <a:ext cx="4191000" cy="57328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9572A2-8784-A99B-BC57-8A82ED5BA848}"/>
              </a:ext>
            </a:extLst>
          </p:cNvPr>
          <p:cNvSpPr/>
          <p:nvPr/>
        </p:nvSpPr>
        <p:spPr>
          <a:xfrm>
            <a:off x="4649833" y="1245840"/>
            <a:ext cx="0" cy="57328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94110A-BF09-A866-D29E-010A5260B23F}"/>
              </a:ext>
            </a:extLst>
          </p:cNvPr>
          <p:cNvSpPr/>
          <p:nvPr/>
        </p:nvSpPr>
        <p:spPr>
          <a:xfrm>
            <a:off x="4783183" y="1360140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58F3FE2-5ED9-2726-8C7E-74D8EB5A7BC7}"/>
              </a:ext>
            </a:extLst>
          </p:cNvPr>
          <p:cNvSpPr/>
          <p:nvPr/>
        </p:nvSpPr>
        <p:spPr>
          <a:xfrm>
            <a:off x="4783183" y="1531590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asked for an autograph</a:t>
            </a: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said no problem."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A37843-06A7-C4EE-593B-15F5F7A62B42}"/>
              </a:ext>
            </a:extLst>
          </p:cNvPr>
          <p:cNvSpPr/>
          <p:nvPr/>
        </p:nvSpPr>
        <p:spPr>
          <a:xfrm>
            <a:off x="287383" y="1952476"/>
            <a:ext cx="4191000" cy="7447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588955-F50F-F1E5-8F59-3EC47678F8C3}"/>
              </a:ext>
            </a:extLst>
          </p:cNvPr>
          <p:cNvSpPr/>
          <p:nvPr/>
        </p:nvSpPr>
        <p:spPr>
          <a:xfrm>
            <a:off x="306433" y="1952476"/>
            <a:ext cx="0" cy="7447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FAE3A6-6F40-3EF8-FD85-D7E4B9E1370F}"/>
              </a:ext>
            </a:extLst>
          </p:cNvPr>
          <p:cNvSpPr/>
          <p:nvPr/>
        </p:nvSpPr>
        <p:spPr>
          <a:xfrm>
            <a:off x="439783" y="206677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EA611B4-53FB-46BF-8ACB-6C5EB50D64DA}"/>
              </a:ext>
            </a:extLst>
          </p:cNvPr>
          <p:cNvSpPr/>
          <p:nvPr/>
        </p:nvSpPr>
        <p:spPr>
          <a:xfrm>
            <a:off x="439783" y="223822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”But now it is getting crazy they helped us play."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32FA952-6AE3-06C0-1DC6-50ACE8EDE762}"/>
              </a:ext>
            </a:extLst>
          </p:cNvPr>
          <p:cNvSpPr/>
          <p:nvPr/>
        </p:nvSpPr>
        <p:spPr>
          <a:xfrm>
            <a:off x="439783" y="2449562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(missing connection)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61ED947-24C5-509B-95EF-E4BF6B9CEA70}"/>
              </a:ext>
            </a:extLst>
          </p:cNvPr>
          <p:cNvSpPr/>
          <p:nvPr/>
        </p:nvSpPr>
        <p:spPr>
          <a:xfrm>
            <a:off x="4630783" y="1952476"/>
            <a:ext cx="4191000" cy="7447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47410E1-D420-9F95-8ED6-92D72CDEA742}"/>
              </a:ext>
            </a:extLst>
          </p:cNvPr>
          <p:cNvSpPr/>
          <p:nvPr/>
        </p:nvSpPr>
        <p:spPr>
          <a:xfrm>
            <a:off x="4649833" y="1952476"/>
            <a:ext cx="0" cy="7447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45FAD2-833C-843C-552B-44D7F3C0E134}"/>
              </a:ext>
            </a:extLst>
          </p:cNvPr>
          <p:cNvSpPr/>
          <p:nvPr/>
        </p:nvSpPr>
        <p:spPr>
          <a:xfrm>
            <a:off x="4783183" y="2066776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F447D98-AB32-F198-45EC-EC0A462BB806}"/>
              </a:ext>
            </a:extLst>
          </p:cNvPr>
          <p:cNvSpPr/>
          <p:nvPr/>
        </p:nvSpPr>
        <p:spPr>
          <a:xfrm>
            <a:off x="4783183" y="2238226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”But now it is getting crazy</a:t>
            </a: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helped us play."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8E96337-2454-ED59-20A5-C350DA2D0B76}"/>
              </a:ext>
            </a:extLst>
          </p:cNvPr>
          <p:cNvSpPr/>
          <p:nvPr/>
        </p:nvSpPr>
        <p:spPr>
          <a:xfrm>
            <a:off x="287383" y="2830562"/>
            <a:ext cx="8534400" cy="954762"/>
          </a:xfrm>
          <a:prstGeom prst="roundRect">
            <a:avLst>
              <a:gd name="adj" fmla="val 1020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3F74E0F-8B75-2903-FE47-C623DAD932D4}"/>
              </a:ext>
            </a:extLst>
          </p:cNvPr>
          <p:cNvSpPr/>
          <p:nvPr/>
        </p:nvSpPr>
        <p:spPr>
          <a:xfrm>
            <a:off x="401683" y="2944862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Solutions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987071-A50E-206F-0692-930E7D848443}"/>
              </a:ext>
            </a:extLst>
          </p:cNvPr>
          <p:cNvSpPr/>
          <p:nvPr/>
        </p:nvSpPr>
        <p:spPr>
          <a:xfrm>
            <a:off x="401683" y="3129558"/>
            <a:ext cx="8471916" cy="9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AutoNum type="arabicPeriod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coordinating conjunction (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but, so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</a:p>
          <a:p>
            <a:pPr marL="228600" indent="-228600" algn="l">
              <a:buAutoNum type="arabicPeriod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semicolon (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or use a colon (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when explaining </a:t>
            </a:r>
          </a:p>
          <a:p>
            <a:pPr marL="228600" indent="-228600" algn="l">
              <a:buAutoNum type="arabicPeriod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two separate sentences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071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33DA-82A7-9772-76DB-359BC10B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F6E27E-2A2A-AEF3-66F5-B1722E0DA7C1}"/>
              </a:ext>
            </a:extLst>
          </p:cNvPr>
          <p:cNvSpPr/>
          <p:nvPr/>
        </p:nvSpPr>
        <p:spPr>
          <a:xfrm>
            <a:off x="374468" y="672737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Pronouns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1E7AAB-1657-2C48-7E19-3D296216893F}"/>
              </a:ext>
            </a:extLst>
          </p:cNvPr>
          <p:cNvSpPr/>
          <p:nvPr/>
        </p:nvSpPr>
        <p:spPr>
          <a:xfrm>
            <a:off x="374468" y="958487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clauses with who, which, that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24BC43-035E-098C-FD49-A5457F862C3A}"/>
              </a:ext>
            </a:extLst>
          </p:cNvPr>
          <p:cNvSpPr/>
          <p:nvPr/>
        </p:nvSpPr>
        <p:spPr>
          <a:xfrm>
            <a:off x="374468" y="1385177"/>
            <a:ext cx="4191000" cy="57328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E20AA1-FFA0-BCD1-0D3F-A67474838D97}"/>
              </a:ext>
            </a:extLst>
          </p:cNvPr>
          <p:cNvSpPr/>
          <p:nvPr/>
        </p:nvSpPr>
        <p:spPr>
          <a:xfrm>
            <a:off x="526868" y="149947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MISSING PRONOUN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227319-FDC4-4F39-0810-64C3EA1936F0}"/>
              </a:ext>
            </a:extLst>
          </p:cNvPr>
          <p:cNvSpPr/>
          <p:nvPr/>
        </p:nvSpPr>
        <p:spPr>
          <a:xfrm>
            <a:off x="526868" y="1670927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is a weak player </a:t>
            </a: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had one Grand Slam."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80B57A-C16C-39D5-E41E-5645E8633A09}"/>
              </a:ext>
            </a:extLst>
          </p:cNvPr>
          <p:cNvSpPr/>
          <p:nvPr/>
        </p:nvSpPr>
        <p:spPr>
          <a:xfrm>
            <a:off x="4717868" y="1385177"/>
            <a:ext cx="4191000" cy="57328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8518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68" y="672737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Pronouns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74468" y="958487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clauses with who, which, that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74468" y="1385177"/>
            <a:ext cx="4191000" cy="57328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93518" y="1385177"/>
            <a:ext cx="0" cy="57328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/>
          <p:cNvSpPr/>
          <p:nvPr/>
        </p:nvSpPr>
        <p:spPr>
          <a:xfrm>
            <a:off x="526868" y="149947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MISSING PRONOUN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6868" y="1670927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is a weak player </a:t>
            </a: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had one Grand Slam."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17868" y="1385177"/>
            <a:ext cx="4191000" cy="57328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36918" y="1385177"/>
            <a:ext cx="0" cy="57328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0" name="Text 8"/>
          <p:cNvSpPr/>
          <p:nvPr/>
        </p:nvSpPr>
        <p:spPr>
          <a:xfrm>
            <a:off x="4825310" y="1441434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5310" y="1612884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is a weak player </a:t>
            </a: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had one Grand Slam."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468" y="2091813"/>
            <a:ext cx="8534400" cy="847576"/>
          </a:xfrm>
          <a:prstGeom prst="roundRect">
            <a:avLst>
              <a:gd name="adj" fmla="val 674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7818" y="2225163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pronoun: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818" y="2461353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for people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818" y="2659444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student </a:t>
            </a: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arrives..."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7218" y="2461353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for things/animals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27218" y="2659444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school </a:t>
            </a: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famous for..."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6618" y="2461353"/>
            <a:ext cx="2681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people or things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6618" y="2659444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experience </a:t>
            </a: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changed..."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468" y="629194"/>
            <a:ext cx="77245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 Problems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74468" y="974029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preposition mistakes from German interference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469" y="1341634"/>
            <a:ext cx="4210050" cy="731490"/>
          </a:xfrm>
          <a:prstGeom prst="roundRect">
            <a:avLst>
              <a:gd name="adj" fmla="val 7813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8769" y="145593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8769" y="162738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internet"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8769" y="182547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(German: im Internet)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819" y="1341634"/>
            <a:ext cx="4210050" cy="731490"/>
          </a:xfrm>
          <a:prstGeom prst="roundRect">
            <a:avLst>
              <a:gd name="adj" fmla="val 7813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4469" y="2206474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8769" y="232077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8769" y="249222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"talk 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8819" y="2206474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74469" y="2899865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88769" y="3014165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769" y="318561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"understanding 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sports"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98819" y="2899865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04808-1F0F-DD93-15C6-987B7F14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66329B-6FD7-94C8-6093-01A30C65191C}"/>
              </a:ext>
            </a:extLst>
          </p:cNvPr>
          <p:cNvSpPr/>
          <p:nvPr/>
        </p:nvSpPr>
        <p:spPr>
          <a:xfrm>
            <a:off x="374468" y="629194"/>
            <a:ext cx="77245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 Problems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D8028B-ED31-05D3-D565-F38CDBA71EA6}"/>
              </a:ext>
            </a:extLst>
          </p:cNvPr>
          <p:cNvSpPr/>
          <p:nvPr/>
        </p:nvSpPr>
        <p:spPr>
          <a:xfrm>
            <a:off x="374468" y="974029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preposition mistakes from German interference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EAEBF7-DE68-6D39-FB2F-76D00915A977}"/>
              </a:ext>
            </a:extLst>
          </p:cNvPr>
          <p:cNvSpPr/>
          <p:nvPr/>
        </p:nvSpPr>
        <p:spPr>
          <a:xfrm>
            <a:off x="374469" y="1341634"/>
            <a:ext cx="4210050" cy="731490"/>
          </a:xfrm>
          <a:prstGeom prst="roundRect">
            <a:avLst>
              <a:gd name="adj" fmla="val 7813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13325A-07D3-90E5-858B-5D007F0782FA}"/>
              </a:ext>
            </a:extLst>
          </p:cNvPr>
          <p:cNvSpPr/>
          <p:nvPr/>
        </p:nvSpPr>
        <p:spPr>
          <a:xfrm>
            <a:off x="488769" y="145593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0DF5A9-85D0-506A-4E80-D8B379A08C1E}"/>
              </a:ext>
            </a:extLst>
          </p:cNvPr>
          <p:cNvSpPr/>
          <p:nvPr/>
        </p:nvSpPr>
        <p:spPr>
          <a:xfrm>
            <a:off x="488769" y="162738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internet"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E265D3-86D9-E549-2206-93C59CDF7A74}"/>
              </a:ext>
            </a:extLst>
          </p:cNvPr>
          <p:cNvSpPr/>
          <p:nvPr/>
        </p:nvSpPr>
        <p:spPr>
          <a:xfrm>
            <a:off x="488769" y="182547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(German: im Internet)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AC3D3A-C722-2A2A-4F41-DEED4493E9FF}"/>
              </a:ext>
            </a:extLst>
          </p:cNvPr>
          <p:cNvSpPr/>
          <p:nvPr/>
        </p:nvSpPr>
        <p:spPr>
          <a:xfrm>
            <a:off x="4698819" y="1341634"/>
            <a:ext cx="4210050" cy="731490"/>
          </a:xfrm>
          <a:prstGeom prst="roundRect">
            <a:avLst>
              <a:gd name="adj" fmla="val 7813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CD2485-9CF7-E1AC-A587-5080FC9FAE23}"/>
              </a:ext>
            </a:extLst>
          </p:cNvPr>
          <p:cNvSpPr/>
          <p:nvPr/>
        </p:nvSpPr>
        <p:spPr>
          <a:xfrm>
            <a:off x="4813119" y="145593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855C1D-14D3-BDD7-7CB1-914A011EA398}"/>
              </a:ext>
            </a:extLst>
          </p:cNvPr>
          <p:cNvSpPr/>
          <p:nvPr/>
        </p:nvSpPr>
        <p:spPr>
          <a:xfrm>
            <a:off x="4813119" y="162738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internet"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160C2C5-E41E-C2E6-60CA-B1DB6C0B57A1}"/>
              </a:ext>
            </a:extLst>
          </p:cNvPr>
          <p:cNvSpPr/>
          <p:nvPr/>
        </p:nvSpPr>
        <p:spPr>
          <a:xfrm>
            <a:off x="374469" y="2206474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1E073A0-CBD3-E038-02E8-58DF2DAB6CFB}"/>
              </a:ext>
            </a:extLst>
          </p:cNvPr>
          <p:cNvSpPr/>
          <p:nvPr/>
        </p:nvSpPr>
        <p:spPr>
          <a:xfrm>
            <a:off x="488769" y="232077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F0C93D-F97F-6D9E-04B0-BB851D573ACF}"/>
              </a:ext>
            </a:extLst>
          </p:cNvPr>
          <p:cNvSpPr/>
          <p:nvPr/>
        </p:nvSpPr>
        <p:spPr>
          <a:xfrm>
            <a:off x="488769" y="249222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"talk 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you"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7B3B68-56E6-6A7F-B5BE-4B030CC65398}"/>
              </a:ext>
            </a:extLst>
          </p:cNvPr>
          <p:cNvSpPr/>
          <p:nvPr/>
        </p:nvSpPr>
        <p:spPr>
          <a:xfrm>
            <a:off x="4698819" y="2206474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18C7B0-ECFA-38B6-44CF-1DAE4AAB30C3}"/>
              </a:ext>
            </a:extLst>
          </p:cNvPr>
          <p:cNvSpPr/>
          <p:nvPr/>
        </p:nvSpPr>
        <p:spPr>
          <a:xfrm>
            <a:off x="4813119" y="232077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395624-AF6D-21AE-F0B4-DE80D5B5E39E}"/>
              </a:ext>
            </a:extLst>
          </p:cNvPr>
          <p:cNvSpPr/>
          <p:nvPr/>
        </p:nvSpPr>
        <p:spPr>
          <a:xfrm>
            <a:off x="4813119" y="2492224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"talk </a:t>
            </a:r>
            <a:r>
              <a:rPr lang="en-US" sz="1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about..."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DFEC392-313C-EBAC-5D7B-9A2D15D57A19}"/>
              </a:ext>
            </a:extLst>
          </p:cNvPr>
          <p:cNvSpPr/>
          <p:nvPr/>
        </p:nvSpPr>
        <p:spPr>
          <a:xfrm>
            <a:off x="374469" y="2899865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604CACA-4BB6-6D63-2046-4379E1DFA974}"/>
              </a:ext>
            </a:extLst>
          </p:cNvPr>
          <p:cNvSpPr/>
          <p:nvPr/>
        </p:nvSpPr>
        <p:spPr>
          <a:xfrm>
            <a:off x="488769" y="3014165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3FD3EF-914A-2764-7918-40B73B88A0B8}"/>
              </a:ext>
            </a:extLst>
          </p:cNvPr>
          <p:cNvSpPr/>
          <p:nvPr/>
        </p:nvSpPr>
        <p:spPr>
          <a:xfrm>
            <a:off x="488769" y="318561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"understanding </a:t>
            </a:r>
            <a:r>
              <a:rPr lang="en-US" sz="1600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sports"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45F7D9-C3DB-D972-D835-B6CAA4AC35E8}"/>
              </a:ext>
            </a:extLst>
          </p:cNvPr>
          <p:cNvSpPr/>
          <p:nvPr/>
        </p:nvSpPr>
        <p:spPr>
          <a:xfrm>
            <a:off x="4698819" y="2899865"/>
            <a:ext cx="4210050" cy="560040"/>
          </a:xfrm>
          <a:prstGeom prst="roundRect">
            <a:avLst>
              <a:gd name="adj" fmla="val 10205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8DE8DDB-1DFC-3AE5-51C7-47E47903E35D}"/>
              </a:ext>
            </a:extLst>
          </p:cNvPr>
          <p:cNvSpPr/>
          <p:nvPr/>
        </p:nvSpPr>
        <p:spPr>
          <a:xfrm>
            <a:off x="4813119" y="3014165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58EA6CD-CCC4-850F-B9E9-0439F0ACAF51}"/>
              </a:ext>
            </a:extLst>
          </p:cNvPr>
          <p:cNvSpPr/>
          <p:nvPr/>
        </p:nvSpPr>
        <p:spPr>
          <a:xfrm>
            <a:off x="4813119" y="3185615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"understanding </a:t>
            </a:r>
            <a:r>
              <a:rPr lang="en-US" sz="1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sports"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D2E4F45-68DF-BC21-D870-3B516A3D76CE}"/>
              </a:ext>
            </a:extLst>
          </p:cNvPr>
          <p:cNvSpPr/>
          <p:nvPr/>
        </p:nvSpPr>
        <p:spPr>
          <a:xfrm>
            <a:off x="374469" y="3593255"/>
            <a:ext cx="8534400" cy="375196"/>
          </a:xfrm>
          <a:prstGeom prst="roundRect">
            <a:avLst>
              <a:gd name="adj" fmla="val 1523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8A7E33-1292-8DD5-8DDE-5FCF4F9B856C}"/>
              </a:ext>
            </a:extLst>
          </p:cNvPr>
          <p:cNvSpPr/>
          <p:nvPr/>
        </p:nvSpPr>
        <p:spPr>
          <a:xfrm>
            <a:off x="488769" y="3707555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Each preposition has specific collocations.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089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51D3-52BC-79D4-FF97-32AC6A01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D8E8B6-1ED6-A9FA-8271-99F53EE51D62}"/>
              </a:ext>
            </a:extLst>
          </p:cNvPr>
          <p:cNvSpPr/>
          <p:nvPr/>
        </p:nvSpPr>
        <p:spPr>
          <a:xfrm>
            <a:off x="322216" y="576943"/>
            <a:ext cx="8116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Continuous in Emails / Letters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24AB47-1062-6E68-AC03-DD55B6AA74F1}"/>
              </a:ext>
            </a:extLst>
          </p:cNvPr>
          <p:cNvSpPr/>
          <p:nvPr/>
        </p:nvSpPr>
        <p:spPr>
          <a:xfrm>
            <a:off x="322217" y="1289383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37D8BB-E40B-0022-9C0F-6020DD7E43EE}"/>
              </a:ext>
            </a:extLst>
          </p:cNvPr>
          <p:cNvSpPr/>
          <p:nvPr/>
        </p:nvSpPr>
        <p:spPr>
          <a:xfrm>
            <a:off x="341267" y="1289383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CC2053-32EF-6873-6353-2A1BCC97046B}"/>
              </a:ext>
            </a:extLst>
          </p:cNvPr>
          <p:cNvSpPr/>
          <p:nvPr/>
        </p:nvSpPr>
        <p:spPr>
          <a:xfrm>
            <a:off x="493667" y="14227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 (German logic)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B07C9F-C18D-F13C-8593-7A85B857926B}"/>
              </a:ext>
            </a:extLst>
          </p:cNvPr>
          <p:cNvSpPr/>
          <p:nvPr/>
        </p:nvSpPr>
        <p:spPr>
          <a:xfrm>
            <a:off x="493667" y="16132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because..."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87BB85-3683-4C75-99CA-EBAC23DEBCBC}"/>
              </a:ext>
            </a:extLst>
          </p:cNvPr>
          <p:cNvSpPr/>
          <p:nvPr/>
        </p:nvSpPr>
        <p:spPr>
          <a:xfrm>
            <a:off x="493667" y="18436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German: "Ich schreibe dir..."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03F2C0-7B1A-77A6-07DD-64F06CB24C53}"/>
              </a:ext>
            </a:extLst>
          </p:cNvPr>
          <p:cNvSpPr/>
          <p:nvPr/>
        </p:nvSpPr>
        <p:spPr>
          <a:xfrm>
            <a:off x="4665617" y="1289383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23DA986-CEBA-6FE9-34F4-98F1457001FD}"/>
              </a:ext>
            </a:extLst>
          </p:cNvPr>
          <p:cNvSpPr/>
          <p:nvPr/>
        </p:nvSpPr>
        <p:spPr>
          <a:xfrm>
            <a:off x="4684667" y="1289383"/>
            <a:ext cx="0" cy="8209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B8176E2-D934-E7F1-7432-0F9353F58BA6}"/>
              </a:ext>
            </a:extLst>
          </p:cNvPr>
          <p:cNvSpPr/>
          <p:nvPr/>
        </p:nvSpPr>
        <p:spPr>
          <a:xfrm>
            <a:off x="322217" y="2262719"/>
            <a:ext cx="8534400" cy="817215"/>
          </a:xfrm>
          <a:prstGeom prst="roundRect">
            <a:avLst>
              <a:gd name="adj" fmla="val 69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17C61F-8196-A5C0-1357-D70137971292}"/>
              </a:ext>
            </a:extLst>
          </p:cNvPr>
          <p:cNvSpPr/>
          <p:nvPr/>
        </p:nvSpPr>
        <p:spPr>
          <a:xfrm>
            <a:off x="322217" y="3213284"/>
            <a:ext cx="8534400" cy="1532887"/>
          </a:xfrm>
          <a:prstGeom prst="roundRect">
            <a:avLst>
              <a:gd name="adj" fmla="val 1020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4983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216" y="576943"/>
            <a:ext cx="81163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Continuous in Emails / Letters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2217" y="1289383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1267" y="1289383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/>
          <p:cNvSpPr/>
          <p:nvPr/>
        </p:nvSpPr>
        <p:spPr>
          <a:xfrm>
            <a:off x="493667" y="14227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 (German logic)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667" y="16132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because..."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667" y="18436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German: "Ich schreibe dir..."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5617" y="1289383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684667" y="1289383"/>
            <a:ext cx="0" cy="8209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1" name="Text 9"/>
          <p:cNvSpPr/>
          <p:nvPr/>
        </p:nvSpPr>
        <p:spPr>
          <a:xfrm>
            <a:off x="4837067" y="14227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(English logic)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37067" y="16132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</a:t>
            </a: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 writing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you because..."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067" y="18436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happening right now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217" y="2262719"/>
            <a:ext cx="8534400" cy="817215"/>
          </a:xfrm>
          <a:prstGeom prst="roundRect">
            <a:avLst>
              <a:gd name="adj" fmla="val 699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5567" y="2396069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present continuous?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567" y="2632259"/>
            <a:ext cx="84330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English, when you write a letter or email, you use present continuous to describe what you're doing </a:t>
            </a: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moment of writing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German uses simple present for the same situation.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2217" y="3213284"/>
            <a:ext cx="8534400" cy="1532887"/>
          </a:xfrm>
          <a:prstGeom prst="roundRect">
            <a:avLst>
              <a:gd name="adj" fmla="val 1020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6517" y="3327584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good phrases in your emails that use the present continuous: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6517" y="3512280"/>
            <a:ext cx="8471916" cy="115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"I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 writing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inquire about..."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"I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 contacting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regarding..." 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"We</a:t>
            </a: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looking forward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hearing from you"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9" y="360930"/>
            <a:ext cx="71236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 after "look forward to"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4799" y="81076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preposition, not an infinitive marker!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1332926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3850" y="1332926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6" name="Text 4"/>
          <p:cNvSpPr/>
          <p:nvPr/>
        </p:nvSpPr>
        <p:spPr>
          <a:xfrm>
            <a:off x="476250" y="14662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165677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look forward to </a:t>
            </a: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250" y="188716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"to" as infinitive marker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8200" y="1332926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83E2-BC14-BFF1-4F87-F041A049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6EFA12-1A8B-8040-3179-9AD6CE0F742E}"/>
              </a:ext>
            </a:extLst>
          </p:cNvPr>
          <p:cNvSpPr/>
          <p:nvPr/>
        </p:nvSpPr>
        <p:spPr>
          <a:xfrm>
            <a:off x="304799" y="360930"/>
            <a:ext cx="712361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Gerund after "look forward to"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B9E16C-ECA6-A478-0F72-7E147218FB71}"/>
              </a:ext>
            </a:extLst>
          </p:cNvPr>
          <p:cNvSpPr/>
          <p:nvPr/>
        </p:nvSpPr>
        <p:spPr>
          <a:xfrm>
            <a:off x="304799" y="81076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preposition, not an infinitive marker!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94EE4F-B229-C8C8-D78A-DF71FC277369}"/>
              </a:ext>
            </a:extLst>
          </p:cNvPr>
          <p:cNvSpPr/>
          <p:nvPr/>
        </p:nvSpPr>
        <p:spPr>
          <a:xfrm>
            <a:off x="304800" y="1332926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14D4312-1006-CC6E-C990-4434E6E60689}"/>
              </a:ext>
            </a:extLst>
          </p:cNvPr>
          <p:cNvSpPr/>
          <p:nvPr/>
        </p:nvSpPr>
        <p:spPr>
          <a:xfrm>
            <a:off x="323850" y="1332926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D212AC-DFDB-178E-DBB6-602368652BFE}"/>
              </a:ext>
            </a:extLst>
          </p:cNvPr>
          <p:cNvSpPr/>
          <p:nvPr/>
        </p:nvSpPr>
        <p:spPr>
          <a:xfrm>
            <a:off x="476250" y="14662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A79C23-F489-0BDA-6B77-1950241A4973}"/>
              </a:ext>
            </a:extLst>
          </p:cNvPr>
          <p:cNvSpPr/>
          <p:nvPr/>
        </p:nvSpPr>
        <p:spPr>
          <a:xfrm>
            <a:off x="476250" y="165677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look forward to </a:t>
            </a: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you."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7F6C70-6125-0C0D-C743-6AD51F92A5AB}"/>
              </a:ext>
            </a:extLst>
          </p:cNvPr>
          <p:cNvSpPr/>
          <p:nvPr/>
        </p:nvSpPr>
        <p:spPr>
          <a:xfrm>
            <a:off x="476250" y="188716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"to" as infinitive marker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C59D56-6688-9BD5-0A04-57D0948FF1B6}"/>
              </a:ext>
            </a:extLst>
          </p:cNvPr>
          <p:cNvSpPr/>
          <p:nvPr/>
        </p:nvSpPr>
        <p:spPr>
          <a:xfrm>
            <a:off x="4648200" y="1332926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1CFA8B2-85DA-AAFD-EAC6-23CAB4A13932}"/>
              </a:ext>
            </a:extLst>
          </p:cNvPr>
          <p:cNvSpPr/>
          <p:nvPr/>
        </p:nvSpPr>
        <p:spPr>
          <a:xfrm>
            <a:off x="4667250" y="1332926"/>
            <a:ext cx="0" cy="8209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D78478-5CD7-5444-62EC-B56F76BEF2F3}"/>
              </a:ext>
            </a:extLst>
          </p:cNvPr>
          <p:cNvSpPr/>
          <p:nvPr/>
        </p:nvSpPr>
        <p:spPr>
          <a:xfrm>
            <a:off x="4819650" y="14662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B4449E-AC74-88E4-667A-CAD718319A53}"/>
              </a:ext>
            </a:extLst>
          </p:cNvPr>
          <p:cNvSpPr/>
          <p:nvPr/>
        </p:nvSpPr>
        <p:spPr>
          <a:xfrm>
            <a:off x="4819650" y="1656776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look forward to </a:t>
            </a: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you."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A988FD-43A0-2305-C7CC-913A9417FBC5}"/>
              </a:ext>
            </a:extLst>
          </p:cNvPr>
          <p:cNvSpPr/>
          <p:nvPr/>
        </p:nvSpPr>
        <p:spPr>
          <a:xfrm>
            <a:off x="4819650" y="188716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 + gerund (-ing)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404530-8CF5-C22B-BC0A-52D05CDA3E77}"/>
              </a:ext>
            </a:extLst>
          </p:cNvPr>
          <p:cNvSpPr/>
          <p:nvPr/>
        </p:nvSpPr>
        <p:spPr>
          <a:xfrm>
            <a:off x="304800" y="2306262"/>
            <a:ext cx="8534400" cy="641003"/>
          </a:xfrm>
          <a:prstGeom prst="roundRect">
            <a:avLst>
              <a:gd name="adj" fmla="val 89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186D5DB-24B4-CE92-2FC8-61D56ACC1174}"/>
              </a:ext>
            </a:extLst>
          </p:cNvPr>
          <p:cNvSpPr/>
          <p:nvPr/>
        </p:nvSpPr>
        <p:spPr>
          <a:xfrm>
            <a:off x="438531" y="2483516"/>
            <a:ext cx="8433054" cy="34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"look forward 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", the word 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part of an infinitive. After these prepositions, we always use a gerund (verb + -ing).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7D1A47-31A6-B90C-C240-2328BED40D78}"/>
              </a:ext>
            </a:extLst>
          </p:cNvPr>
          <p:cNvSpPr/>
          <p:nvPr/>
        </p:nvSpPr>
        <p:spPr>
          <a:xfrm>
            <a:off x="304800" y="3080615"/>
            <a:ext cx="8534400" cy="1900688"/>
          </a:xfrm>
          <a:prstGeom prst="roundRect">
            <a:avLst>
              <a:gd name="adj" fmla="val 1020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215125-40D6-0B91-8809-3BBB886DF930}"/>
              </a:ext>
            </a:extLst>
          </p:cNvPr>
          <p:cNvSpPr/>
          <p:nvPr/>
        </p:nvSpPr>
        <p:spPr>
          <a:xfrm>
            <a:off x="431292" y="3342775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expressions with "to" + gerund: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800F8A-5F20-325A-3210-4796E3B8DC22}"/>
              </a:ext>
            </a:extLst>
          </p:cNvPr>
          <p:cNvSpPr/>
          <p:nvPr/>
        </p:nvSpPr>
        <p:spPr>
          <a:xfrm>
            <a:off x="431292" y="3527470"/>
            <a:ext cx="8471916" cy="1444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”He is used 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doing 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his own way"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”They are committed 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helping 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people"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”She objected 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working 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hours"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”He is devoted 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teaching</a:t>
            </a: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8175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217" y="446314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vs Many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2217" y="732064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Countable and uncountable nouns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2217" y="1158754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1267" y="1158754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/>
          <p:cNvSpPr/>
          <p:nvPr/>
        </p:nvSpPr>
        <p:spPr>
          <a:xfrm>
            <a:off x="493667" y="129210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667" y="148260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667" y="171299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"matches" is countable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5617" y="1158754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61D6-8FC7-F8C2-E07A-C41DDFE0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34D509-7E2D-77F7-D048-0B7BCBBB8330}"/>
              </a:ext>
            </a:extLst>
          </p:cNvPr>
          <p:cNvSpPr/>
          <p:nvPr/>
        </p:nvSpPr>
        <p:spPr>
          <a:xfrm>
            <a:off x="322217" y="446314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vs Many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4FFAFF-695F-F7D3-F1A5-FCC6A93550DE}"/>
              </a:ext>
            </a:extLst>
          </p:cNvPr>
          <p:cNvSpPr/>
          <p:nvPr/>
        </p:nvSpPr>
        <p:spPr>
          <a:xfrm>
            <a:off x="322217" y="732064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Countable and uncountable nouns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D133F1-9970-06CD-20FB-C10A7CDBBEAF}"/>
              </a:ext>
            </a:extLst>
          </p:cNvPr>
          <p:cNvSpPr/>
          <p:nvPr/>
        </p:nvSpPr>
        <p:spPr>
          <a:xfrm>
            <a:off x="322217" y="1158754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1E4A65C-2B78-6F2C-9EA4-D2BE1DCC5F4D}"/>
              </a:ext>
            </a:extLst>
          </p:cNvPr>
          <p:cNvSpPr/>
          <p:nvPr/>
        </p:nvSpPr>
        <p:spPr>
          <a:xfrm>
            <a:off x="341267" y="1158754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F48613-0EC7-08F8-C4F3-4C1F4B0527DC}"/>
              </a:ext>
            </a:extLst>
          </p:cNvPr>
          <p:cNvSpPr/>
          <p:nvPr/>
        </p:nvSpPr>
        <p:spPr>
          <a:xfrm>
            <a:off x="493667" y="129210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43495E-ACA2-FC6B-9C0E-2B2E0BEE2628}"/>
              </a:ext>
            </a:extLst>
          </p:cNvPr>
          <p:cNvSpPr/>
          <p:nvPr/>
        </p:nvSpPr>
        <p:spPr>
          <a:xfrm>
            <a:off x="493667" y="148260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matches"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8E314F-77E1-FCE6-4B91-856C73933C41}"/>
              </a:ext>
            </a:extLst>
          </p:cNvPr>
          <p:cNvSpPr/>
          <p:nvPr/>
        </p:nvSpPr>
        <p:spPr>
          <a:xfrm>
            <a:off x="493667" y="171299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"matches" is countable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2016F4-AD88-898D-E841-7C5053925381}"/>
              </a:ext>
            </a:extLst>
          </p:cNvPr>
          <p:cNvSpPr/>
          <p:nvPr/>
        </p:nvSpPr>
        <p:spPr>
          <a:xfrm>
            <a:off x="4665617" y="1158754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3A3FA9-4DF0-B9AD-A2EE-D206878D08F9}"/>
              </a:ext>
            </a:extLst>
          </p:cNvPr>
          <p:cNvSpPr/>
          <p:nvPr/>
        </p:nvSpPr>
        <p:spPr>
          <a:xfrm>
            <a:off x="4684667" y="1158754"/>
            <a:ext cx="0" cy="8209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5120B95-0AC6-F9A3-FA28-0469AE662AF2}"/>
              </a:ext>
            </a:extLst>
          </p:cNvPr>
          <p:cNvSpPr/>
          <p:nvPr/>
        </p:nvSpPr>
        <p:spPr>
          <a:xfrm>
            <a:off x="4837067" y="129210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B613C86-C792-B0C1-653A-91797137BDDD}"/>
              </a:ext>
            </a:extLst>
          </p:cNvPr>
          <p:cNvSpPr/>
          <p:nvPr/>
        </p:nvSpPr>
        <p:spPr>
          <a:xfrm>
            <a:off x="4837067" y="148260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matches"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B5B032-22FE-B281-DDD8-AB6BB63AADE0}"/>
              </a:ext>
            </a:extLst>
          </p:cNvPr>
          <p:cNvSpPr/>
          <p:nvPr/>
        </p:nvSpPr>
        <p:spPr>
          <a:xfrm>
            <a:off x="4837067" y="171299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MANY for countable nouns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6F328B-2CC0-6F7C-4F2B-2EDA81B4AB86}"/>
              </a:ext>
            </a:extLst>
          </p:cNvPr>
          <p:cNvSpPr/>
          <p:nvPr/>
        </p:nvSpPr>
        <p:spPr>
          <a:xfrm>
            <a:off x="322217" y="2132089"/>
            <a:ext cx="4191000" cy="1099457"/>
          </a:xfrm>
          <a:prstGeom prst="roundRect">
            <a:avLst>
              <a:gd name="adj" fmla="val 68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C7FDE7-F69A-460B-93E9-8368B019E8B2}"/>
              </a:ext>
            </a:extLst>
          </p:cNvPr>
          <p:cNvSpPr/>
          <p:nvPr/>
        </p:nvSpPr>
        <p:spPr>
          <a:xfrm>
            <a:off x="455567" y="2265439"/>
            <a:ext cx="4002786" cy="20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= Countable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D3CAA8A-F514-F89F-9854-83133F66DDE0}"/>
              </a:ext>
            </a:extLst>
          </p:cNvPr>
          <p:cNvSpPr/>
          <p:nvPr/>
        </p:nvSpPr>
        <p:spPr>
          <a:xfrm>
            <a:off x="455567" y="2501629"/>
            <a:ext cx="4002786" cy="191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students, many books, many matches, many opportunities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F7D1DD2-49D2-F887-94A0-D3813628504A}"/>
              </a:ext>
            </a:extLst>
          </p:cNvPr>
          <p:cNvSpPr/>
          <p:nvPr/>
        </p:nvSpPr>
        <p:spPr>
          <a:xfrm>
            <a:off x="455567" y="2914787"/>
            <a:ext cx="4002786" cy="17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(things you can count: 1, 2, 3...)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519917-0711-44C9-7718-0CE4807F9E41}"/>
              </a:ext>
            </a:extLst>
          </p:cNvPr>
          <p:cNvSpPr/>
          <p:nvPr/>
        </p:nvSpPr>
        <p:spPr>
          <a:xfrm>
            <a:off x="4665617" y="2132089"/>
            <a:ext cx="4191000" cy="1099457"/>
          </a:xfrm>
          <a:prstGeom prst="roundRect">
            <a:avLst>
              <a:gd name="adj" fmla="val 68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5941BDB-368A-9014-BC60-EB508A9C52B1}"/>
              </a:ext>
            </a:extLst>
          </p:cNvPr>
          <p:cNvSpPr/>
          <p:nvPr/>
        </p:nvSpPr>
        <p:spPr>
          <a:xfrm>
            <a:off x="4798967" y="2265439"/>
            <a:ext cx="4002786" cy="20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= Uncountable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67EF0F-DBB8-7DA7-B2DE-E0DD7EAB8BAE}"/>
              </a:ext>
            </a:extLst>
          </p:cNvPr>
          <p:cNvSpPr/>
          <p:nvPr/>
        </p:nvSpPr>
        <p:spPr>
          <a:xfrm>
            <a:off x="4798967" y="2501629"/>
            <a:ext cx="4002786" cy="191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time, much money, much information, much experience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F643FB-AF84-51DE-DBE2-FD2B3BD1EF54}"/>
              </a:ext>
            </a:extLst>
          </p:cNvPr>
          <p:cNvSpPr/>
          <p:nvPr/>
        </p:nvSpPr>
        <p:spPr>
          <a:xfrm>
            <a:off x="4798967" y="291478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(mass nouns, abstract concepts)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D0EFD0-A738-E01C-7233-EB9CBF3EDBEA}"/>
              </a:ext>
            </a:extLst>
          </p:cNvPr>
          <p:cNvSpPr/>
          <p:nvPr/>
        </p:nvSpPr>
        <p:spPr>
          <a:xfrm>
            <a:off x="304800" y="3671483"/>
            <a:ext cx="8534400" cy="375196"/>
          </a:xfrm>
          <a:prstGeom prst="roundRect">
            <a:avLst>
              <a:gd name="adj" fmla="val 1523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46C6F05-2182-A438-A606-A5C669F85A71}"/>
              </a:ext>
            </a:extLst>
          </p:cNvPr>
          <p:cNvSpPr/>
          <p:nvPr/>
        </p:nvSpPr>
        <p:spPr>
          <a:xfrm>
            <a:off x="419100" y="3785783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German "viel" doesn't distinguish - in English, always check: Can I count it? →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Can't count it? →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88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856" y="816428"/>
            <a:ext cx="7219406" cy="448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Interference!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38912" y="1136483"/>
            <a:ext cx="8705088" cy="28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translations that don't work in English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856" y="1528868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7106" y="1624118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"with an own room"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106" y="186538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(mit einem eigenen Zimmer)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6206" y="1528868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71856" y="2106024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38912" y="2176687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"We are four people in my family"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6206" y="2106024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1856" y="2683179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7106" y="2778429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"greeting the student in our home"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7106" y="3122204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(begrüßen = grüßen)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6206" y="2683179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71856" y="3260335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67106" y="3538420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"England students"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1965" y="383749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(England as adjective)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C700-1F0E-D007-9A7D-FFB0CAA5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26ADFE-7817-8559-8BD7-E8D9D0B8A5D6}"/>
              </a:ext>
            </a:extLst>
          </p:cNvPr>
          <p:cNvSpPr/>
          <p:nvPr/>
        </p:nvSpPr>
        <p:spPr>
          <a:xfrm>
            <a:off x="371856" y="816428"/>
            <a:ext cx="7219406" cy="448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Interference!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2B152B-0F3F-ECAF-3E1A-2E7149A3B898}"/>
              </a:ext>
            </a:extLst>
          </p:cNvPr>
          <p:cNvSpPr/>
          <p:nvPr/>
        </p:nvSpPr>
        <p:spPr>
          <a:xfrm>
            <a:off x="438912" y="1136483"/>
            <a:ext cx="8705088" cy="28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translations that don't work in English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1C4827-1064-E22B-4298-877F530B4C81}"/>
              </a:ext>
            </a:extLst>
          </p:cNvPr>
          <p:cNvSpPr/>
          <p:nvPr/>
        </p:nvSpPr>
        <p:spPr>
          <a:xfrm>
            <a:off x="371856" y="1528868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9D0C7E-ABD3-63C9-A39F-A575E2140D68}"/>
              </a:ext>
            </a:extLst>
          </p:cNvPr>
          <p:cNvSpPr/>
          <p:nvPr/>
        </p:nvSpPr>
        <p:spPr>
          <a:xfrm>
            <a:off x="467106" y="1624118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"with an own room"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E06E64-0709-A981-9CF5-662B9D478F87}"/>
              </a:ext>
            </a:extLst>
          </p:cNvPr>
          <p:cNvSpPr/>
          <p:nvPr/>
        </p:nvSpPr>
        <p:spPr>
          <a:xfrm>
            <a:off x="467106" y="186538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(mit einem eigenen Zimmer)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95A20C-59FA-3A07-08FC-A3AFA59E3565}"/>
              </a:ext>
            </a:extLst>
          </p:cNvPr>
          <p:cNvSpPr/>
          <p:nvPr/>
        </p:nvSpPr>
        <p:spPr>
          <a:xfrm>
            <a:off x="4696206" y="1528868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C9E8E5D-68AC-146E-B346-B5D50A089C13}"/>
              </a:ext>
            </a:extLst>
          </p:cNvPr>
          <p:cNvSpPr/>
          <p:nvPr/>
        </p:nvSpPr>
        <p:spPr>
          <a:xfrm>
            <a:off x="4791456" y="1624118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"with their own room"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FA3A72-FAD9-41DB-0625-CFD55728ABC9}"/>
              </a:ext>
            </a:extLst>
          </p:cNvPr>
          <p:cNvSpPr/>
          <p:nvPr/>
        </p:nvSpPr>
        <p:spPr>
          <a:xfrm>
            <a:off x="4791456" y="186538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article before "own"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90BF02-BABD-B8F8-A6C2-CB40445F95C7}"/>
              </a:ext>
            </a:extLst>
          </p:cNvPr>
          <p:cNvSpPr/>
          <p:nvPr/>
        </p:nvSpPr>
        <p:spPr>
          <a:xfrm>
            <a:off x="371856" y="2106024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A0DC37-76BF-5DB1-CC3E-C958696C9D94}"/>
              </a:ext>
            </a:extLst>
          </p:cNvPr>
          <p:cNvSpPr/>
          <p:nvPr/>
        </p:nvSpPr>
        <p:spPr>
          <a:xfrm>
            <a:off x="438912" y="2176687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"We are four people in my family"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D0D9DC4-4947-4B9C-9A94-FEF6530872E7}"/>
              </a:ext>
            </a:extLst>
          </p:cNvPr>
          <p:cNvSpPr/>
          <p:nvPr/>
        </p:nvSpPr>
        <p:spPr>
          <a:xfrm>
            <a:off x="4696206" y="2106024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05E817F-A7F2-3FD6-3CDF-2ABF48D4C201}"/>
              </a:ext>
            </a:extLst>
          </p:cNvPr>
          <p:cNvSpPr/>
          <p:nvPr/>
        </p:nvSpPr>
        <p:spPr>
          <a:xfrm>
            <a:off x="4791456" y="2201274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"There are four people in my family"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C6A625-AE31-38A9-D286-E3235A5CA096}"/>
              </a:ext>
            </a:extLst>
          </p:cNvPr>
          <p:cNvSpPr/>
          <p:nvPr/>
        </p:nvSpPr>
        <p:spPr>
          <a:xfrm>
            <a:off x="371856" y="2683179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F8B52B-C867-C2CC-9581-FE93DCDEA85F}"/>
              </a:ext>
            </a:extLst>
          </p:cNvPr>
          <p:cNvSpPr/>
          <p:nvPr/>
        </p:nvSpPr>
        <p:spPr>
          <a:xfrm>
            <a:off x="467106" y="2778429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"greeting the student in our home"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CDAEFB-C813-B5B3-172D-85D99F5F6CA3}"/>
              </a:ext>
            </a:extLst>
          </p:cNvPr>
          <p:cNvSpPr/>
          <p:nvPr/>
        </p:nvSpPr>
        <p:spPr>
          <a:xfrm>
            <a:off x="467106" y="3122204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(begrüßen = grüßen)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B67EDD-D1B0-419C-A835-CE32664626DB}"/>
              </a:ext>
            </a:extLst>
          </p:cNvPr>
          <p:cNvSpPr/>
          <p:nvPr/>
        </p:nvSpPr>
        <p:spPr>
          <a:xfrm>
            <a:off x="4696206" y="2683179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B6F3475-B39A-D91A-DBF3-5AF47413F1BD}"/>
              </a:ext>
            </a:extLst>
          </p:cNvPr>
          <p:cNvSpPr/>
          <p:nvPr/>
        </p:nvSpPr>
        <p:spPr>
          <a:xfrm>
            <a:off x="4791456" y="2778429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"welcoming the student in our home"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FFA1E41-6C52-22F1-4865-930732092534}"/>
              </a:ext>
            </a:extLst>
          </p:cNvPr>
          <p:cNvSpPr/>
          <p:nvPr/>
        </p:nvSpPr>
        <p:spPr>
          <a:xfrm>
            <a:off x="4791456" y="2917706"/>
            <a:ext cx="4099941" cy="42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"greet" = say hello; "welcome" = receive warmly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C564430-9857-6C5A-7B7E-81A5BF34736B}"/>
              </a:ext>
            </a:extLst>
          </p:cNvPr>
          <p:cNvSpPr/>
          <p:nvPr/>
        </p:nvSpPr>
        <p:spPr>
          <a:xfrm>
            <a:off x="371856" y="3260335"/>
            <a:ext cx="4210050" cy="871882"/>
          </a:xfrm>
          <a:prstGeom prst="roundRect">
            <a:avLst>
              <a:gd name="adj" fmla="val 1185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83F42A4-A51C-53D9-D742-74B81A85224B}"/>
              </a:ext>
            </a:extLst>
          </p:cNvPr>
          <p:cNvSpPr/>
          <p:nvPr/>
        </p:nvSpPr>
        <p:spPr>
          <a:xfrm>
            <a:off x="467106" y="3538420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"England students"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E5E5710-22FC-22B3-BB91-038C99A45482}"/>
              </a:ext>
            </a:extLst>
          </p:cNvPr>
          <p:cNvSpPr/>
          <p:nvPr/>
        </p:nvSpPr>
        <p:spPr>
          <a:xfrm>
            <a:off x="481965" y="383749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(England as adjective)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D3C52B7-FCC5-96BE-EE6D-A0B41FD72981}"/>
              </a:ext>
            </a:extLst>
          </p:cNvPr>
          <p:cNvSpPr/>
          <p:nvPr/>
        </p:nvSpPr>
        <p:spPr>
          <a:xfrm>
            <a:off x="4696206" y="3478507"/>
            <a:ext cx="4210050" cy="653709"/>
          </a:xfrm>
          <a:prstGeom prst="roundRect">
            <a:avLst>
              <a:gd name="adj" fmla="val 1185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93F6D39-33EE-209B-CD91-77DF35E0E761}"/>
              </a:ext>
            </a:extLst>
          </p:cNvPr>
          <p:cNvSpPr/>
          <p:nvPr/>
        </p:nvSpPr>
        <p:spPr>
          <a:xfrm>
            <a:off x="4791456" y="3538420"/>
            <a:ext cx="4099941" cy="24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"English students"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F10BAF7-E37E-F211-9F78-9E30CFCD6BD8}"/>
              </a:ext>
            </a:extLst>
          </p:cNvPr>
          <p:cNvSpPr/>
          <p:nvPr/>
        </p:nvSpPr>
        <p:spPr>
          <a:xfrm>
            <a:off x="4806315" y="3837490"/>
            <a:ext cx="4099941" cy="2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adjective form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6297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57" y="772885"/>
            <a:ext cx="7772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 Rules in English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7457" y="1058635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 from German punctuation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37457" y="1466275"/>
            <a:ext cx="4219575" cy="495300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51745" y="1466275"/>
            <a:ext cx="0" cy="4953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400"/>
          </a:p>
        </p:txBody>
      </p:sp>
      <p:sp>
        <p:nvSpPr>
          <p:cNvPr id="6" name="Text 4"/>
          <p:cNvSpPr/>
          <p:nvPr/>
        </p:nvSpPr>
        <p:spPr>
          <a:xfrm>
            <a:off x="461282" y="15615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 introductory phrases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282" y="173297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of all,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want to say..."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457" y="2037775"/>
            <a:ext cx="4219575" cy="495300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51745" y="2037775"/>
            <a:ext cx="0" cy="4953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400"/>
          </a:p>
        </p:txBody>
      </p:sp>
      <p:sp>
        <p:nvSpPr>
          <p:cNvPr id="14" name="Text 12"/>
          <p:cNvSpPr/>
          <p:nvPr/>
        </p:nvSpPr>
        <p:spPr>
          <a:xfrm>
            <a:off x="461282" y="21330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 "for example"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82" y="230447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can visit..."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51328" y="1466275"/>
            <a:ext cx="4219575" cy="495300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4665616" y="1466275"/>
            <a:ext cx="0" cy="49530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400"/>
          </a:p>
        </p:txBody>
      </p:sp>
      <p:sp>
        <p:nvSpPr>
          <p:cNvPr id="18" name="Text 16"/>
          <p:cNvSpPr/>
          <p:nvPr/>
        </p:nvSpPr>
        <p:spPr>
          <a:xfrm>
            <a:off x="4775153" y="15615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Before non-restrictive "which"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5153" y="173297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school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famous for...., is amazing..."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7457" y="2609275"/>
            <a:ext cx="4219575" cy="66675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351745" y="2609275"/>
            <a:ext cx="0" cy="666750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400"/>
          </a:p>
        </p:txBody>
      </p:sp>
      <p:sp>
        <p:nvSpPr>
          <p:cNvPr id="22" name="Text 20"/>
          <p:cNvSpPr/>
          <p:nvPr/>
        </p:nvSpPr>
        <p:spPr>
          <a:xfrm>
            <a:off x="461282" y="27045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comma before infinitive of purpose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282" y="287597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"I write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tell you..."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282" y="30474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"I write to tell you..."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51328" y="2037775"/>
            <a:ext cx="4219575" cy="66675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4665616" y="2037775"/>
            <a:ext cx="0" cy="666750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400"/>
          </a:p>
        </p:txBody>
      </p:sp>
      <p:sp>
        <p:nvSpPr>
          <p:cNvPr id="27" name="Text 25"/>
          <p:cNvSpPr/>
          <p:nvPr/>
        </p:nvSpPr>
        <p:spPr>
          <a:xfrm>
            <a:off x="4775153" y="21330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Unlike German: No comma before "that"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5153" y="230447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"I hope</a:t>
            </a: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you..."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5153" y="2475925"/>
            <a:ext cx="4080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"I hope that you..."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36A30-A685-CD21-978F-A057765C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EA4AEA-F2F1-726A-34DE-7213E1F8C177}"/>
              </a:ext>
            </a:extLst>
          </p:cNvPr>
          <p:cNvSpPr/>
          <p:nvPr/>
        </p:nvSpPr>
        <p:spPr>
          <a:xfrm>
            <a:off x="304800" y="849086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Order with "also"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B45092-05EF-E210-9669-862C160EFA4A}"/>
              </a:ext>
            </a:extLst>
          </p:cNvPr>
          <p:cNvSpPr/>
          <p:nvPr/>
        </p:nvSpPr>
        <p:spPr>
          <a:xfrm>
            <a:off x="304800" y="1134836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place adverbs in English sentences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322C62-6AF4-D20F-4C03-4BEA8CB5413D}"/>
              </a:ext>
            </a:extLst>
          </p:cNvPr>
          <p:cNvSpPr/>
          <p:nvPr/>
        </p:nvSpPr>
        <p:spPr>
          <a:xfrm>
            <a:off x="304800" y="1561526"/>
            <a:ext cx="4191000" cy="83433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7595A8-EF5B-3A0C-E05C-F93033BDFDF6}"/>
              </a:ext>
            </a:extLst>
          </p:cNvPr>
          <p:cNvSpPr/>
          <p:nvPr/>
        </p:nvSpPr>
        <p:spPr>
          <a:xfrm>
            <a:off x="323850" y="1561526"/>
            <a:ext cx="0" cy="834330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7CBB8B-01BB-C308-4445-0325640D60E2}"/>
              </a:ext>
            </a:extLst>
          </p:cNvPr>
          <p:cNvSpPr/>
          <p:nvPr/>
        </p:nvSpPr>
        <p:spPr>
          <a:xfrm>
            <a:off x="476250" y="16948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 (German word order)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74D352-BB01-CDC4-B779-2BA251C32508}"/>
              </a:ext>
            </a:extLst>
          </p:cNvPr>
          <p:cNvSpPr/>
          <p:nvPr/>
        </p:nvSpPr>
        <p:spPr>
          <a:xfrm>
            <a:off x="476250" y="1885376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</a:t>
            </a:r>
            <a:r>
              <a:rPr lang="en-US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garden."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FAD74F-0C32-3295-E790-CFEB65D778A8}"/>
              </a:ext>
            </a:extLst>
          </p:cNvPr>
          <p:cNvSpPr/>
          <p:nvPr/>
        </p:nvSpPr>
        <p:spPr>
          <a:xfrm>
            <a:off x="476250" y="212915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(Wir haben auch einen Garten)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2E824D-01BB-6F45-520E-63A227A18F59}"/>
              </a:ext>
            </a:extLst>
          </p:cNvPr>
          <p:cNvSpPr/>
          <p:nvPr/>
        </p:nvSpPr>
        <p:spPr>
          <a:xfrm>
            <a:off x="4648200" y="1561526"/>
            <a:ext cx="4191000" cy="83433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55118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849086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Order with "also"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4800" y="1134836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place adverbs in English sentences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1561526"/>
            <a:ext cx="4191000" cy="83433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3850" y="1561526"/>
            <a:ext cx="0" cy="834330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/>
          <p:cNvSpPr/>
          <p:nvPr/>
        </p:nvSpPr>
        <p:spPr>
          <a:xfrm>
            <a:off x="476250" y="16948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 (German word order)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6250" y="1885376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</a:t>
            </a:r>
            <a:r>
              <a:rPr lang="en-US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garden."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12915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(Wir haben auch einen Garten)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48200" y="1561526"/>
            <a:ext cx="4191000" cy="83433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667250" y="1561526"/>
            <a:ext cx="0" cy="83433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1" name="Text 9"/>
          <p:cNvSpPr/>
          <p:nvPr/>
        </p:nvSpPr>
        <p:spPr>
          <a:xfrm>
            <a:off x="4819650" y="169487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(English word order)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9650" y="1885376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</a:t>
            </a: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a garden."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212915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Adverb before main verb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800" y="2548257"/>
            <a:ext cx="8534400" cy="660053"/>
          </a:xfrm>
          <a:prstGeom prst="roundRect">
            <a:avLst>
              <a:gd name="adj" fmla="val 86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150" y="2681607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Adverbs of frequency/addition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150" y="2917797"/>
            <a:ext cx="843305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English, adverbs like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also, always, often, never, usually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main verb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verb "to be"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4800" y="3341659"/>
            <a:ext cx="8534400" cy="1081980"/>
          </a:xfrm>
          <a:prstGeom prst="roundRect">
            <a:avLst>
              <a:gd name="adj" fmla="val 1020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19100" y="3455959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9100" y="3640654"/>
            <a:ext cx="8471916" cy="78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5"/>
              </a:lnSpc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"I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eat breakfast." </a:t>
            </a:r>
          </a:p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"She is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late." </a:t>
            </a:r>
          </a:p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"They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visit us." </a:t>
            </a:r>
          </a:p>
          <a:p>
            <a:pPr marL="0" indent="0" algn="l">
              <a:lnSpc>
                <a:spcPts val="115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"We 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 there."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228" y="729343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vs 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59228" y="101509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between certain and uncertain conditions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9228" y="1441783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8278" y="1441783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/>
          <p:cNvSpPr/>
          <p:nvPr/>
        </p:nvSpPr>
        <p:spPr>
          <a:xfrm>
            <a:off x="530678" y="15751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678" y="17656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student is interested(...), please contact us."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678" y="19960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Implies certainty about interest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2628" y="1441783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4060-3FEB-664C-DF3C-79C47DA5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89DE87-A6A9-51C1-CF43-02F0240331A4}"/>
              </a:ext>
            </a:extLst>
          </p:cNvPr>
          <p:cNvSpPr/>
          <p:nvPr/>
        </p:nvSpPr>
        <p:spPr>
          <a:xfrm>
            <a:off x="359228" y="729343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vs If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2ED035-DF17-4C0F-A3E0-FB12328F622C}"/>
              </a:ext>
            </a:extLst>
          </p:cNvPr>
          <p:cNvSpPr/>
          <p:nvPr/>
        </p:nvSpPr>
        <p:spPr>
          <a:xfrm>
            <a:off x="359228" y="101509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between certain and uncertain conditions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B26FFD-7937-3475-BC45-BB72F48BA390}"/>
              </a:ext>
            </a:extLst>
          </p:cNvPr>
          <p:cNvSpPr/>
          <p:nvPr/>
        </p:nvSpPr>
        <p:spPr>
          <a:xfrm>
            <a:off x="359228" y="1441783"/>
            <a:ext cx="4191000" cy="820936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C0359B-5B07-BB5C-62C6-D76966AE1E7B}"/>
              </a:ext>
            </a:extLst>
          </p:cNvPr>
          <p:cNvSpPr/>
          <p:nvPr/>
        </p:nvSpPr>
        <p:spPr>
          <a:xfrm>
            <a:off x="378278" y="1441783"/>
            <a:ext cx="0" cy="820936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0A9AEE-6779-1972-F7C9-9ADC7CFEA91B}"/>
              </a:ext>
            </a:extLst>
          </p:cNvPr>
          <p:cNvSpPr/>
          <p:nvPr/>
        </p:nvSpPr>
        <p:spPr>
          <a:xfrm>
            <a:off x="530678" y="15751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CC4AD5D-2D03-8E4B-634D-5B47657994A9}"/>
              </a:ext>
            </a:extLst>
          </p:cNvPr>
          <p:cNvSpPr/>
          <p:nvPr/>
        </p:nvSpPr>
        <p:spPr>
          <a:xfrm>
            <a:off x="530678" y="17656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student is interested(...), please contact us."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864C2D-1FEA-B916-E850-06F50FAAB51C}"/>
              </a:ext>
            </a:extLst>
          </p:cNvPr>
          <p:cNvSpPr/>
          <p:nvPr/>
        </p:nvSpPr>
        <p:spPr>
          <a:xfrm>
            <a:off x="530678" y="19960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Implies certainty about interest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34E684-C66A-F9E0-1776-F18B4B121395}"/>
              </a:ext>
            </a:extLst>
          </p:cNvPr>
          <p:cNvSpPr/>
          <p:nvPr/>
        </p:nvSpPr>
        <p:spPr>
          <a:xfrm>
            <a:off x="4702628" y="1441783"/>
            <a:ext cx="4191000" cy="820936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DD4D7B1-0892-3271-66A2-F4A0CEEFCBCF}"/>
              </a:ext>
            </a:extLst>
          </p:cNvPr>
          <p:cNvSpPr/>
          <p:nvPr/>
        </p:nvSpPr>
        <p:spPr>
          <a:xfrm>
            <a:off x="4721678" y="1441783"/>
            <a:ext cx="0" cy="820936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9DB4F6-FB58-6A20-D654-670D29716A97}"/>
              </a:ext>
            </a:extLst>
          </p:cNvPr>
          <p:cNvSpPr/>
          <p:nvPr/>
        </p:nvSpPr>
        <p:spPr>
          <a:xfrm>
            <a:off x="4874078" y="15751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2D18F2-810E-3C4C-377D-21AD1630874B}"/>
              </a:ext>
            </a:extLst>
          </p:cNvPr>
          <p:cNvSpPr/>
          <p:nvPr/>
        </p:nvSpPr>
        <p:spPr>
          <a:xfrm>
            <a:off x="4874078" y="1765633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student is interested (...), please contact us."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B005BA-7FA9-AC40-DCD7-B8FDA9A09139}"/>
              </a:ext>
            </a:extLst>
          </p:cNvPr>
          <p:cNvSpPr/>
          <p:nvPr/>
        </p:nvSpPr>
        <p:spPr>
          <a:xfrm>
            <a:off x="4874078" y="199601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Indicates uncertainty - might or might not happen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D610437-46EF-A9DC-1524-221A0DEDA7FD}"/>
              </a:ext>
            </a:extLst>
          </p:cNvPr>
          <p:cNvSpPr/>
          <p:nvPr/>
        </p:nvSpPr>
        <p:spPr>
          <a:xfrm>
            <a:off x="359228" y="2415119"/>
            <a:ext cx="4191000" cy="820936"/>
          </a:xfrm>
          <a:prstGeom prst="roundRect">
            <a:avLst>
              <a:gd name="adj" fmla="val 696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5EECBA-3F09-A0BB-B4BE-3CBEAC67582D}"/>
              </a:ext>
            </a:extLst>
          </p:cNvPr>
          <p:cNvSpPr/>
          <p:nvPr/>
        </p:nvSpPr>
        <p:spPr>
          <a:xfrm>
            <a:off x="492578" y="254846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= Certain to happen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6D2A5D7-3794-086E-334C-9EF3F8245F55}"/>
              </a:ext>
            </a:extLst>
          </p:cNvPr>
          <p:cNvSpPr/>
          <p:nvPr/>
        </p:nvSpPr>
        <p:spPr>
          <a:xfrm>
            <a:off x="492578" y="278465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summer comes, we'll go swimming."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CE2CC8-6BC0-E95E-B908-AD287F5633A0}"/>
              </a:ext>
            </a:extLst>
          </p:cNvPr>
          <p:cNvSpPr/>
          <p:nvPr/>
        </p:nvSpPr>
        <p:spPr>
          <a:xfrm>
            <a:off x="492578" y="2969355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(Summer will definitely come)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3776600-DDBD-5D36-D9FE-C5AB299B44AD}"/>
              </a:ext>
            </a:extLst>
          </p:cNvPr>
          <p:cNvSpPr/>
          <p:nvPr/>
        </p:nvSpPr>
        <p:spPr>
          <a:xfrm>
            <a:off x="4702628" y="2415119"/>
            <a:ext cx="4191000" cy="820936"/>
          </a:xfrm>
          <a:prstGeom prst="roundRect">
            <a:avLst>
              <a:gd name="adj" fmla="val 696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DDE2215-D92D-995C-1245-DF5096D7B025}"/>
              </a:ext>
            </a:extLst>
          </p:cNvPr>
          <p:cNvSpPr/>
          <p:nvPr/>
        </p:nvSpPr>
        <p:spPr>
          <a:xfrm>
            <a:off x="4835978" y="254846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= Uncertain / Conditional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B9A682-DF75-582F-1681-A1CAB4BB34BF}"/>
              </a:ext>
            </a:extLst>
          </p:cNvPr>
          <p:cNvSpPr/>
          <p:nvPr/>
        </p:nvSpPr>
        <p:spPr>
          <a:xfrm>
            <a:off x="4835978" y="278465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rains, we'll stay inside."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FBC5823-A5C9-E093-B6C0-C8BE43182D75}"/>
              </a:ext>
            </a:extLst>
          </p:cNvPr>
          <p:cNvSpPr/>
          <p:nvPr/>
        </p:nvSpPr>
        <p:spPr>
          <a:xfrm>
            <a:off x="4835978" y="2969355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(It might or might not rain)</a:t>
            </a: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15E3597-8099-BC57-6188-60A8ABCCD996}"/>
              </a:ext>
            </a:extLst>
          </p:cNvPr>
          <p:cNvSpPr/>
          <p:nvPr/>
        </p:nvSpPr>
        <p:spPr>
          <a:xfrm>
            <a:off x="359228" y="3369405"/>
            <a:ext cx="8534400" cy="375196"/>
          </a:xfrm>
          <a:prstGeom prst="roundRect">
            <a:avLst>
              <a:gd name="adj" fmla="val 1523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85014F-D276-A2CD-BF12-8626B30C9DED}"/>
              </a:ext>
            </a:extLst>
          </p:cNvPr>
          <p:cNvSpPr/>
          <p:nvPr/>
        </p:nvSpPr>
        <p:spPr>
          <a:xfrm>
            <a:off x="473528" y="3483705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German "wenn" can mean both "when" and "if" - in English, you must choose based on certainty!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4250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881743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Simple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116749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+ base form (infinitive without "to")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594183"/>
            <a:ext cx="4191000" cy="83433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00050" y="1594183"/>
            <a:ext cx="0" cy="834330"/>
          </a:xfrm>
          <a:prstGeom prst="line">
            <a:avLst/>
          </a:prstGeom>
          <a:noFill/>
          <a:ln w="38100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6" name="Text 4"/>
          <p:cNvSpPr/>
          <p:nvPr/>
        </p:nvSpPr>
        <p:spPr>
          <a:xfrm>
            <a:off x="552450" y="17275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INCORRECT (double past)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2450" y="1918033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anything cool </a:t>
            </a:r>
            <a:r>
              <a:rPr lang="en-US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happened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16181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"did" already shows past tense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4400" y="1594183"/>
            <a:ext cx="4191000" cy="83433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43450" y="1594183"/>
            <a:ext cx="0" cy="83433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1" name="Text 9"/>
          <p:cNvSpPr/>
          <p:nvPr/>
        </p:nvSpPr>
        <p:spPr>
          <a:xfrm>
            <a:off x="4895850" y="1727533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5850" y="1918033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anything cool </a:t>
            </a: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95850" y="2161814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+ base form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85A855B8-B44C-364D-DB97-6D9BAD5CECA7}"/>
              </a:ext>
            </a:extLst>
          </p:cNvPr>
          <p:cNvSpPr/>
          <p:nvPr/>
        </p:nvSpPr>
        <p:spPr>
          <a:xfrm>
            <a:off x="304800" y="1582936"/>
            <a:ext cx="8534400" cy="988814"/>
          </a:xfrm>
          <a:prstGeom prst="roundRect">
            <a:avLst>
              <a:gd name="adj" fmla="val 79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667CA9FA-A9D1-92E0-4E97-F651A93B454A}"/>
              </a:ext>
            </a:extLst>
          </p:cNvPr>
          <p:cNvSpPr/>
          <p:nvPr/>
        </p:nvSpPr>
        <p:spPr>
          <a:xfrm>
            <a:off x="419100" y="1697236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Formats</a:t>
            </a:r>
            <a:endParaRPr lang="en-US" sz="20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19AD1BA3-71FD-EC0B-FA1A-192FC663F4C8}"/>
              </a:ext>
            </a:extLst>
          </p:cNvPr>
          <p:cNvSpPr/>
          <p:nvPr/>
        </p:nvSpPr>
        <p:spPr>
          <a:xfrm>
            <a:off x="419100" y="2005757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"10th January"</a:t>
            </a:r>
            <a:endParaRPr lang="en-US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5936614-B2C9-F54D-B2F8-AB2FD93F47E9}"/>
              </a:ext>
            </a:extLst>
          </p:cNvPr>
          <p:cNvSpPr/>
          <p:nvPr/>
        </p:nvSpPr>
        <p:spPr>
          <a:xfrm>
            <a:off x="4629150" y="1900982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</a:t>
            </a: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10th of January</a:t>
            </a: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(British)</a:t>
            </a:r>
            <a:endParaRPr lang="en-US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B550A77F-CE59-0958-7E3C-2F7930F640B1}"/>
              </a:ext>
            </a:extLst>
          </p:cNvPr>
          <p:cNvSpPr/>
          <p:nvPr/>
        </p:nvSpPr>
        <p:spPr>
          <a:xfrm>
            <a:off x="4629150" y="2236366"/>
            <a:ext cx="4177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</a:t>
            </a:r>
            <a:r>
              <a:rPr 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10th</a:t>
            </a:r>
            <a:r>
              <a:rPr lang="en-US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(American)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06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381" y="489857"/>
            <a:ext cx="70757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Vocabulary for formal communication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77381" y="1183247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1669" y="1183247"/>
            <a:ext cx="0" cy="508546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6" name="Text 4"/>
          <p:cNvSpPr/>
          <p:nvPr/>
        </p:nvSpPr>
        <p:spPr>
          <a:xfrm>
            <a:off x="501206" y="1278497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informal 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1206" y="1449947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 happy"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1731" y="1183247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716019" y="1183247"/>
            <a:ext cx="0" cy="50854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10" name="Text 8"/>
          <p:cNvSpPr/>
          <p:nvPr/>
        </p:nvSpPr>
        <p:spPr>
          <a:xfrm>
            <a:off x="4825556" y="1278497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5556" y="1449947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"delighted" / "thrilled"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381" y="1787043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91669" y="1787043"/>
            <a:ext cx="0" cy="508546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14" name="Text 12"/>
          <p:cNvSpPr/>
          <p:nvPr/>
        </p:nvSpPr>
        <p:spPr>
          <a:xfrm>
            <a:off x="501206" y="1882293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informal 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206" y="2053743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"great things"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1731" y="1787043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716019" y="1787043"/>
            <a:ext cx="0" cy="50854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18" name="Text 16"/>
          <p:cNvSpPr/>
          <p:nvPr/>
        </p:nvSpPr>
        <p:spPr>
          <a:xfrm>
            <a:off x="4825556" y="1882293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5556" y="2053743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"excellent opportunities"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7381" y="2390839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391669" y="2390839"/>
            <a:ext cx="0" cy="508546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22" name="Text 20"/>
          <p:cNvSpPr/>
          <p:nvPr/>
        </p:nvSpPr>
        <p:spPr>
          <a:xfrm>
            <a:off x="501206" y="2486089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Awkward 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206" y="2657539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"deeply thinking about"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1731" y="2390839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4716019" y="2390839"/>
            <a:ext cx="0" cy="50854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26" name="Text 24"/>
          <p:cNvSpPr/>
          <p:nvPr/>
        </p:nvSpPr>
        <p:spPr>
          <a:xfrm>
            <a:off x="4825556" y="2486089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5556" y="2657539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"giving careful thought to"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7381" y="2994634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391669" y="2994634"/>
            <a:ext cx="0" cy="508546"/>
          </a:xfrm>
          <a:prstGeom prst="line">
            <a:avLst/>
          </a:prstGeom>
          <a:noFill/>
          <a:ln w="28575">
            <a:solidFill>
              <a:srgbClr val="E94E3D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30" name="Text 28"/>
          <p:cNvSpPr/>
          <p:nvPr/>
        </p:nvSpPr>
        <p:spPr>
          <a:xfrm>
            <a:off x="501206" y="3089884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94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informal 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206" y="3261334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"bye-bye"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1731" y="2994634"/>
            <a:ext cx="4210050" cy="508546"/>
          </a:xfrm>
          <a:prstGeom prst="roundRect">
            <a:avLst>
              <a:gd name="adj" fmla="val 1123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3" name="Shape 31"/>
          <p:cNvSpPr/>
          <p:nvPr/>
        </p:nvSpPr>
        <p:spPr>
          <a:xfrm>
            <a:off x="4716019" y="2994634"/>
            <a:ext cx="0" cy="50854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34" name="Text 32"/>
          <p:cNvSpPr/>
          <p:nvPr/>
        </p:nvSpPr>
        <p:spPr>
          <a:xfrm>
            <a:off x="4825556" y="3089884"/>
            <a:ext cx="407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5556" y="3261334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"Kind regards" / "Best regards"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6506" y="1676400"/>
            <a:ext cx="43309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Text Types in English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2406506" y="2247900"/>
            <a:ext cx="433098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30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Formal vs Informal Writing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00500" y="2872680"/>
            <a:ext cx="1143000" cy="3810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4576" y="946844"/>
            <a:ext cx="2114848" cy="468511"/>
          </a:xfrm>
          <a:prstGeom prst="roundRect">
            <a:avLst>
              <a:gd name="adj" fmla="val 162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04324" y="1061144"/>
            <a:ext cx="15353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Written Text Types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45843" y="1421011"/>
            <a:ext cx="19050" cy="190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48583" y="1611511"/>
            <a:ext cx="1413718" cy="403771"/>
          </a:xfrm>
          <a:prstGeom prst="roundRect">
            <a:avLst>
              <a:gd name="adj" fmla="val 1415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67618" y="1706761"/>
            <a:ext cx="9756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48583" y="2129582"/>
            <a:ext cx="1413718" cy="325636"/>
          </a:xfrm>
          <a:prstGeom prst="roundRect">
            <a:avLst>
              <a:gd name="adj" fmla="val 11700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62870" y="2129582"/>
            <a:ext cx="0" cy="325636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18754" y="2205782"/>
            <a:ext cx="1101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Formal Email/Letter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02794" y="2531418"/>
            <a:ext cx="705148" cy="325636"/>
          </a:xfrm>
          <a:prstGeom prst="roundRect">
            <a:avLst>
              <a:gd name="adj" fmla="val 11700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17081" y="2531418"/>
            <a:ext cx="0" cy="325636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80051" y="2607618"/>
            <a:ext cx="3792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6635" y="2933254"/>
            <a:ext cx="677466" cy="325636"/>
          </a:xfrm>
          <a:prstGeom prst="roundRect">
            <a:avLst>
              <a:gd name="adj" fmla="val 11700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30922" y="2933254"/>
            <a:ext cx="0" cy="325636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4169" y="3009454"/>
            <a:ext cx="3509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20058" y="3335089"/>
            <a:ext cx="670620" cy="325636"/>
          </a:xfrm>
          <a:prstGeom prst="roundRect">
            <a:avLst>
              <a:gd name="adj" fmla="val 11700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34345" y="3335089"/>
            <a:ext cx="0" cy="325636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97660" y="3411289"/>
            <a:ext cx="343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Essay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55010" y="1421011"/>
            <a:ext cx="19050" cy="190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3801" y="1611511"/>
            <a:ext cx="1261467" cy="403771"/>
          </a:xfrm>
          <a:prstGeom prst="roundRect">
            <a:avLst>
              <a:gd name="adj" fmla="val 1415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54359" y="1706761"/>
            <a:ext cx="82035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INFORMAL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02112" y="2129582"/>
            <a:ext cx="1540201" cy="325636"/>
          </a:xfrm>
          <a:prstGeom prst="roundRect">
            <a:avLst>
              <a:gd name="adj" fmla="val 11700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16401" y="2129582"/>
            <a:ext cx="0" cy="32563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30691" y="2195364"/>
            <a:ext cx="13671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Informal Email/Letter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32784" y="2531418"/>
            <a:ext cx="863501" cy="325636"/>
          </a:xfrm>
          <a:prstGeom prst="roundRect">
            <a:avLst>
              <a:gd name="adj" fmla="val 11700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47072" y="2531418"/>
            <a:ext cx="0" cy="32563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8458" y="2607618"/>
            <a:ext cx="5407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Blog Post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88272" y="2933254"/>
            <a:ext cx="1152376" cy="325636"/>
          </a:xfrm>
          <a:prstGeom prst="roundRect">
            <a:avLst>
              <a:gd name="adj" fmla="val 11700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02560" y="2933254"/>
            <a:ext cx="0" cy="32563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61057" y="3009454"/>
            <a:ext cx="8353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Blog Comment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3335" y="3335089"/>
            <a:ext cx="622399" cy="325636"/>
          </a:xfrm>
          <a:prstGeom prst="roundRect">
            <a:avLst>
              <a:gd name="adj" fmla="val 11700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267623" y="3335089"/>
            <a:ext cx="0" cy="325636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31420" y="3411289"/>
            <a:ext cx="2948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4800" y="4176862"/>
            <a:ext cx="8534400" cy="388590"/>
          </a:xfrm>
          <a:prstGeom prst="roundRect">
            <a:avLst>
              <a:gd name="adj" fmla="val 1470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6042" y="4291162"/>
            <a:ext cx="8471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💡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(formal/informal) depends on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of your text.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571" y="441978"/>
            <a:ext cx="6923314" cy="2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Types of Formal Letters/Emails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4800" y="954286"/>
            <a:ext cx="4200525" cy="790277"/>
          </a:xfrm>
          <a:prstGeom prst="roundRect">
            <a:avLst>
              <a:gd name="adj" fmla="val 9642"/>
            </a:avLst>
          </a:prstGeom>
          <a:solidFill>
            <a:srgbClr val="FFF8E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3850" y="954286"/>
            <a:ext cx="0" cy="790277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6250" y="1087636"/>
            <a:ext cx="397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📄 Letter Giving/Asking for Information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6250" y="1318022"/>
            <a:ext cx="397364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Sharing details or requesting specific information about programs, events, services, etc.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4800" y="1839813"/>
            <a:ext cx="4200525" cy="643682"/>
          </a:xfrm>
          <a:prstGeom prst="roundRect">
            <a:avLst>
              <a:gd name="adj" fmla="val 11838"/>
            </a:avLst>
          </a:prstGeom>
          <a:solidFill>
            <a:srgbClr val="E8F8F0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3850" y="1839813"/>
            <a:ext cx="0" cy="64368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6250" y="1886545"/>
            <a:ext cx="397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💼 Letter of Application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6250" y="2116931"/>
            <a:ext cx="3973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Responding to a job advertisement, applying for a position, internship, or program.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4800" y="2578745"/>
            <a:ext cx="4200525" cy="790277"/>
          </a:xfrm>
          <a:prstGeom prst="roundRect">
            <a:avLst>
              <a:gd name="adj" fmla="val 9642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3850" y="2578745"/>
            <a:ext cx="0" cy="7902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6250" y="2712095"/>
            <a:ext cx="397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😠 Letter of Complaint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6250" y="2942481"/>
            <a:ext cx="397364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Expressing dissatisfaction with 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 Politely but firmly stating the problem and requesting a solution.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8675" y="954286"/>
            <a:ext cx="4200525" cy="790277"/>
          </a:xfrm>
          <a:prstGeom prst="roundRect">
            <a:avLst>
              <a:gd name="adj" fmla="val 9642"/>
            </a:avLst>
          </a:prstGeom>
          <a:solidFill>
            <a:srgbClr val="F3E8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57725" y="954286"/>
            <a:ext cx="0" cy="790277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10125" y="1087636"/>
            <a:ext cx="397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📰 Letter to the Editor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10125" y="1318022"/>
            <a:ext cx="397364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Responding to an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TV program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, or something you've read/watched. Sharing your opinion or reaction.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38675" y="1839813"/>
            <a:ext cx="4200525" cy="790277"/>
          </a:xfrm>
          <a:prstGeom prst="roundRect">
            <a:avLst>
              <a:gd name="adj" fmla="val 964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57725" y="1839813"/>
            <a:ext cx="0" cy="79027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10125" y="1973163"/>
            <a:ext cx="3973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3A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🏢 Business Letter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10125" y="2203549"/>
            <a:ext cx="397364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Dealing with business matters: orders, price quotes, inquiries, arrangements, or official requests.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1687</Words>
  <Application>Microsoft Macintosh PowerPoint</Application>
  <PresentationFormat>Bildschirmpräsentation (16:9)</PresentationFormat>
  <Paragraphs>281</Paragraphs>
  <Slides>26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Writing Mistakes - B1 Level</dc:title>
  <dc:subject>PptxGenJS Presentation</dc:subject>
  <dc:creator>English Class</dc:creator>
  <cp:lastModifiedBy>Orhan Vehabovic</cp:lastModifiedBy>
  <cp:revision>23</cp:revision>
  <dcterms:created xsi:type="dcterms:W3CDTF">2026-01-23T07:43:25Z</dcterms:created>
  <dcterms:modified xsi:type="dcterms:W3CDTF">2026-01-23T10:50:52Z</dcterms:modified>
</cp:coreProperties>
</file>