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Nuni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bold.fntdata"/><Relationship Id="rId16" Type="http://schemas.openxmlformats.org/officeDocument/2006/relationships/font" Target="fonts/Nunito-regular.fntdata"/><Relationship Id="rId5" Type="http://schemas.openxmlformats.org/officeDocument/2006/relationships/notesMaster" Target="notesMasters/notesMaster1.xml"/><Relationship Id="rId19" Type="http://schemas.openxmlformats.org/officeDocument/2006/relationships/font" Target="fonts/Nunito-boldItalic.fntdata"/><Relationship Id="rId6" Type="http://schemas.openxmlformats.org/officeDocument/2006/relationships/slide" Target="slides/slide1.xml"/><Relationship Id="rId18" Type="http://schemas.openxmlformats.org/officeDocument/2006/relationships/font" Target="fonts/Nuni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aff74e3a6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9aff74e3a6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aff74e3a6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9aff74e3a6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aff74e3a6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aff74e3a6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aff74e3a6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9aff74e3a6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aff74e3a6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9aff74e3a6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aff74e3a6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aff74e3a6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aff74e3a6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9aff74e3a6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aff74e3a6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aff74e3a6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aff74e3a6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9aff74e3a6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de"/>
              <a:t>Food vocabulary</a:t>
            </a:r>
            <a:endParaRPr/>
          </a:p>
        </p:txBody>
      </p:sp>
      <p:sp>
        <p:nvSpPr>
          <p:cNvPr id="129" name="Google Shape;129;p13"/>
          <p:cNvSpPr txBox="1"/>
          <p:nvPr>
            <p:ph idx="1" type="subTitle"/>
          </p:nvPr>
        </p:nvSpPr>
        <p:spPr>
          <a:xfrm>
            <a:off x="1891350" y="28384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de" sz="2100"/>
              <a:t>for food reviews</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309225"/>
            <a:ext cx="7505700" cy="380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lang="de" sz="1760">
                <a:solidFill>
                  <a:srgbClr val="000000"/>
                </a:solidFill>
                <a:latin typeface="Arial"/>
                <a:ea typeface="Arial"/>
                <a:cs typeface="Arial"/>
                <a:sym typeface="Arial"/>
              </a:rPr>
              <a:t>What types of food were mentioned in the videos?</a:t>
            </a:r>
            <a:endParaRPr sz="3200"/>
          </a:p>
        </p:txBody>
      </p:sp>
      <p:sp>
        <p:nvSpPr>
          <p:cNvPr id="135" name="Google Shape;135;p14"/>
          <p:cNvSpPr txBox="1"/>
          <p:nvPr>
            <p:ph idx="1" type="body"/>
          </p:nvPr>
        </p:nvSpPr>
        <p:spPr>
          <a:xfrm>
            <a:off x="415950" y="753475"/>
            <a:ext cx="8312100" cy="41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de" sz="1500">
                <a:solidFill>
                  <a:srgbClr val="000000"/>
                </a:solidFill>
                <a:latin typeface="Arial"/>
                <a:ea typeface="Arial"/>
                <a:cs typeface="Arial"/>
                <a:sym typeface="Arial"/>
              </a:rPr>
              <a:t>Video 1 (Nashville Chicken - London):</a:t>
            </a:r>
            <a:r>
              <a:rPr lang="de" sz="1500">
                <a:solidFill>
                  <a:srgbClr val="000000"/>
                </a:solidFill>
                <a:latin typeface="Arial"/>
                <a:ea typeface="Arial"/>
                <a:cs typeface="Arial"/>
                <a:sym typeface="Arial"/>
              </a:rPr>
              <a:t> Nashville chicken tenders, Nashville burger, garlic sauce, fries, onion rings, meal cake (Kinder Bueno flavour)</a:t>
            </a:r>
            <a:br>
              <a:rPr lang="de" sz="1500">
                <a:solidFill>
                  <a:srgbClr val="000000"/>
                </a:solidFill>
                <a:latin typeface="Arial"/>
                <a:ea typeface="Arial"/>
                <a:cs typeface="Arial"/>
                <a:sym typeface="Arial"/>
              </a:rPr>
            </a:br>
            <a:r>
              <a:rPr b="1" lang="de" sz="1500">
                <a:solidFill>
                  <a:srgbClr val="000000"/>
                </a:solidFill>
                <a:latin typeface="Arial"/>
                <a:ea typeface="Arial"/>
                <a:cs typeface="Arial"/>
                <a:sym typeface="Arial"/>
              </a:rPr>
              <a:t>Video 2 (Fat Plunders - Indo-Chinese):</a:t>
            </a:r>
            <a:r>
              <a:rPr lang="de" sz="1500">
                <a:solidFill>
                  <a:srgbClr val="000000"/>
                </a:solidFill>
                <a:latin typeface="Arial"/>
                <a:ea typeface="Arial"/>
                <a:cs typeface="Arial"/>
                <a:sym typeface="Arial"/>
              </a:rPr>
              <a:t> Momos (dumplings), sticky sesame vegetables, Szechuan honey duck, duck pancakes, chicken lollipop, Malabar curry (with monkfish or prawns), lamb chops with black bean dust, sizzling chocolate brownie</a:t>
            </a:r>
            <a:br>
              <a:rPr lang="de" sz="1500">
                <a:solidFill>
                  <a:srgbClr val="000000"/>
                </a:solidFill>
                <a:latin typeface="Arial"/>
                <a:ea typeface="Arial"/>
                <a:cs typeface="Arial"/>
                <a:sym typeface="Arial"/>
              </a:rPr>
            </a:br>
            <a:r>
              <a:rPr b="1" lang="de" sz="1500">
                <a:solidFill>
                  <a:srgbClr val="000000"/>
                </a:solidFill>
                <a:latin typeface="Arial"/>
                <a:ea typeface="Arial"/>
                <a:cs typeface="Arial"/>
                <a:sym typeface="Arial"/>
              </a:rPr>
              <a:t>Video 3 (Tamil Prince - North London):</a:t>
            </a:r>
            <a:r>
              <a:rPr lang="de" sz="1500">
                <a:solidFill>
                  <a:srgbClr val="000000"/>
                </a:solidFill>
                <a:latin typeface="Arial"/>
                <a:ea typeface="Arial"/>
                <a:cs typeface="Arial"/>
                <a:sym typeface="Arial"/>
              </a:rPr>
              <a:t> Chicken lollipops with sweet chilli chutney, masala dosa, onion bhajis, fresh bread/roti, flaky roti, paneer butter masala, grilled lamb chops</a:t>
            </a:r>
            <a:br>
              <a:rPr lang="de" sz="1500">
                <a:solidFill>
                  <a:srgbClr val="000000"/>
                </a:solidFill>
                <a:latin typeface="Arial"/>
                <a:ea typeface="Arial"/>
                <a:cs typeface="Arial"/>
                <a:sym typeface="Arial"/>
              </a:rPr>
            </a:br>
            <a:r>
              <a:rPr b="1" lang="de" sz="1500">
                <a:solidFill>
                  <a:srgbClr val="000000"/>
                </a:solidFill>
                <a:latin typeface="Arial"/>
                <a:ea typeface="Arial"/>
                <a:cs typeface="Arial"/>
                <a:sym typeface="Arial"/>
              </a:rPr>
              <a:t>Video 4 (Priscilla - Italian Restaurant):</a:t>
            </a:r>
            <a:r>
              <a:rPr lang="de" sz="1500">
                <a:solidFill>
                  <a:srgbClr val="000000"/>
                </a:solidFill>
                <a:latin typeface="Arial"/>
                <a:ea typeface="Arial"/>
                <a:cs typeface="Arial"/>
                <a:sym typeface="Arial"/>
              </a:rPr>
              <a:t> Fried calamari with white wine sauce and hot honey, filet mignon meatballs, shrimp in spicy tomato sauce, Maryland crab cakes, short rib ragu with pappardelle pasta, rigatoni with sausage bolognese, Brooklyn chicken parmesan, hot honey seared scallops with tomato risotto, steak with mushrooms and peppers, affogato, chocolate mousse cake, cannoli</a:t>
            </a:r>
            <a:br>
              <a:rPr lang="de" sz="1500">
                <a:solidFill>
                  <a:srgbClr val="000000"/>
                </a:solidFill>
                <a:latin typeface="Arial"/>
                <a:ea typeface="Arial"/>
                <a:cs typeface="Arial"/>
                <a:sym typeface="Arial"/>
              </a:rPr>
            </a:br>
            <a:r>
              <a:rPr b="1" lang="de" sz="1500">
                <a:solidFill>
                  <a:srgbClr val="000000"/>
                </a:solidFill>
                <a:latin typeface="Arial"/>
                <a:ea typeface="Arial"/>
                <a:cs typeface="Arial"/>
                <a:sym typeface="Arial"/>
              </a:rPr>
              <a:t>Video 5 (Chicago):</a:t>
            </a:r>
            <a:r>
              <a:rPr lang="de" sz="1500">
                <a:solidFill>
                  <a:srgbClr val="000000"/>
                </a:solidFill>
                <a:latin typeface="Arial"/>
                <a:ea typeface="Arial"/>
                <a:cs typeface="Arial"/>
                <a:sym typeface="Arial"/>
              </a:rPr>
              <a:t> Italian beef sandwich, burger, onion ring steak tartare, skillet cookie, French onion dip, Japanese sweet potato with Thai red curry</a:t>
            </a:r>
            <a:br>
              <a:rPr lang="de" sz="1500">
                <a:solidFill>
                  <a:srgbClr val="000000"/>
                </a:solidFill>
                <a:latin typeface="Arial"/>
                <a:ea typeface="Arial"/>
                <a:cs typeface="Arial"/>
                <a:sym typeface="Arial"/>
              </a:rPr>
            </a:br>
            <a:r>
              <a:rPr b="1" lang="de" sz="1500">
                <a:solidFill>
                  <a:srgbClr val="000000"/>
                </a:solidFill>
                <a:latin typeface="Arial"/>
                <a:ea typeface="Arial"/>
                <a:cs typeface="Arial"/>
                <a:sym typeface="Arial"/>
              </a:rPr>
              <a:t>Video 6 (Burrata Burger):</a:t>
            </a:r>
            <a:r>
              <a:rPr lang="de" sz="1500">
                <a:solidFill>
                  <a:srgbClr val="000000"/>
                </a:solidFill>
                <a:latin typeface="Arial"/>
                <a:ea typeface="Arial"/>
                <a:cs typeface="Arial"/>
                <a:sym typeface="Arial"/>
              </a:rPr>
              <a:t> Burrata cheese (fresh), wagyu beef patties, caramelized onions</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309225"/>
            <a:ext cx="7505700" cy="380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de" sz="1400">
                <a:solidFill>
                  <a:srgbClr val="000000"/>
                </a:solidFill>
                <a:latin typeface="Arial"/>
                <a:ea typeface="Arial"/>
                <a:cs typeface="Arial"/>
                <a:sym typeface="Arial"/>
              </a:rPr>
              <a:t>What cuisines were featured? Where in the world did they come from?</a:t>
            </a:r>
            <a:endParaRPr b="1" sz="1400">
              <a:solidFill>
                <a:srgbClr val="000000"/>
              </a:solidFill>
              <a:latin typeface="Arial"/>
              <a:ea typeface="Arial"/>
              <a:cs typeface="Arial"/>
              <a:sym typeface="Arial"/>
            </a:endParaRPr>
          </a:p>
          <a:p>
            <a:pPr indent="0" lvl="0" marL="0" rtl="0" algn="l">
              <a:lnSpc>
                <a:spcPct val="115000"/>
              </a:lnSpc>
              <a:spcBef>
                <a:spcPts val="0"/>
              </a:spcBef>
              <a:spcAft>
                <a:spcPts val="0"/>
              </a:spcAft>
              <a:buSzPts val="990"/>
              <a:buNone/>
            </a:pPr>
            <a:r>
              <a:t/>
            </a:r>
            <a:endParaRPr b="1" sz="1760">
              <a:solidFill>
                <a:srgbClr val="000000"/>
              </a:solidFill>
              <a:latin typeface="Arial"/>
              <a:ea typeface="Arial"/>
              <a:cs typeface="Arial"/>
              <a:sym typeface="Arial"/>
            </a:endParaRPr>
          </a:p>
        </p:txBody>
      </p:sp>
      <p:sp>
        <p:nvSpPr>
          <p:cNvPr id="141" name="Google Shape;141;p15"/>
          <p:cNvSpPr txBox="1"/>
          <p:nvPr>
            <p:ph idx="1" type="body"/>
          </p:nvPr>
        </p:nvSpPr>
        <p:spPr>
          <a:xfrm>
            <a:off x="415950" y="753475"/>
            <a:ext cx="8312100" cy="41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de" sz="2300">
                <a:solidFill>
                  <a:srgbClr val="000000"/>
                </a:solidFill>
                <a:latin typeface="Arial"/>
                <a:ea typeface="Arial"/>
                <a:cs typeface="Arial"/>
                <a:sym typeface="Arial"/>
              </a:rPr>
              <a:t>Video 1</a:t>
            </a:r>
            <a:r>
              <a:rPr lang="de" sz="2300">
                <a:solidFill>
                  <a:srgbClr val="000000"/>
                </a:solidFill>
                <a:latin typeface="Arial"/>
                <a:ea typeface="Arial"/>
                <a:cs typeface="Arial"/>
                <a:sym typeface="Arial"/>
              </a:rPr>
              <a:t>: American (Nashville-style), London, UK (originally from Nashville, USA) |</a:t>
            </a:r>
            <a:r>
              <a:rPr b="1" lang="de" sz="2300">
                <a:solidFill>
                  <a:srgbClr val="000000"/>
                </a:solidFill>
                <a:latin typeface="Arial"/>
                <a:ea typeface="Arial"/>
                <a:cs typeface="Arial"/>
                <a:sym typeface="Arial"/>
              </a:rPr>
              <a:t> </a:t>
            </a:r>
            <a:endParaRPr b="1" sz="2300">
              <a:solidFill>
                <a:srgbClr val="000000"/>
              </a:solidFill>
              <a:latin typeface="Arial"/>
              <a:ea typeface="Arial"/>
              <a:cs typeface="Arial"/>
              <a:sym typeface="Arial"/>
            </a:endParaRPr>
          </a:p>
          <a:p>
            <a:pPr indent="0" lvl="0" marL="0" rtl="0" algn="l">
              <a:spcBef>
                <a:spcPts val="0"/>
              </a:spcBef>
              <a:spcAft>
                <a:spcPts val="0"/>
              </a:spcAft>
              <a:buNone/>
            </a:pPr>
            <a:r>
              <a:rPr b="1" lang="de" sz="2300">
                <a:solidFill>
                  <a:srgbClr val="000000"/>
                </a:solidFill>
                <a:latin typeface="Arial"/>
                <a:ea typeface="Arial"/>
                <a:cs typeface="Arial"/>
                <a:sym typeface="Arial"/>
              </a:rPr>
              <a:t>Video 2:</a:t>
            </a:r>
            <a:r>
              <a:rPr lang="de" sz="2300">
                <a:solidFill>
                  <a:srgbClr val="000000"/>
                </a:solidFill>
                <a:latin typeface="Arial"/>
                <a:ea typeface="Arial"/>
                <a:cs typeface="Arial"/>
                <a:sym typeface="Arial"/>
              </a:rPr>
              <a:t> Indo-Chinese, London, UK (originated from Calcutta, India) | </a:t>
            </a:r>
            <a:r>
              <a:rPr b="1" lang="de" sz="2300">
                <a:solidFill>
                  <a:srgbClr val="000000"/>
                </a:solidFill>
                <a:latin typeface="Arial"/>
                <a:ea typeface="Arial"/>
                <a:cs typeface="Arial"/>
                <a:sym typeface="Arial"/>
              </a:rPr>
              <a:t>Video 3</a:t>
            </a:r>
            <a:r>
              <a:rPr lang="de" sz="2300">
                <a:solidFill>
                  <a:srgbClr val="000000"/>
                </a:solidFill>
                <a:latin typeface="Arial"/>
                <a:ea typeface="Arial"/>
                <a:cs typeface="Arial"/>
                <a:sym typeface="Arial"/>
              </a:rPr>
              <a:t>: Indian/Desi, North London, UK  </a:t>
            </a:r>
            <a:endParaRPr sz="2300">
              <a:solidFill>
                <a:srgbClr val="000000"/>
              </a:solidFill>
              <a:latin typeface="Arial"/>
              <a:ea typeface="Arial"/>
              <a:cs typeface="Arial"/>
              <a:sym typeface="Arial"/>
            </a:endParaRPr>
          </a:p>
          <a:p>
            <a:pPr indent="0" lvl="0" marL="0" rtl="0" algn="l">
              <a:spcBef>
                <a:spcPts val="0"/>
              </a:spcBef>
              <a:spcAft>
                <a:spcPts val="0"/>
              </a:spcAft>
              <a:buNone/>
            </a:pPr>
            <a:r>
              <a:rPr b="1" lang="de" sz="2300">
                <a:solidFill>
                  <a:srgbClr val="000000"/>
                </a:solidFill>
                <a:latin typeface="Arial"/>
                <a:ea typeface="Arial"/>
                <a:cs typeface="Arial"/>
                <a:sym typeface="Arial"/>
              </a:rPr>
              <a:t>Video 4:</a:t>
            </a:r>
            <a:r>
              <a:rPr lang="de" sz="2300">
                <a:solidFill>
                  <a:srgbClr val="000000"/>
                </a:solidFill>
                <a:latin typeface="Arial"/>
                <a:ea typeface="Arial"/>
                <a:cs typeface="Arial"/>
                <a:sym typeface="Arial"/>
              </a:rPr>
              <a:t> Italian, Caldwell (New Jersey, USA) </a:t>
            </a:r>
            <a:endParaRPr sz="2300">
              <a:solidFill>
                <a:srgbClr val="000000"/>
              </a:solidFill>
              <a:latin typeface="Arial"/>
              <a:ea typeface="Arial"/>
              <a:cs typeface="Arial"/>
              <a:sym typeface="Arial"/>
            </a:endParaRPr>
          </a:p>
          <a:p>
            <a:pPr indent="0" lvl="0" marL="0" rtl="0" algn="l">
              <a:spcBef>
                <a:spcPts val="0"/>
              </a:spcBef>
              <a:spcAft>
                <a:spcPts val="0"/>
              </a:spcAft>
              <a:buNone/>
            </a:pPr>
            <a:r>
              <a:rPr b="1" lang="de" sz="2300">
                <a:solidFill>
                  <a:srgbClr val="000000"/>
                </a:solidFill>
                <a:latin typeface="Arial"/>
                <a:ea typeface="Arial"/>
                <a:cs typeface="Arial"/>
                <a:sym typeface="Arial"/>
              </a:rPr>
              <a:t>Video 5:</a:t>
            </a:r>
            <a:r>
              <a:rPr lang="de" sz="2300">
                <a:solidFill>
                  <a:srgbClr val="000000"/>
                </a:solidFill>
                <a:latin typeface="Arial"/>
                <a:ea typeface="Arial"/>
                <a:cs typeface="Arial"/>
                <a:sym typeface="Arial"/>
              </a:rPr>
              <a:t> American, Chicago, USA  </a:t>
            </a:r>
            <a:endParaRPr sz="2300">
              <a:solidFill>
                <a:srgbClr val="000000"/>
              </a:solidFill>
              <a:latin typeface="Arial"/>
              <a:ea typeface="Arial"/>
              <a:cs typeface="Arial"/>
              <a:sym typeface="Arial"/>
            </a:endParaRPr>
          </a:p>
          <a:p>
            <a:pPr indent="0" lvl="0" marL="0" rtl="0" algn="l">
              <a:spcBef>
                <a:spcPts val="0"/>
              </a:spcBef>
              <a:spcAft>
                <a:spcPts val="0"/>
              </a:spcAft>
              <a:buNone/>
            </a:pPr>
            <a:r>
              <a:rPr b="1" lang="de" sz="2300">
                <a:solidFill>
                  <a:srgbClr val="000000"/>
                </a:solidFill>
                <a:latin typeface="Arial"/>
                <a:ea typeface="Arial"/>
                <a:cs typeface="Arial"/>
                <a:sym typeface="Arial"/>
              </a:rPr>
              <a:t>Video 6:</a:t>
            </a:r>
            <a:r>
              <a:rPr lang="de" sz="2300">
                <a:solidFill>
                  <a:srgbClr val="000000"/>
                </a:solidFill>
                <a:latin typeface="Arial"/>
                <a:ea typeface="Arial"/>
                <a:cs typeface="Arial"/>
                <a:sym typeface="Arial"/>
              </a:rPr>
              <a:t> Modern/Fusion</a:t>
            </a:r>
            <a:endParaRPr sz="2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309225"/>
            <a:ext cx="7505700" cy="380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de" sz="1400">
                <a:solidFill>
                  <a:srgbClr val="000000"/>
                </a:solidFill>
                <a:latin typeface="Arial"/>
                <a:ea typeface="Arial"/>
                <a:cs typeface="Arial"/>
                <a:sym typeface="Arial"/>
              </a:rPr>
              <a:t>What words and phrases were used to describe the food?</a:t>
            </a:r>
            <a:endParaRPr b="1" sz="1400">
              <a:solidFill>
                <a:srgbClr val="000000"/>
              </a:solidFill>
              <a:latin typeface="Arial"/>
              <a:ea typeface="Arial"/>
              <a:cs typeface="Arial"/>
              <a:sym typeface="Arial"/>
            </a:endParaRPr>
          </a:p>
          <a:p>
            <a:pPr indent="0" lvl="0" marL="0" rtl="0" algn="l">
              <a:lnSpc>
                <a:spcPct val="115000"/>
              </a:lnSpc>
              <a:spcBef>
                <a:spcPts val="0"/>
              </a:spcBef>
              <a:spcAft>
                <a:spcPts val="0"/>
              </a:spcAft>
              <a:buSzPts val="990"/>
              <a:buNone/>
            </a:pPr>
            <a:r>
              <a:t/>
            </a:r>
            <a:endParaRPr b="1" sz="1760">
              <a:solidFill>
                <a:srgbClr val="000000"/>
              </a:solidFill>
              <a:latin typeface="Arial"/>
              <a:ea typeface="Arial"/>
              <a:cs typeface="Arial"/>
              <a:sym typeface="Arial"/>
            </a:endParaRPr>
          </a:p>
        </p:txBody>
      </p:sp>
      <p:sp>
        <p:nvSpPr>
          <p:cNvPr id="147" name="Google Shape;147;p16"/>
          <p:cNvSpPr txBox="1"/>
          <p:nvPr>
            <p:ph idx="1" type="body"/>
          </p:nvPr>
        </p:nvSpPr>
        <p:spPr>
          <a:xfrm>
            <a:off x="415950" y="753475"/>
            <a:ext cx="8312100" cy="41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de" sz="2300">
                <a:solidFill>
                  <a:srgbClr val="000000"/>
                </a:solidFill>
                <a:latin typeface="Arial"/>
                <a:ea typeface="Arial"/>
                <a:cs typeface="Arial"/>
                <a:sym typeface="Arial"/>
              </a:rPr>
              <a:t>Taste &amp; Flavor:</a:t>
            </a:r>
            <a:r>
              <a:rPr lang="de" sz="2300">
                <a:solidFill>
                  <a:srgbClr val="000000"/>
                </a:solidFill>
                <a:latin typeface="Arial"/>
                <a:ea typeface="Arial"/>
                <a:cs typeface="Arial"/>
                <a:sym typeface="Arial"/>
              </a:rPr>
              <a:t> spicy, creamy and tasty, sweet, perfect level of spice, delicious, "party of flavours", soft and tender, "like nectar", phenomenal, excellent</a:t>
            </a:r>
            <a:endParaRPr sz="4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819150" y="309225"/>
            <a:ext cx="7505700" cy="380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de" sz="1400">
                <a:solidFill>
                  <a:srgbClr val="000000"/>
                </a:solidFill>
                <a:latin typeface="Arial"/>
                <a:ea typeface="Arial"/>
                <a:cs typeface="Arial"/>
                <a:sym typeface="Arial"/>
              </a:rPr>
              <a:t>What words and phrases were used to describe the food?</a:t>
            </a:r>
            <a:endParaRPr b="1" sz="1400">
              <a:solidFill>
                <a:srgbClr val="000000"/>
              </a:solidFill>
              <a:latin typeface="Arial"/>
              <a:ea typeface="Arial"/>
              <a:cs typeface="Arial"/>
              <a:sym typeface="Arial"/>
            </a:endParaRPr>
          </a:p>
          <a:p>
            <a:pPr indent="0" lvl="0" marL="0" rtl="0" algn="l">
              <a:lnSpc>
                <a:spcPct val="115000"/>
              </a:lnSpc>
              <a:spcBef>
                <a:spcPts val="0"/>
              </a:spcBef>
              <a:spcAft>
                <a:spcPts val="0"/>
              </a:spcAft>
              <a:buSzPts val="990"/>
              <a:buNone/>
            </a:pPr>
            <a:r>
              <a:t/>
            </a:r>
            <a:endParaRPr b="1" sz="1760">
              <a:solidFill>
                <a:srgbClr val="000000"/>
              </a:solidFill>
              <a:latin typeface="Arial"/>
              <a:ea typeface="Arial"/>
              <a:cs typeface="Arial"/>
              <a:sym typeface="Arial"/>
            </a:endParaRPr>
          </a:p>
        </p:txBody>
      </p:sp>
      <p:sp>
        <p:nvSpPr>
          <p:cNvPr id="153" name="Google Shape;153;p17"/>
          <p:cNvSpPr txBox="1"/>
          <p:nvPr>
            <p:ph idx="1" type="body"/>
          </p:nvPr>
        </p:nvSpPr>
        <p:spPr>
          <a:xfrm>
            <a:off x="415950" y="753475"/>
            <a:ext cx="8312100" cy="41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de" sz="2300">
                <a:solidFill>
                  <a:srgbClr val="000000"/>
                </a:solidFill>
                <a:latin typeface="Arial"/>
                <a:ea typeface="Arial"/>
                <a:cs typeface="Arial"/>
                <a:sym typeface="Arial"/>
              </a:rPr>
              <a:t>Taste &amp; Flavor:</a:t>
            </a:r>
            <a:r>
              <a:rPr lang="de" sz="2300">
                <a:solidFill>
                  <a:srgbClr val="000000"/>
                </a:solidFill>
                <a:latin typeface="Arial"/>
                <a:ea typeface="Arial"/>
                <a:cs typeface="Arial"/>
                <a:sym typeface="Arial"/>
              </a:rPr>
              <a:t> spicy, creamy and tasty, sweet, perfect level of spice, delicious, "party of flavours", soft and tender, "like nectar", phenomenal, excellent</a:t>
            </a:r>
            <a:endParaRPr sz="2300">
              <a:solidFill>
                <a:srgbClr val="000000"/>
              </a:solidFill>
              <a:latin typeface="Arial"/>
              <a:ea typeface="Arial"/>
              <a:cs typeface="Arial"/>
              <a:sym typeface="Arial"/>
            </a:endParaRPr>
          </a:p>
          <a:p>
            <a:pPr indent="0" lvl="0" marL="0" rtl="0" algn="l">
              <a:spcBef>
                <a:spcPts val="0"/>
              </a:spcBef>
              <a:spcAft>
                <a:spcPts val="0"/>
              </a:spcAft>
              <a:buNone/>
            </a:pPr>
            <a:r>
              <a:rPr b="1" lang="de" sz="2300">
                <a:solidFill>
                  <a:srgbClr val="000000"/>
                </a:solidFill>
                <a:latin typeface="Arial"/>
                <a:ea typeface="Arial"/>
                <a:cs typeface="Arial"/>
                <a:sym typeface="Arial"/>
              </a:rPr>
              <a:t>Texture:</a:t>
            </a:r>
            <a:r>
              <a:rPr lang="de" sz="2300">
                <a:solidFill>
                  <a:srgbClr val="000000"/>
                </a:solidFill>
                <a:latin typeface="Arial"/>
                <a:ea typeface="Arial"/>
                <a:cs typeface="Arial"/>
                <a:sym typeface="Arial"/>
              </a:rPr>
              <a:t> crispy, flaky, soft and pillowy, "little crunch", "amazing, crispy, flaky texture", "pulls off the bone", not oily</a:t>
            </a:r>
            <a:endParaRPr sz="350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title"/>
          </p:nvPr>
        </p:nvSpPr>
        <p:spPr>
          <a:xfrm>
            <a:off x="819150" y="309225"/>
            <a:ext cx="7505700" cy="380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de" sz="1400">
                <a:solidFill>
                  <a:srgbClr val="000000"/>
                </a:solidFill>
                <a:latin typeface="Arial"/>
                <a:ea typeface="Arial"/>
                <a:cs typeface="Arial"/>
                <a:sym typeface="Arial"/>
              </a:rPr>
              <a:t>What words and phrases were used to describe the food?</a:t>
            </a:r>
            <a:endParaRPr b="1" sz="1400">
              <a:solidFill>
                <a:srgbClr val="000000"/>
              </a:solidFill>
              <a:latin typeface="Arial"/>
              <a:ea typeface="Arial"/>
              <a:cs typeface="Arial"/>
              <a:sym typeface="Arial"/>
            </a:endParaRPr>
          </a:p>
          <a:p>
            <a:pPr indent="0" lvl="0" marL="0" rtl="0" algn="l">
              <a:lnSpc>
                <a:spcPct val="115000"/>
              </a:lnSpc>
              <a:spcBef>
                <a:spcPts val="0"/>
              </a:spcBef>
              <a:spcAft>
                <a:spcPts val="0"/>
              </a:spcAft>
              <a:buSzPts val="990"/>
              <a:buNone/>
            </a:pPr>
            <a:r>
              <a:t/>
            </a:r>
            <a:endParaRPr b="1" sz="1760">
              <a:solidFill>
                <a:srgbClr val="000000"/>
              </a:solidFill>
              <a:latin typeface="Arial"/>
              <a:ea typeface="Arial"/>
              <a:cs typeface="Arial"/>
              <a:sym typeface="Arial"/>
            </a:endParaRPr>
          </a:p>
        </p:txBody>
      </p:sp>
      <p:sp>
        <p:nvSpPr>
          <p:cNvPr id="159" name="Google Shape;159;p18"/>
          <p:cNvSpPr txBox="1"/>
          <p:nvPr>
            <p:ph idx="1" type="body"/>
          </p:nvPr>
        </p:nvSpPr>
        <p:spPr>
          <a:xfrm>
            <a:off x="415950" y="753475"/>
            <a:ext cx="8312100" cy="41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de" sz="2300">
                <a:solidFill>
                  <a:srgbClr val="000000"/>
                </a:solidFill>
                <a:latin typeface="Arial"/>
                <a:ea typeface="Arial"/>
                <a:cs typeface="Arial"/>
                <a:sym typeface="Arial"/>
              </a:rPr>
              <a:t>Taste &amp; Flavor:</a:t>
            </a:r>
            <a:r>
              <a:rPr lang="de" sz="2300">
                <a:solidFill>
                  <a:srgbClr val="000000"/>
                </a:solidFill>
                <a:latin typeface="Arial"/>
                <a:ea typeface="Arial"/>
                <a:cs typeface="Arial"/>
                <a:sym typeface="Arial"/>
              </a:rPr>
              <a:t> spicy, creamy and tasty, sweet, perfect level of spice, delicious, "party of flavours", soft and tender, "like nectar", phenomenal, excellent,</a:t>
            </a:r>
            <a:endParaRPr sz="2300">
              <a:solidFill>
                <a:srgbClr val="000000"/>
              </a:solidFill>
              <a:latin typeface="Arial"/>
              <a:ea typeface="Arial"/>
              <a:cs typeface="Arial"/>
              <a:sym typeface="Arial"/>
            </a:endParaRPr>
          </a:p>
          <a:p>
            <a:pPr indent="0" lvl="0" marL="0" rtl="0" algn="l">
              <a:spcBef>
                <a:spcPts val="0"/>
              </a:spcBef>
              <a:spcAft>
                <a:spcPts val="0"/>
              </a:spcAft>
              <a:buNone/>
            </a:pPr>
            <a:r>
              <a:rPr b="1" lang="de" sz="2300">
                <a:solidFill>
                  <a:srgbClr val="000000"/>
                </a:solidFill>
                <a:latin typeface="Arial"/>
                <a:ea typeface="Arial"/>
                <a:cs typeface="Arial"/>
                <a:sym typeface="Arial"/>
              </a:rPr>
              <a:t>Texture:</a:t>
            </a:r>
            <a:r>
              <a:rPr lang="de" sz="2300">
                <a:solidFill>
                  <a:srgbClr val="000000"/>
                </a:solidFill>
                <a:latin typeface="Arial"/>
                <a:ea typeface="Arial"/>
                <a:cs typeface="Arial"/>
                <a:sym typeface="Arial"/>
              </a:rPr>
              <a:t> crispy, flaky, soft and pillowy, "little crunch", "amazing, crispy, flaky texture", "pulls off the bone", not oily</a:t>
            </a:r>
            <a:endParaRPr sz="2300">
              <a:solidFill>
                <a:srgbClr val="000000"/>
              </a:solidFill>
              <a:latin typeface="Arial"/>
              <a:ea typeface="Arial"/>
              <a:cs typeface="Arial"/>
              <a:sym typeface="Arial"/>
            </a:endParaRPr>
          </a:p>
          <a:p>
            <a:pPr indent="0" lvl="0" marL="0" rtl="0" algn="l">
              <a:spcBef>
                <a:spcPts val="0"/>
              </a:spcBef>
              <a:spcAft>
                <a:spcPts val="0"/>
              </a:spcAft>
              <a:buNone/>
            </a:pPr>
            <a:r>
              <a:rPr b="1" lang="de" sz="2300">
                <a:solidFill>
                  <a:srgbClr val="000000"/>
                </a:solidFill>
                <a:latin typeface="Arial"/>
                <a:ea typeface="Arial"/>
                <a:cs typeface="Arial"/>
                <a:sym typeface="Arial"/>
              </a:rPr>
              <a:t>Size &amp; Portion:</a:t>
            </a:r>
            <a:r>
              <a:rPr lang="de" sz="2300">
                <a:solidFill>
                  <a:srgbClr val="000000"/>
                </a:solidFill>
                <a:latin typeface="Arial"/>
                <a:ea typeface="Arial"/>
                <a:cs typeface="Arial"/>
                <a:sym typeface="Arial"/>
              </a:rPr>
              <a:t> "gargantuan" (very large), "small plates"</a:t>
            </a:r>
            <a:endParaRPr sz="230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type="title"/>
          </p:nvPr>
        </p:nvSpPr>
        <p:spPr>
          <a:xfrm>
            <a:off x="819150" y="309225"/>
            <a:ext cx="7505700" cy="380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de" sz="1400">
                <a:solidFill>
                  <a:srgbClr val="000000"/>
                </a:solidFill>
                <a:latin typeface="Arial"/>
                <a:ea typeface="Arial"/>
                <a:cs typeface="Arial"/>
                <a:sym typeface="Arial"/>
              </a:rPr>
              <a:t>What words and phrases were used to describe the food?</a:t>
            </a:r>
            <a:endParaRPr b="1" sz="1400">
              <a:solidFill>
                <a:srgbClr val="000000"/>
              </a:solidFill>
              <a:latin typeface="Arial"/>
              <a:ea typeface="Arial"/>
              <a:cs typeface="Arial"/>
              <a:sym typeface="Arial"/>
            </a:endParaRPr>
          </a:p>
          <a:p>
            <a:pPr indent="0" lvl="0" marL="0" rtl="0" algn="l">
              <a:lnSpc>
                <a:spcPct val="115000"/>
              </a:lnSpc>
              <a:spcBef>
                <a:spcPts val="0"/>
              </a:spcBef>
              <a:spcAft>
                <a:spcPts val="0"/>
              </a:spcAft>
              <a:buSzPts val="990"/>
              <a:buNone/>
            </a:pPr>
            <a:r>
              <a:t/>
            </a:r>
            <a:endParaRPr b="1" sz="1760">
              <a:solidFill>
                <a:srgbClr val="000000"/>
              </a:solidFill>
              <a:latin typeface="Arial"/>
              <a:ea typeface="Arial"/>
              <a:cs typeface="Arial"/>
              <a:sym typeface="Arial"/>
            </a:endParaRPr>
          </a:p>
        </p:txBody>
      </p:sp>
      <p:sp>
        <p:nvSpPr>
          <p:cNvPr id="165" name="Google Shape;165;p19"/>
          <p:cNvSpPr txBox="1"/>
          <p:nvPr>
            <p:ph idx="1" type="body"/>
          </p:nvPr>
        </p:nvSpPr>
        <p:spPr>
          <a:xfrm>
            <a:off x="415950" y="753475"/>
            <a:ext cx="8312100" cy="41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de" sz="2300">
                <a:solidFill>
                  <a:srgbClr val="000000"/>
                </a:solidFill>
                <a:latin typeface="Arial"/>
                <a:ea typeface="Arial"/>
                <a:cs typeface="Arial"/>
                <a:sym typeface="Arial"/>
              </a:rPr>
              <a:t>Taste &amp; Flavor:</a:t>
            </a:r>
            <a:r>
              <a:rPr lang="de" sz="2300">
                <a:solidFill>
                  <a:srgbClr val="000000"/>
                </a:solidFill>
                <a:latin typeface="Arial"/>
                <a:ea typeface="Arial"/>
                <a:cs typeface="Arial"/>
                <a:sym typeface="Arial"/>
              </a:rPr>
              <a:t> spicy, creamy and tasty, sweet, perfect level of spice, delicious, "party of flavours", soft and tender, "like nectar", phenomenal, excellent</a:t>
            </a:r>
            <a:endParaRPr sz="2300">
              <a:solidFill>
                <a:srgbClr val="000000"/>
              </a:solidFill>
              <a:latin typeface="Arial"/>
              <a:ea typeface="Arial"/>
              <a:cs typeface="Arial"/>
              <a:sym typeface="Arial"/>
            </a:endParaRPr>
          </a:p>
          <a:p>
            <a:pPr indent="0" lvl="0" marL="0" rtl="0" algn="l">
              <a:spcBef>
                <a:spcPts val="0"/>
              </a:spcBef>
              <a:spcAft>
                <a:spcPts val="0"/>
              </a:spcAft>
              <a:buNone/>
            </a:pPr>
            <a:r>
              <a:rPr b="1" lang="de" sz="2300">
                <a:solidFill>
                  <a:srgbClr val="000000"/>
                </a:solidFill>
                <a:latin typeface="Arial"/>
                <a:ea typeface="Arial"/>
                <a:cs typeface="Arial"/>
                <a:sym typeface="Arial"/>
              </a:rPr>
              <a:t>Texture:</a:t>
            </a:r>
            <a:r>
              <a:rPr lang="de" sz="2300">
                <a:solidFill>
                  <a:srgbClr val="000000"/>
                </a:solidFill>
                <a:latin typeface="Arial"/>
                <a:ea typeface="Arial"/>
                <a:cs typeface="Arial"/>
                <a:sym typeface="Arial"/>
              </a:rPr>
              <a:t> crispy, flaky, soft and pillowy, "little crunch", "amazing, crispy, flaky texture", "pulls off the bone", not oily</a:t>
            </a:r>
            <a:endParaRPr sz="2300">
              <a:solidFill>
                <a:srgbClr val="000000"/>
              </a:solidFill>
              <a:latin typeface="Arial"/>
              <a:ea typeface="Arial"/>
              <a:cs typeface="Arial"/>
              <a:sym typeface="Arial"/>
            </a:endParaRPr>
          </a:p>
          <a:p>
            <a:pPr indent="0" lvl="0" marL="0" rtl="0" algn="l">
              <a:spcBef>
                <a:spcPts val="0"/>
              </a:spcBef>
              <a:spcAft>
                <a:spcPts val="0"/>
              </a:spcAft>
              <a:buNone/>
            </a:pPr>
            <a:r>
              <a:rPr b="1" lang="de" sz="2300">
                <a:solidFill>
                  <a:srgbClr val="000000"/>
                </a:solidFill>
                <a:latin typeface="Arial"/>
                <a:ea typeface="Arial"/>
                <a:cs typeface="Arial"/>
                <a:sym typeface="Arial"/>
              </a:rPr>
              <a:t>Size &amp; Portion:</a:t>
            </a:r>
            <a:r>
              <a:rPr lang="de" sz="2300">
                <a:solidFill>
                  <a:srgbClr val="000000"/>
                </a:solidFill>
                <a:latin typeface="Arial"/>
                <a:ea typeface="Arial"/>
                <a:cs typeface="Arial"/>
                <a:sym typeface="Arial"/>
              </a:rPr>
              <a:t> "gargantuan" (very large), "small plates"</a:t>
            </a:r>
            <a:endParaRPr sz="2300">
              <a:solidFill>
                <a:srgbClr val="000000"/>
              </a:solidFill>
              <a:latin typeface="Arial"/>
              <a:ea typeface="Arial"/>
              <a:cs typeface="Arial"/>
              <a:sym typeface="Arial"/>
            </a:endParaRPr>
          </a:p>
          <a:p>
            <a:pPr indent="0" lvl="0" marL="0" rtl="0" algn="l">
              <a:spcBef>
                <a:spcPts val="0"/>
              </a:spcBef>
              <a:spcAft>
                <a:spcPts val="0"/>
              </a:spcAft>
              <a:buNone/>
            </a:pPr>
            <a:r>
              <a:rPr b="1" lang="de" sz="2300">
                <a:solidFill>
                  <a:srgbClr val="000000"/>
                </a:solidFill>
                <a:latin typeface="Arial"/>
                <a:ea typeface="Arial"/>
                <a:cs typeface="Arial"/>
                <a:sym typeface="Arial"/>
              </a:rPr>
              <a:t>Quality &amp; Experience:</a:t>
            </a:r>
            <a:r>
              <a:rPr lang="de" sz="2300">
                <a:solidFill>
                  <a:srgbClr val="000000"/>
                </a:solidFill>
                <a:latin typeface="Arial"/>
                <a:ea typeface="Arial"/>
                <a:cs typeface="Arial"/>
                <a:sym typeface="Arial"/>
              </a:rPr>
              <a:t> Fresh (to order), famous, iconic, signature, legendary, beloved, "mega viral", "best I've tried", incredible, fantastic, terrific, special, "what a feast", legit</a:t>
            </a:r>
            <a:endParaRPr sz="230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819150" y="309225"/>
            <a:ext cx="7505700" cy="380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de" sz="1400">
                <a:solidFill>
                  <a:srgbClr val="000000"/>
                </a:solidFill>
                <a:latin typeface="Arial"/>
                <a:ea typeface="Arial"/>
                <a:cs typeface="Arial"/>
                <a:sym typeface="Arial"/>
              </a:rPr>
              <a:t>What words and phrases were used to describe the food?</a:t>
            </a:r>
            <a:endParaRPr b="1" sz="1400">
              <a:solidFill>
                <a:srgbClr val="000000"/>
              </a:solidFill>
              <a:latin typeface="Arial"/>
              <a:ea typeface="Arial"/>
              <a:cs typeface="Arial"/>
              <a:sym typeface="Arial"/>
            </a:endParaRPr>
          </a:p>
          <a:p>
            <a:pPr indent="0" lvl="0" marL="0" rtl="0" algn="l">
              <a:lnSpc>
                <a:spcPct val="115000"/>
              </a:lnSpc>
              <a:spcBef>
                <a:spcPts val="0"/>
              </a:spcBef>
              <a:spcAft>
                <a:spcPts val="0"/>
              </a:spcAft>
              <a:buSzPts val="990"/>
              <a:buNone/>
            </a:pPr>
            <a:r>
              <a:t/>
            </a:r>
            <a:endParaRPr b="1" sz="1760">
              <a:solidFill>
                <a:srgbClr val="000000"/>
              </a:solidFill>
              <a:latin typeface="Arial"/>
              <a:ea typeface="Arial"/>
              <a:cs typeface="Arial"/>
              <a:sym typeface="Arial"/>
            </a:endParaRPr>
          </a:p>
        </p:txBody>
      </p:sp>
      <p:sp>
        <p:nvSpPr>
          <p:cNvPr id="171" name="Google Shape;171;p20"/>
          <p:cNvSpPr txBox="1"/>
          <p:nvPr>
            <p:ph idx="1" type="body"/>
          </p:nvPr>
        </p:nvSpPr>
        <p:spPr>
          <a:xfrm>
            <a:off x="415950" y="753475"/>
            <a:ext cx="8312100" cy="41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de" sz="2300">
                <a:solidFill>
                  <a:srgbClr val="000000"/>
                </a:solidFill>
                <a:latin typeface="Arial"/>
                <a:ea typeface="Arial"/>
                <a:cs typeface="Arial"/>
                <a:sym typeface="Arial"/>
              </a:rPr>
              <a:t>Quality &amp; Experience:</a:t>
            </a:r>
            <a:r>
              <a:rPr lang="de" sz="2300">
                <a:solidFill>
                  <a:srgbClr val="000000"/>
                </a:solidFill>
                <a:latin typeface="Arial"/>
                <a:ea typeface="Arial"/>
                <a:cs typeface="Arial"/>
                <a:sym typeface="Arial"/>
              </a:rPr>
              <a:t> Fresh (to order), famous, iconic, signature, legendary, beloved, "mega viral", "best I've tried", incredible, fantastic, terrific, special, "what a feast", legit</a:t>
            </a:r>
            <a:endParaRPr sz="2300">
              <a:solidFill>
                <a:srgbClr val="000000"/>
              </a:solidFill>
              <a:latin typeface="Arial"/>
              <a:ea typeface="Arial"/>
              <a:cs typeface="Arial"/>
              <a:sym typeface="Arial"/>
            </a:endParaRPr>
          </a:p>
          <a:p>
            <a:pPr indent="0" lvl="0" marL="0" rtl="0" algn="l">
              <a:spcBef>
                <a:spcPts val="0"/>
              </a:spcBef>
              <a:spcAft>
                <a:spcPts val="0"/>
              </a:spcAft>
              <a:buNone/>
            </a:pPr>
            <a:r>
              <a:rPr b="1" lang="de" sz="2300">
                <a:solidFill>
                  <a:srgbClr val="000000"/>
                </a:solidFill>
                <a:latin typeface="Arial"/>
                <a:ea typeface="Arial"/>
                <a:cs typeface="Arial"/>
                <a:sym typeface="Arial"/>
              </a:rPr>
              <a:t>Creative Descriptions:</a:t>
            </a:r>
            <a:r>
              <a:rPr lang="de" sz="2300">
                <a:solidFill>
                  <a:srgbClr val="000000"/>
                </a:solidFill>
                <a:latin typeface="Arial"/>
                <a:ea typeface="Arial"/>
                <a:cs typeface="Arial"/>
                <a:sym typeface="Arial"/>
              </a:rPr>
              <a:t> "Went really well with...", "put me right in the food coma", "shocked how much I love this", "rocks", "ridiculous" (in a good way), "sounds kind of unnecessary, but tastes absolutely necessary", “decadent” (rich and indulgent)</a:t>
            </a:r>
            <a:endParaRPr sz="2300">
              <a:solidFill>
                <a:srgbClr val="000000"/>
              </a:solidFill>
              <a:latin typeface="Arial"/>
              <a:ea typeface="Arial"/>
              <a:cs typeface="Arial"/>
              <a:sym typeface="Arial"/>
            </a:endParaRPr>
          </a:p>
          <a:p>
            <a:pPr indent="0" lvl="0" marL="0" rtl="0" algn="l">
              <a:spcBef>
                <a:spcPts val="0"/>
              </a:spcBef>
              <a:spcAft>
                <a:spcPts val="0"/>
              </a:spcAft>
              <a:buNone/>
            </a:pPr>
            <a:r>
              <a:t/>
            </a:r>
            <a:endParaRPr sz="230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1"/>
          <p:cNvSpPr txBox="1"/>
          <p:nvPr>
            <p:ph type="title"/>
          </p:nvPr>
        </p:nvSpPr>
        <p:spPr>
          <a:xfrm>
            <a:off x="819150" y="309225"/>
            <a:ext cx="7505700" cy="380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de" sz="1400">
                <a:solidFill>
                  <a:srgbClr val="000000"/>
                </a:solidFill>
                <a:latin typeface="Arial"/>
                <a:ea typeface="Arial"/>
                <a:cs typeface="Arial"/>
                <a:sym typeface="Arial"/>
              </a:rPr>
              <a:t>What words and phrases were used to describe the food?</a:t>
            </a:r>
            <a:endParaRPr b="1" sz="1400">
              <a:solidFill>
                <a:srgbClr val="000000"/>
              </a:solidFill>
              <a:latin typeface="Arial"/>
              <a:ea typeface="Arial"/>
              <a:cs typeface="Arial"/>
              <a:sym typeface="Arial"/>
            </a:endParaRPr>
          </a:p>
          <a:p>
            <a:pPr indent="0" lvl="0" marL="0" rtl="0" algn="l">
              <a:lnSpc>
                <a:spcPct val="115000"/>
              </a:lnSpc>
              <a:spcBef>
                <a:spcPts val="0"/>
              </a:spcBef>
              <a:spcAft>
                <a:spcPts val="0"/>
              </a:spcAft>
              <a:buSzPts val="990"/>
              <a:buNone/>
            </a:pPr>
            <a:r>
              <a:t/>
            </a:r>
            <a:endParaRPr b="1" sz="1760">
              <a:solidFill>
                <a:srgbClr val="000000"/>
              </a:solidFill>
              <a:latin typeface="Arial"/>
              <a:ea typeface="Arial"/>
              <a:cs typeface="Arial"/>
              <a:sym typeface="Arial"/>
            </a:endParaRPr>
          </a:p>
        </p:txBody>
      </p:sp>
      <p:sp>
        <p:nvSpPr>
          <p:cNvPr id="177" name="Google Shape;177;p21"/>
          <p:cNvSpPr txBox="1"/>
          <p:nvPr>
            <p:ph idx="1" type="body"/>
          </p:nvPr>
        </p:nvSpPr>
        <p:spPr>
          <a:xfrm>
            <a:off x="415950" y="753475"/>
            <a:ext cx="8312100" cy="41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de" sz="2300">
                <a:solidFill>
                  <a:srgbClr val="000000"/>
                </a:solidFill>
                <a:latin typeface="Arial"/>
                <a:ea typeface="Arial"/>
                <a:cs typeface="Arial"/>
                <a:sym typeface="Arial"/>
              </a:rPr>
              <a:t>Quality &amp; Experience:</a:t>
            </a:r>
            <a:r>
              <a:rPr lang="de" sz="2300">
                <a:solidFill>
                  <a:srgbClr val="000000"/>
                </a:solidFill>
                <a:latin typeface="Arial"/>
                <a:ea typeface="Arial"/>
                <a:cs typeface="Arial"/>
                <a:sym typeface="Arial"/>
              </a:rPr>
              <a:t> Fresh (to order), famous, iconic, signature, legendary, beloved, "mega viral", "best I've tried", incredible, fantastic, terrific, special, "what a feast", legit</a:t>
            </a:r>
            <a:endParaRPr sz="2300">
              <a:solidFill>
                <a:srgbClr val="000000"/>
              </a:solidFill>
              <a:latin typeface="Arial"/>
              <a:ea typeface="Arial"/>
              <a:cs typeface="Arial"/>
              <a:sym typeface="Arial"/>
            </a:endParaRPr>
          </a:p>
          <a:p>
            <a:pPr indent="0" lvl="0" marL="0" rtl="0" algn="l">
              <a:spcBef>
                <a:spcPts val="0"/>
              </a:spcBef>
              <a:spcAft>
                <a:spcPts val="0"/>
              </a:spcAft>
              <a:buNone/>
            </a:pPr>
            <a:r>
              <a:rPr b="1" lang="de" sz="2300">
                <a:solidFill>
                  <a:srgbClr val="000000"/>
                </a:solidFill>
                <a:latin typeface="Arial"/>
                <a:ea typeface="Arial"/>
                <a:cs typeface="Arial"/>
                <a:sym typeface="Arial"/>
              </a:rPr>
              <a:t>Creative Descriptions:</a:t>
            </a:r>
            <a:r>
              <a:rPr lang="de" sz="2300">
                <a:solidFill>
                  <a:srgbClr val="000000"/>
                </a:solidFill>
                <a:latin typeface="Arial"/>
                <a:ea typeface="Arial"/>
                <a:cs typeface="Arial"/>
                <a:sym typeface="Arial"/>
              </a:rPr>
              <a:t> "Went really well with...", "put me right in the food coma", "shocked how much I love this", "rocks", "ridiculous" (in a good way), "sounds kind of unnecessary, but tastes absolutely necessary", “decadent” (rich and indulgent)</a:t>
            </a:r>
            <a:endParaRPr sz="2300">
              <a:solidFill>
                <a:srgbClr val="000000"/>
              </a:solidFill>
              <a:latin typeface="Arial"/>
              <a:ea typeface="Arial"/>
              <a:cs typeface="Arial"/>
              <a:sym typeface="Arial"/>
            </a:endParaRPr>
          </a:p>
          <a:p>
            <a:pPr indent="0" lvl="0" marL="0" rtl="0" algn="l">
              <a:spcBef>
                <a:spcPts val="0"/>
              </a:spcBef>
              <a:spcAft>
                <a:spcPts val="0"/>
              </a:spcAft>
              <a:buNone/>
            </a:pPr>
            <a:r>
              <a:rPr b="1" lang="de" sz="2300">
                <a:solidFill>
                  <a:srgbClr val="000000"/>
                </a:solidFill>
                <a:latin typeface="Arial"/>
                <a:ea typeface="Arial"/>
                <a:cs typeface="Arial"/>
                <a:sym typeface="Arial"/>
              </a:rPr>
              <a:t>Negative/Neutral:</a:t>
            </a:r>
            <a:r>
              <a:rPr lang="de" sz="2300">
                <a:solidFill>
                  <a:srgbClr val="000000"/>
                </a:solidFill>
                <a:latin typeface="Arial"/>
                <a:ea typeface="Arial"/>
                <a:cs typeface="Arial"/>
                <a:sym typeface="Arial"/>
              </a:rPr>
              <a:t> "Wasn't great", overhyped (when something doesn't live up to expectations) </a:t>
            </a:r>
            <a:endParaRPr sz="2300">
              <a:solidFill>
                <a:srgbClr val="000000"/>
              </a:solidFill>
              <a:latin typeface="Arial"/>
              <a:ea typeface="Arial"/>
              <a:cs typeface="Arial"/>
              <a:sym typeface="Arial"/>
            </a:endParaRPr>
          </a:p>
          <a:p>
            <a:pPr indent="0" lvl="0" marL="0" rtl="0" algn="l">
              <a:spcBef>
                <a:spcPts val="0"/>
              </a:spcBef>
              <a:spcAft>
                <a:spcPts val="0"/>
              </a:spcAft>
              <a:buNone/>
            </a:pPr>
            <a:r>
              <a:t/>
            </a:r>
            <a:endParaRPr sz="230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ph type="title"/>
          </p:nvPr>
        </p:nvSpPr>
        <p:spPr>
          <a:xfrm>
            <a:off x="819150" y="309225"/>
            <a:ext cx="7505700" cy="380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de" sz="1400">
                <a:solidFill>
                  <a:srgbClr val="000000"/>
                </a:solidFill>
                <a:latin typeface="Arial"/>
                <a:ea typeface="Arial"/>
                <a:cs typeface="Arial"/>
                <a:sym typeface="Arial"/>
              </a:rPr>
              <a:t>What words and phrases were used to describe the food?</a:t>
            </a:r>
            <a:endParaRPr b="1" sz="1400">
              <a:solidFill>
                <a:srgbClr val="000000"/>
              </a:solidFill>
              <a:latin typeface="Arial"/>
              <a:ea typeface="Arial"/>
              <a:cs typeface="Arial"/>
              <a:sym typeface="Arial"/>
            </a:endParaRPr>
          </a:p>
          <a:p>
            <a:pPr indent="0" lvl="0" marL="0" rtl="0" algn="l">
              <a:lnSpc>
                <a:spcPct val="115000"/>
              </a:lnSpc>
              <a:spcBef>
                <a:spcPts val="0"/>
              </a:spcBef>
              <a:spcAft>
                <a:spcPts val="0"/>
              </a:spcAft>
              <a:buSzPts val="990"/>
              <a:buNone/>
            </a:pPr>
            <a:r>
              <a:t/>
            </a:r>
            <a:endParaRPr b="1" sz="1760">
              <a:solidFill>
                <a:srgbClr val="000000"/>
              </a:solidFill>
              <a:latin typeface="Arial"/>
              <a:ea typeface="Arial"/>
              <a:cs typeface="Arial"/>
              <a:sym typeface="Arial"/>
            </a:endParaRPr>
          </a:p>
        </p:txBody>
      </p:sp>
      <p:sp>
        <p:nvSpPr>
          <p:cNvPr id="183" name="Google Shape;183;p22"/>
          <p:cNvSpPr txBox="1"/>
          <p:nvPr>
            <p:ph idx="1" type="body"/>
          </p:nvPr>
        </p:nvSpPr>
        <p:spPr>
          <a:xfrm>
            <a:off x="415950" y="689625"/>
            <a:ext cx="8312100" cy="41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de" sz="2300">
                <a:solidFill>
                  <a:srgbClr val="000000"/>
                </a:solidFill>
                <a:latin typeface="Arial"/>
                <a:ea typeface="Arial"/>
                <a:cs typeface="Arial"/>
                <a:sym typeface="Arial"/>
              </a:rPr>
              <a:t>Creative Descriptions:</a:t>
            </a:r>
            <a:r>
              <a:rPr lang="de" sz="2300">
                <a:solidFill>
                  <a:srgbClr val="000000"/>
                </a:solidFill>
                <a:latin typeface="Arial"/>
                <a:ea typeface="Arial"/>
                <a:cs typeface="Arial"/>
                <a:sym typeface="Arial"/>
              </a:rPr>
              <a:t> "Went really well with...", "put me right in the food coma", "shocked how much I love this", "rocks", "ridiculous" (in a good way), "sounds kind of unnecessary, but tastes absolutely necessary", “decadent” (rich and indulgent)</a:t>
            </a:r>
            <a:endParaRPr sz="2300">
              <a:solidFill>
                <a:srgbClr val="000000"/>
              </a:solidFill>
              <a:latin typeface="Arial"/>
              <a:ea typeface="Arial"/>
              <a:cs typeface="Arial"/>
              <a:sym typeface="Arial"/>
            </a:endParaRPr>
          </a:p>
          <a:p>
            <a:pPr indent="0" lvl="0" marL="0" rtl="0" algn="l">
              <a:spcBef>
                <a:spcPts val="0"/>
              </a:spcBef>
              <a:spcAft>
                <a:spcPts val="0"/>
              </a:spcAft>
              <a:buNone/>
            </a:pPr>
            <a:r>
              <a:rPr b="1" lang="de" sz="2300">
                <a:solidFill>
                  <a:srgbClr val="000000"/>
                </a:solidFill>
                <a:latin typeface="Arial"/>
                <a:ea typeface="Arial"/>
                <a:cs typeface="Arial"/>
                <a:sym typeface="Arial"/>
              </a:rPr>
              <a:t>Negative/Neutral:</a:t>
            </a:r>
            <a:r>
              <a:rPr lang="de" sz="2300">
                <a:solidFill>
                  <a:srgbClr val="000000"/>
                </a:solidFill>
                <a:latin typeface="Arial"/>
                <a:ea typeface="Arial"/>
                <a:cs typeface="Arial"/>
                <a:sym typeface="Arial"/>
              </a:rPr>
              <a:t> "Wasn't great", overhyped (when something doesn't live up to expectations) </a:t>
            </a:r>
            <a:endParaRPr sz="2300">
              <a:solidFill>
                <a:srgbClr val="000000"/>
              </a:solidFill>
              <a:latin typeface="Arial"/>
              <a:ea typeface="Arial"/>
              <a:cs typeface="Arial"/>
              <a:sym typeface="Arial"/>
            </a:endParaRPr>
          </a:p>
          <a:p>
            <a:pPr indent="0" lvl="0" marL="0" rtl="0" algn="l">
              <a:spcBef>
                <a:spcPts val="0"/>
              </a:spcBef>
              <a:spcAft>
                <a:spcPts val="0"/>
              </a:spcAft>
              <a:buNone/>
            </a:pPr>
            <a:r>
              <a:rPr b="1" lang="de" sz="2300">
                <a:solidFill>
                  <a:srgbClr val="000000"/>
                </a:solidFill>
                <a:latin typeface="Arial"/>
                <a:ea typeface="Arial"/>
                <a:cs typeface="Arial"/>
                <a:sym typeface="Arial"/>
              </a:rPr>
              <a:t>Expressions to Talk About Food:</a:t>
            </a:r>
            <a:r>
              <a:rPr lang="de" sz="2300">
                <a:solidFill>
                  <a:srgbClr val="000000"/>
                </a:solidFill>
                <a:latin typeface="Arial"/>
                <a:ea typeface="Arial"/>
                <a:cs typeface="Arial"/>
                <a:sym typeface="Arial"/>
              </a:rPr>
              <a:t> "I'm craving...", "worth checking/trying", "can't leave without ordering...", "you simply cannot be mad at this", "you want to hate it, but you just can't stop eating it", "I see exactly what the fuss is about"</a:t>
            </a:r>
            <a:endParaRPr sz="2300">
              <a:solidFill>
                <a:srgbClr val="000000"/>
              </a:solidFill>
              <a:latin typeface="Arial"/>
              <a:ea typeface="Arial"/>
              <a:cs typeface="Arial"/>
              <a:sym typeface="Arial"/>
            </a:endParaRPr>
          </a:p>
          <a:p>
            <a:pPr indent="0" lvl="0" marL="0" rtl="0" algn="l">
              <a:spcBef>
                <a:spcPts val="0"/>
              </a:spcBef>
              <a:spcAft>
                <a:spcPts val="0"/>
              </a:spcAft>
              <a:buNone/>
            </a:pPr>
            <a:r>
              <a:t/>
            </a:r>
            <a:endParaRPr sz="230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