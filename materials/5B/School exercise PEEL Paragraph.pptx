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Merriweather" pitchFamily="2" charset="77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40" d="100"/>
          <a:sy n="140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c2c5bce2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c2c5bce2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c2c5bce2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c2c5bce28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c2c5bce28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c2c5bce28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c2c5bce28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c2c5bce28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c2c5bce28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c2c5bce28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c2c5bce28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c2c5bce28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c2c5bce28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c2c5bce28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c2c5bce2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c2c5bce2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c2c5bce28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c2c5bce28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c2c5bce28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c2c5bce28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2c5bce28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c2c5bce28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642f3f63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642f3f63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42f3f63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42f3f63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42f3f63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642f3f63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642f3f6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642f3f6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63850" y="539725"/>
            <a:ext cx="3831300" cy="28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/>
              <a:t>School exercise:</a:t>
            </a:r>
            <a:endParaRPr sz="3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/>
              <a:t>PEEL Paragraph</a:t>
            </a:r>
            <a:endParaRPr sz="3700"/>
          </a:p>
        </p:txBody>
      </p:sp>
      <p:pic>
        <p:nvPicPr>
          <p:cNvPr id="65" name="Google Shape;65;p13" title="ChatGPT Image 22. Okt. 2025, 17_52_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1014100" y="135707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6100"/>
              <a:t>What is ‘PEEL’?</a:t>
            </a:r>
            <a:endParaRPr sz="6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3000" b="1">
                <a:latin typeface="Arial"/>
                <a:ea typeface="Arial"/>
                <a:cs typeface="Arial"/>
                <a:sym typeface="Arial"/>
              </a:rPr>
              <a:t>PEEL</a:t>
            </a:r>
            <a:r>
              <a:rPr lang="de" sz="3000">
                <a:latin typeface="Arial"/>
                <a:ea typeface="Arial"/>
                <a:cs typeface="Arial"/>
                <a:sym typeface="Arial"/>
              </a:rPr>
              <a:t> is a writing structure that helps you argue a </a:t>
            </a:r>
            <a:r>
              <a:rPr lang="de" sz="3000" b="1"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de" sz="3000">
                <a:latin typeface="Arial"/>
                <a:ea typeface="Arial"/>
                <a:cs typeface="Arial"/>
                <a:sym typeface="Arial"/>
              </a:rPr>
              <a:t> clearly and convincingly. </a:t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3000" b="1">
                <a:latin typeface="Arial"/>
                <a:ea typeface="Arial"/>
                <a:cs typeface="Arial"/>
                <a:sym typeface="Arial"/>
              </a:rPr>
              <a:t>PEEL</a:t>
            </a:r>
            <a:r>
              <a:rPr lang="de" sz="3000">
                <a:latin typeface="Arial"/>
                <a:ea typeface="Arial"/>
                <a:cs typeface="Arial"/>
                <a:sym typeface="Arial"/>
              </a:rPr>
              <a:t> is a writing structure that helps you argue a </a:t>
            </a:r>
            <a:r>
              <a:rPr lang="de" sz="3000" b="1"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de" sz="3000">
                <a:latin typeface="Arial"/>
                <a:ea typeface="Arial"/>
                <a:cs typeface="Arial"/>
                <a:sym typeface="Arial"/>
              </a:rPr>
              <a:t> clearly and convincingly. </a:t>
            </a:r>
            <a:endParaRPr sz="3000"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de"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POINT?</a:t>
            </a:r>
            <a:endParaRPr sz="3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de" sz="2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your main argument or opinion about a topic.</a:t>
            </a:r>
            <a:b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" sz="2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German:</a:t>
            </a: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" sz="26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</a:t>
            </a: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de" sz="26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Behauptung</a:t>
            </a:r>
            <a:r>
              <a:rPr lang="de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de" sz="26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Standpunkt</a:t>
            </a:r>
            <a:endParaRPr sz="26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Elements of a PEEL paragraph: 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70350" y="1506975"/>
            <a:ext cx="82245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P</a:t>
            </a:r>
            <a:r>
              <a:rPr lang="de" sz="3000"/>
              <a:t> = </a:t>
            </a:r>
            <a:r>
              <a:rPr lang="de" sz="3000" b="1"/>
              <a:t>POINT</a:t>
            </a:r>
            <a:r>
              <a:rPr lang="de" sz="3000"/>
              <a:t> - State your main argument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Elements of a PEEL paragraph: 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383125" y="1519750"/>
            <a:ext cx="82245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P</a:t>
            </a:r>
            <a:r>
              <a:rPr lang="de" sz="3000"/>
              <a:t> = </a:t>
            </a:r>
            <a:r>
              <a:rPr lang="de" sz="3000" b="1"/>
              <a:t>POINT</a:t>
            </a:r>
            <a:r>
              <a:rPr lang="de" sz="3000"/>
              <a:t> - State your main argument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E</a:t>
            </a:r>
            <a:r>
              <a:rPr lang="de" sz="3000"/>
              <a:t> = </a:t>
            </a:r>
            <a:r>
              <a:rPr lang="de" sz="3000" b="1"/>
              <a:t>EVIDENCE/EXAMPLE</a:t>
            </a:r>
            <a:r>
              <a:rPr lang="de" sz="3000"/>
              <a:t> - Give proof or an example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Elements of a PEEL paragraph: 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70350" y="1506975"/>
            <a:ext cx="82245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P</a:t>
            </a:r>
            <a:r>
              <a:rPr lang="de" sz="3000"/>
              <a:t> = </a:t>
            </a:r>
            <a:r>
              <a:rPr lang="de" sz="3000" b="1"/>
              <a:t>POINT</a:t>
            </a:r>
            <a:r>
              <a:rPr lang="de" sz="3000"/>
              <a:t> - State your main argument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E</a:t>
            </a:r>
            <a:r>
              <a:rPr lang="de" sz="3000"/>
              <a:t> = </a:t>
            </a:r>
            <a:r>
              <a:rPr lang="de" sz="3000" b="1"/>
              <a:t>EVIDENCE/EXAMPLE</a:t>
            </a:r>
            <a:r>
              <a:rPr lang="de" sz="3000"/>
              <a:t> - Give proof or an example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E</a:t>
            </a:r>
            <a:r>
              <a:rPr lang="de" sz="3000"/>
              <a:t> = </a:t>
            </a:r>
            <a:r>
              <a:rPr lang="de" sz="3000" b="1"/>
              <a:t>EXPLANATION</a:t>
            </a:r>
            <a:r>
              <a:rPr lang="de" sz="3000"/>
              <a:t> - Explain how your example supports your point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Elements of a PEEL paragraph: 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70350" y="1506975"/>
            <a:ext cx="8224500" cy="3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P</a:t>
            </a:r>
            <a:r>
              <a:rPr lang="de" sz="3000"/>
              <a:t> = </a:t>
            </a:r>
            <a:r>
              <a:rPr lang="de" sz="3000" b="1"/>
              <a:t>POINT</a:t>
            </a:r>
            <a:r>
              <a:rPr lang="de" sz="3000"/>
              <a:t> - State your main argument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E</a:t>
            </a:r>
            <a:r>
              <a:rPr lang="de" sz="3000"/>
              <a:t> = </a:t>
            </a:r>
            <a:r>
              <a:rPr lang="de" sz="3000" b="1"/>
              <a:t>EVIDENCE/EXAMPLE</a:t>
            </a:r>
            <a:r>
              <a:rPr lang="de" sz="3000"/>
              <a:t> - Give proof or an example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E</a:t>
            </a:r>
            <a:r>
              <a:rPr lang="de" sz="3000"/>
              <a:t> = </a:t>
            </a:r>
            <a:r>
              <a:rPr lang="de" sz="3000" b="1"/>
              <a:t>EXPLANATION</a:t>
            </a:r>
            <a:r>
              <a:rPr lang="de" sz="3000"/>
              <a:t> - Explain how your example supports your point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 b="1"/>
              <a:t>L</a:t>
            </a:r>
            <a:r>
              <a:rPr lang="de" sz="3000"/>
              <a:t> = </a:t>
            </a:r>
            <a:r>
              <a:rPr lang="de" sz="3000" b="1"/>
              <a:t>LINK</a:t>
            </a:r>
            <a:r>
              <a:rPr lang="de" sz="3000"/>
              <a:t> - Connect back to your original point</a:t>
            </a:r>
            <a:endParaRPr sz="3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ildschirmfoto 2025-10-22 um 17.49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025"/>
            <a:ext cx="9144001" cy="3494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/>
          <p:nvPr/>
        </p:nvSpPr>
        <p:spPr>
          <a:xfrm>
            <a:off x="242650" y="1519750"/>
            <a:ext cx="8671500" cy="24519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Bildschirmfoto 2025-10-22 um 17.49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025"/>
            <a:ext cx="9144001" cy="3494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/>
          <p:nvPr/>
        </p:nvSpPr>
        <p:spPr>
          <a:xfrm>
            <a:off x="242650" y="2222150"/>
            <a:ext cx="8671500" cy="17496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Bildschirmfoto 2025-10-22 um 17.49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025"/>
            <a:ext cx="9144001" cy="349435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/>
          <p:nvPr/>
        </p:nvSpPr>
        <p:spPr>
          <a:xfrm>
            <a:off x="242650" y="3269375"/>
            <a:ext cx="8671500" cy="7026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4" title="Bildschirmfoto 2025-10-22 um 17.49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025"/>
            <a:ext cx="9144001" cy="3494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143975" y="143750"/>
            <a:ext cx="8713200" cy="5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840"/>
              <a:t>YOUR TURN: Write a PEEL paragraph yourself! </a:t>
            </a:r>
            <a:endParaRPr sz="284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143975" y="143750"/>
            <a:ext cx="8713200" cy="5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840"/>
              <a:t>YOUR TURN: Write a PEEL paragraph yourself! </a:t>
            </a:r>
            <a:endParaRPr sz="2840"/>
          </a:p>
        </p:txBody>
      </p:sp>
      <p:sp>
        <p:nvSpPr>
          <p:cNvPr id="139" name="Google Shape;139;p26"/>
          <p:cNvSpPr txBox="1"/>
          <p:nvPr/>
        </p:nvSpPr>
        <p:spPr>
          <a:xfrm>
            <a:off x="226225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1) CBp.59, Task 13</a:t>
            </a:r>
            <a:br>
              <a:rPr lang="de" sz="17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notes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yesterday’s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discussion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neighbor</a:t>
            </a:r>
            <a:endParaRPr sz="17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Choose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ONE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situation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a)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maintain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tired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b)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muscle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mass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vegetarian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c) lose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veggies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d)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eat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healthily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sz="17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Give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advice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friend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PEEL</a:t>
            </a:r>
            <a:endParaRPr sz="17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143975" y="143750"/>
            <a:ext cx="8713200" cy="5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840"/>
              <a:t>YOUR TURN: Write a PEEL paragraph yourself! </a:t>
            </a:r>
            <a:endParaRPr sz="2840"/>
          </a:p>
        </p:txBody>
      </p:sp>
      <p:sp>
        <p:nvSpPr>
          <p:cNvPr id="145" name="Google Shape;145;p27"/>
          <p:cNvSpPr txBox="1"/>
          <p:nvPr/>
        </p:nvSpPr>
        <p:spPr>
          <a:xfrm>
            <a:off x="226225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1) CBp.59, Task 13</a:t>
            </a:r>
            <a:br>
              <a:rPr lang="de" sz="17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notes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yesterday’s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discussion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neighbor</a:t>
            </a:r>
            <a:endParaRPr sz="17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Choose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ONE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situation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a)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maintain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tired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b)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muscle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mass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vegetarian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c) lose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veggies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d)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eat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healthily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sz="17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Give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advice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friend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PEEL</a:t>
            </a:r>
            <a:endParaRPr sz="17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3178500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 b="1" dirty="0"/>
              <a:t>2) </a:t>
            </a:r>
            <a:r>
              <a:rPr lang="de" sz="1600" b="1" dirty="0" err="1"/>
              <a:t>CBp</a:t>
            </a:r>
            <a:r>
              <a:rPr lang="de" sz="1600" b="1" dirty="0"/>
              <a:t>. 60, Task 14 </a:t>
            </a:r>
            <a:br>
              <a:rPr lang="de" sz="1600" b="1" dirty="0"/>
            </a:br>
            <a:r>
              <a:rPr lang="de" sz="1600" dirty="0" err="1"/>
              <a:t>From</a:t>
            </a:r>
            <a:r>
              <a:rPr lang="de" sz="1600" dirty="0"/>
              <a:t> </a:t>
            </a:r>
            <a:r>
              <a:rPr lang="de" sz="1600" dirty="0" err="1"/>
              <a:t>the</a:t>
            </a:r>
            <a:r>
              <a:rPr lang="de" sz="1600" dirty="0"/>
              <a:t> "</a:t>
            </a:r>
            <a:r>
              <a:rPr lang="de" sz="1600" i="1" dirty="0"/>
              <a:t>Charge </a:t>
            </a:r>
            <a:r>
              <a:rPr lang="de" sz="1600" i="1" dirty="0" err="1"/>
              <a:t>up</a:t>
            </a:r>
            <a:r>
              <a:rPr lang="de" sz="1600" i="1" dirty="0"/>
              <a:t> </a:t>
            </a:r>
            <a:r>
              <a:rPr lang="de" sz="1600" i="1" dirty="0" err="1"/>
              <a:t>with</a:t>
            </a:r>
            <a:r>
              <a:rPr lang="de" sz="1600" i="1" dirty="0"/>
              <a:t> </a:t>
            </a:r>
            <a:r>
              <a:rPr lang="de" sz="1600" i="1" dirty="0" err="1"/>
              <a:t>healthy</a:t>
            </a:r>
            <a:r>
              <a:rPr lang="de" sz="1600" i="1" dirty="0"/>
              <a:t> </a:t>
            </a:r>
            <a:r>
              <a:rPr lang="de" sz="1600" i="1" dirty="0" err="1"/>
              <a:t>eating</a:t>
            </a:r>
            <a:r>
              <a:rPr lang="de" sz="1600" dirty="0"/>
              <a:t>" </a:t>
            </a:r>
            <a:r>
              <a:rPr lang="de" sz="1600" dirty="0" err="1"/>
              <a:t>text</a:t>
            </a:r>
            <a:r>
              <a:rPr lang="de" sz="1600" dirty="0"/>
              <a:t>: </a:t>
            </a:r>
            <a:br>
              <a:rPr lang="de" sz="1600" dirty="0"/>
            </a:br>
            <a:r>
              <a:rPr lang="de" sz="1600" b="1" dirty="0" err="1"/>
              <a:t>Choose</a:t>
            </a:r>
            <a:r>
              <a:rPr lang="de" sz="1600" b="1" dirty="0"/>
              <a:t> ONE </a:t>
            </a:r>
            <a:r>
              <a:rPr lang="de" sz="1600" b="1" dirty="0" err="1"/>
              <a:t>piece</a:t>
            </a:r>
            <a:r>
              <a:rPr lang="de" sz="1600" b="1" dirty="0"/>
              <a:t> </a:t>
            </a:r>
            <a:r>
              <a:rPr lang="de" sz="1600" b="1" dirty="0" err="1"/>
              <a:t>of</a:t>
            </a:r>
            <a:r>
              <a:rPr lang="de" sz="1600" b="1" dirty="0"/>
              <a:t> </a:t>
            </a:r>
            <a:r>
              <a:rPr lang="de" sz="1600" b="1" dirty="0" err="1"/>
              <a:t>advice</a:t>
            </a:r>
            <a:r>
              <a:rPr lang="de" sz="1600" b="1" dirty="0"/>
              <a:t> </a:t>
            </a:r>
            <a:r>
              <a:rPr lang="de" sz="1600" b="1" dirty="0" err="1"/>
              <a:t>you</a:t>
            </a:r>
            <a:r>
              <a:rPr lang="de" sz="1600" b="1" dirty="0"/>
              <a:t> find </a:t>
            </a:r>
            <a:r>
              <a:rPr lang="de" sz="1600" b="1" dirty="0" err="1"/>
              <a:t>hard</a:t>
            </a:r>
            <a:r>
              <a:rPr lang="de" sz="1600" b="1" dirty="0"/>
              <a:t> </a:t>
            </a:r>
            <a:r>
              <a:rPr lang="de" sz="1600" b="1" dirty="0" err="1"/>
              <a:t>to</a:t>
            </a:r>
            <a:r>
              <a:rPr lang="de" sz="1600" b="1" dirty="0"/>
              <a:t> follow:</a:t>
            </a:r>
            <a:r>
              <a:rPr lang="de" sz="1600" dirty="0"/>
              <a:t> </a:t>
            </a:r>
            <a:r>
              <a:rPr lang="de" sz="1600" i="1" dirty="0" err="1"/>
              <a:t>fruits</a:t>
            </a:r>
            <a:r>
              <a:rPr lang="de" sz="1600" i="1" dirty="0"/>
              <a:t>/</a:t>
            </a:r>
            <a:r>
              <a:rPr lang="de" sz="1600" i="1" dirty="0" err="1"/>
              <a:t>veggies</a:t>
            </a:r>
            <a:r>
              <a:rPr lang="de" sz="1600" i="1" dirty="0"/>
              <a:t> • </a:t>
            </a:r>
            <a:r>
              <a:rPr lang="de" sz="1600" i="1" dirty="0" err="1"/>
              <a:t>whole</a:t>
            </a:r>
            <a:r>
              <a:rPr lang="de" sz="1600" i="1" dirty="0"/>
              <a:t> </a:t>
            </a:r>
            <a:r>
              <a:rPr lang="de" sz="1600" i="1" dirty="0" err="1"/>
              <a:t>grains</a:t>
            </a:r>
            <a:r>
              <a:rPr lang="de" sz="1600" i="1" dirty="0"/>
              <a:t> • </a:t>
            </a:r>
            <a:r>
              <a:rPr lang="de" sz="1600" i="1" dirty="0" err="1"/>
              <a:t>protein</a:t>
            </a:r>
            <a:r>
              <a:rPr lang="de" sz="1600" i="1" dirty="0"/>
              <a:t> • </a:t>
            </a:r>
            <a:r>
              <a:rPr lang="de" sz="1600" i="1" dirty="0" err="1"/>
              <a:t>dairy</a:t>
            </a:r>
            <a:r>
              <a:rPr lang="de" sz="1600" i="1" dirty="0"/>
              <a:t> • </a:t>
            </a:r>
            <a:r>
              <a:rPr lang="de" sz="1600" i="1" dirty="0" err="1"/>
              <a:t>fats</a:t>
            </a:r>
            <a:r>
              <a:rPr lang="de" sz="1600" i="1" dirty="0"/>
              <a:t> • </a:t>
            </a:r>
            <a:r>
              <a:rPr lang="de" sz="1600" i="1" dirty="0" err="1"/>
              <a:t>sodium</a:t>
            </a:r>
            <a:r>
              <a:rPr lang="de" sz="1600" i="1" dirty="0"/>
              <a:t> • </a:t>
            </a:r>
            <a:r>
              <a:rPr lang="de" sz="1600" i="1" dirty="0" err="1"/>
              <a:t>sugar</a:t>
            </a:r>
            <a:r>
              <a:rPr lang="de" sz="1600" i="1" dirty="0"/>
              <a:t> • fast </a:t>
            </a:r>
            <a:r>
              <a:rPr lang="de" sz="1600" i="1" dirty="0" err="1"/>
              <a:t>food</a:t>
            </a:r>
            <a:br>
              <a:rPr lang="de" sz="1600" i="1" dirty="0"/>
            </a:br>
            <a:r>
              <a:rPr lang="de" sz="1600" dirty="0"/>
              <a:t>→ </a:t>
            </a:r>
            <a:r>
              <a:rPr lang="de" sz="1600" dirty="0" err="1"/>
              <a:t>You</a:t>
            </a:r>
            <a:r>
              <a:rPr lang="de" sz="1600" dirty="0"/>
              <a:t> </a:t>
            </a:r>
            <a:r>
              <a:rPr lang="de" sz="1600" dirty="0" err="1"/>
              <a:t>can</a:t>
            </a:r>
            <a:r>
              <a:rPr lang="de" sz="1600" dirty="0"/>
              <a:t> </a:t>
            </a:r>
            <a:r>
              <a:rPr lang="de" sz="1600" dirty="0" err="1"/>
              <a:t>start</a:t>
            </a:r>
            <a:r>
              <a:rPr lang="de" sz="1600" dirty="0"/>
              <a:t> </a:t>
            </a:r>
            <a:r>
              <a:rPr lang="de" sz="1600" dirty="0" err="1"/>
              <a:t>with</a:t>
            </a:r>
            <a:r>
              <a:rPr lang="de" sz="1600" dirty="0"/>
              <a:t>: "I </a:t>
            </a:r>
            <a:r>
              <a:rPr lang="de" sz="1600" dirty="0" err="1"/>
              <a:t>know</a:t>
            </a:r>
            <a:r>
              <a:rPr lang="de" sz="1600" dirty="0"/>
              <a:t> </a:t>
            </a:r>
            <a:r>
              <a:rPr lang="de" sz="1600" dirty="0" err="1"/>
              <a:t>it's</a:t>
            </a:r>
            <a:r>
              <a:rPr lang="de" sz="1600" dirty="0"/>
              <a:t> </a:t>
            </a:r>
            <a:r>
              <a:rPr lang="de" sz="1600" dirty="0" err="1"/>
              <a:t>important</a:t>
            </a:r>
            <a:r>
              <a:rPr lang="de" sz="1600" dirty="0"/>
              <a:t> </a:t>
            </a:r>
            <a:r>
              <a:rPr lang="de" sz="1600" dirty="0" err="1"/>
              <a:t>to</a:t>
            </a:r>
            <a:r>
              <a:rPr lang="de" sz="1600" dirty="0"/>
              <a:t>..., but I..."</a:t>
            </a:r>
            <a:br>
              <a:rPr lang="de" sz="1600" dirty="0"/>
            </a:br>
            <a:r>
              <a:rPr lang="de" sz="1600" b="1" dirty="0"/>
              <a:t>→ </a:t>
            </a:r>
            <a:r>
              <a:rPr lang="de" sz="1600" b="1" dirty="0" err="1"/>
              <a:t>Explain</a:t>
            </a:r>
            <a:r>
              <a:rPr lang="de" sz="1600" b="1" dirty="0"/>
              <a:t> </a:t>
            </a:r>
            <a:r>
              <a:rPr lang="de" sz="1600" b="1" dirty="0" err="1"/>
              <a:t>your</a:t>
            </a:r>
            <a:r>
              <a:rPr lang="de" sz="1600" b="1" dirty="0"/>
              <a:t> </a:t>
            </a:r>
            <a:r>
              <a:rPr lang="de" sz="1600" b="1" dirty="0" err="1"/>
              <a:t>disagreement</a:t>
            </a:r>
            <a:r>
              <a:rPr lang="de" sz="1600" b="1" dirty="0"/>
              <a:t> </a:t>
            </a:r>
            <a:r>
              <a:rPr lang="de" sz="1600" b="1" dirty="0" err="1"/>
              <a:t>using</a:t>
            </a:r>
            <a:r>
              <a:rPr lang="de" sz="1600" b="1" dirty="0"/>
              <a:t> PEEL</a:t>
            </a:r>
            <a:endParaRPr sz="16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143975" y="143750"/>
            <a:ext cx="8713200" cy="5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840"/>
              <a:t>YOUR TURN: Write a PEEL paragraph yourself! </a:t>
            </a:r>
            <a:endParaRPr sz="2840"/>
          </a:p>
        </p:txBody>
      </p:sp>
      <p:sp>
        <p:nvSpPr>
          <p:cNvPr id="152" name="Google Shape;152;p28"/>
          <p:cNvSpPr txBox="1"/>
          <p:nvPr/>
        </p:nvSpPr>
        <p:spPr>
          <a:xfrm>
            <a:off x="226225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1) CBp.59, Task 13</a:t>
            </a:r>
            <a:br>
              <a:rPr lang="de" sz="17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notes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yesterday’s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discussion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with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de" sz="17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dirty="0" err="1">
                <a:latin typeface="Roboto"/>
                <a:ea typeface="Roboto"/>
                <a:cs typeface="Roboto"/>
                <a:sym typeface="Roboto"/>
              </a:rPr>
              <a:t>neighbor</a:t>
            </a:r>
            <a:endParaRPr sz="17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Choose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ONE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situation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a)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maintain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tired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b)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muscle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mass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vegetarian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c) lose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weight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veggies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 </a:t>
            </a:r>
            <a:br>
              <a:rPr lang="de" sz="1700" i="1" dirty="0">
                <a:latin typeface="Roboto"/>
                <a:ea typeface="Roboto"/>
                <a:cs typeface="Roboto"/>
                <a:sym typeface="Roboto"/>
              </a:rPr>
            </a:b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d)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eat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i="1" dirty="0" err="1">
                <a:latin typeface="Roboto"/>
                <a:ea typeface="Roboto"/>
                <a:cs typeface="Roboto"/>
                <a:sym typeface="Roboto"/>
              </a:rPr>
              <a:t>healthily</a:t>
            </a:r>
            <a:r>
              <a:rPr lang="de" sz="1700" i="1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sz="1700" i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Give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advice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friend </a:t>
            </a:r>
            <a:r>
              <a:rPr lang="de" sz="1700" b="1" dirty="0" err="1">
                <a:latin typeface="Roboto"/>
                <a:ea typeface="Roboto"/>
                <a:cs typeface="Roboto"/>
                <a:sym typeface="Roboto"/>
              </a:rPr>
              <a:t>using</a:t>
            </a:r>
            <a:r>
              <a:rPr lang="de" sz="1700" b="1" dirty="0">
                <a:latin typeface="Roboto"/>
                <a:ea typeface="Roboto"/>
                <a:cs typeface="Roboto"/>
                <a:sym typeface="Roboto"/>
              </a:rPr>
              <a:t> PEEL</a:t>
            </a:r>
            <a:endParaRPr sz="17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3178500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600" b="1" dirty="0"/>
              <a:t>2) </a:t>
            </a:r>
            <a:r>
              <a:rPr lang="de" sz="1600" b="1" dirty="0" err="1"/>
              <a:t>CBp</a:t>
            </a:r>
            <a:r>
              <a:rPr lang="de" sz="1600" b="1" dirty="0"/>
              <a:t>. 60, Task 14 </a:t>
            </a:r>
            <a:br>
              <a:rPr lang="de" sz="1600" b="1" dirty="0"/>
            </a:br>
            <a:r>
              <a:rPr lang="de" sz="1600" dirty="0" err="1"/>
              <a:t>From</a:t>
            </a:r>
            <a:r>
              <a:rPr lang="de" sz="1600" dirty="0"/>
              <a:t> </a:t>
            </a:r>
            <a:r>
              <a:rPr lang="de" sz="1600" dirty="0" err="1"/>
              <a:t>the</a:t>
            </a:r>
            <a:r>
              <a:rPr lang="de" sz="1600" dirty="0"/>
              <a:t> "</a:t>
            </a:r>
            <a:r>
              <a:rPr lang="de" sz="1600" i="1" dirty="0"/>
              <a:t>Charge </a:t>
            </a:r>
            <a:r>
              <a:rPr lang="de" sz="1600" i="1" dirty="0" err="1"/>
              <a:t>up</a:t>
            </a:r>
            <a:r>
              <a:rPr lang="de" sz="1600" i="1" dirty="0"/>
              <a:t> </a:t>
            </a:r>
            <a:r>
              <a:rPr lang="de" sz="1600" i="1" dirty="0" err="1"/>
              <a:t>with</a:t>
            </a:r>
            <a:r>
              <a:rPr lang="de" sz="1600" i="1" dirty="0"/>
              <a:t> </a:t>
            </a:r>
            <a:r>
              <a:rPr lang="de" sz="1600" i="1" dirty="0" err="1"/>
              <a:t>healthy</a:t>
            </a:r>
            <a:r>
              <a:rPr lang="de" sz="1600" i="1" dirty="0"/>
              <a:t> </a:t>
            </a:r>
            <a:r>
              <a:rPr lang="de" sz="1600" i="1" dirty="0" err="1"/>
              <a:t>eating</a:t>
            </a:r>
            <a:r>
              <a:rPr lang="de" sz="1600" dirty="0"/>
              <a:t>" </a:t>
            </a:r>
            <a:r>
              <a:rPr lang="de" sz="1600" dirty="0" err="1"/>
              <a:t>text</a:t>
            </a:r>
            <a:r>
              <a:rPr lang="de" sz="1600" dirty="0"/>
              <a:t>: </a:t>
            </a:r>
            <a:br>
              <a:rPr lang="de" sz="1600" dirty="0"/>
            </a:br>
            <a:r>
              <a:rPr lang="de" sz="1600" b="1" dirty="0" err="1"/>
              <a:t>Choose</a:t>
            </a:r>
            <a:r>
              <a:rPr lang="de" sz="1600" b="1" dirty="0"/>
              <a:t> ONE </a:t>
            </a:r>
            <a:r>
              <a:rPr lang="de" sz="1600" b="1" dirty="0" err="1"/>
              <a:t>piece</a:t>
            </a:r>
            <a:r>
              <a:rPr lang="de" sz="1600" b="1" dirty="0"/>
              <a:t> </a:t>
            </a:r>
            <a:r>
              <a:rPr lang="de" sz="1600" b="1" dirty="0" err="1"/>
              <a:t>of</a:t>
            </a:r>
            <a:r>
              <a:rPr lang="de" sz="1600" b="1" dirty="0"/>
              <a:t> </a:t>
            </a:r>
            <a:r>
              <a:rPr lang="de" sz="1600" b="1" dirty="0" err="1"/>
              <a:t>advice</a:t>
            </a:r>
            <a:r>
              <a:rPr lang="de" sz="1600" b="1" dirty="0"/>
              <a:t> </a:t>
            </a:r>
            <a:r>
              <a:rPr lang="de" sz="1600" b="1" dirty="0" err="1"/>
              <a:t>you</a:t>
            </a:r>
            <a:r>
              <a:rPr lang="de" sz="1600" b="1" dirty="0"/>
              <a:t> find </a:t>
            </a:r>
            <a:r>
              <a:rPr lang="de" sz="1600" b="1" dirty="0" err="1"/>
              <a:t>hard</a:t>
            </a:r>
            <a:r>
              <a:rPr lang="de" sz="1600" b="1" dirty="0"/>
              <a:t> </a:t>
            </a:r>
            <a:r>
              <a:rPr lang="de" sz="1600" b="1" dirty="0" err="1"/>
              <a:t>to</a:t>
            </a:r>
            <a:r>
              <a:rPr lang="de" sz="1600" b="1" dirty="0"/>
              <a:t> follow:</a:t>
            </a:r>
            <a:r>
              <a:rPr lang="de" sz="1600" dirty="0"/>
              <a:t> </a:t>
            </a:r>
            <a:r>
              <a:rPr lang="de" sz="1600" i="1" dirty="0" err="1"/>
              <a:t>fruits</a:t>
            </a:r>
            <a:r>
              <a:rPr lang="de" sz="1600" i="1" dirty="0"/>
              <a:t>/</a:t>
            </a:r>
            <a:r>
              <a:rPr lang="de" sz="1600" i="1" dirty="0" err="1"/>
              <a:t>veggies</a:t>
            </a:r>
            <a:r>
              <a:rPr lang="de" sz="1600" i="1" dirty="0"/>
              <a:t> • </a:t>
            </a:r>
            <a:r>
              <a:rPr lang="de" sz="1600" i="1" dirty="0" err="1"/>
              <a:t>whole</a:t>
            </a:r>
            <a:r>
              <a:rPr lang="de" sz="1600" i="1" dirty="0"/>
              <a:t> </a:t>
            </a:r>
            <a:r>
              <a:rPr lang="de" sz="1600" i="1" dirty="0" err="1"/>
              <a:t>grains</a:t>
            </a:r>
            <a:r>
              <a:rPr lang="de" sz="1600" i="1" dirty="0"/>
              <a:t> • </a:t>
            </a:r>
            <a:r>
              <a:rPr lang="de" sz="1600" i="1" dirty="0" err="1"/>
              <a:t>protein</a:t>
            </a:r>
            <a:r>
              <a:rPr lang="de" sz="1600" i="1" dirty="0"/>
              <a:t> • </a:t>
            </a:r>
            <a:r>
              <a:rPr lang="de" sz="1600" i="1" dirty="0" err="1"/>
              <a:t>dairy</a:t>
            </a:r>
            <a:r>
              <a:rPr lang="de" sz="1600" i="1" dirty="0"/>
              <a:t> • </a:t>
            </a:r>
            <a:r>
              <a:rPr lang="de" sz="1600" i="1" dirty="0" err="1"/>
              <a:t>fats</a:t>
            </a:r>
            <a:r>
              <a:rPr lang="de" sz="1600" i="1" dirty="0"/>
              <a:t> • </a:t>
            </a:r>
            <a:r>
              <a:rPr lang="de" sz="1600" i="1" dirty="0" err="1"/>
              <a:t>sodium</a:t>
            </a:r>
            <a:r>
              <a:rPr lang="de" sz="1600" i="1" dirty="0"/>
              <a:t> • </a:t>
            </a:r>
            <a:r>
              <a:rPr lang="de" sz="1600" i="1" dirty="0" err="1"/>
              <a:t>sugar</a:t>
            </a:r>
            <a:r>
              <a:rPr lang="de" sz="1600" i="1" dirty="0"/>
              <a:t> • fast </a:t>
            </a:r>
            <a:r>
              <a:rPr lang="de" sz="1600" i="1" dirty="0" err="1"/>
              <a:t>food</a:t>
            </a:r>
            <a:br>
              <a:rPr lang="de" sz="1600" i="1" dirty="0"/>
            </a:br>
            <a:r>
              <a:rPr lang="de" sz="1600" dirty="0"/>
              <a:t>→ </a:t>
            </a:r>
            <a:r>
              <a:rPr lang="de" sz="1600" dirty="0" err="1"/>
              <a:t>You</a:t>
            </a:r>
            <a:r>
              <a:rPr lang="de" sz="1600" dirty="0"/>
              <a:t> </a:t>
            </a:r>
            <a:r>
              <a:rPr lang="de" sz="1600" dirty="0" err="1"/>
              <a:t>can</a:t>
            </a:r>
            <a:r>
              <a:rPr lang="de" sz="1600" dirty="0"/>
              <a:t> </a:t>
            </a:r>
            <a:r>
              <a:rPr lang="de" sz="1600" dirty="0" err="1"/>
              <a:t>start</a:t>
            </a:r>
            <a:r>
              <a:rPr lang="de" sz="1600" dirty="0"/>
              <a:t> </a:t>
            </a:r>
            <a:r>
              <a:rPr lang="de" sz="1600" dirty="0" err="1"/>
              <a:t>with</a:t>
            </a:r>
            <a:r>
              <a:rPr lang="de" sz="1600" dirty="0"/>
              <a:t>: "I </a:t>
            </a:r>
            <a:r>
              <a:rPr lang="de" sz="1600" dirty="0" err="1"/>
              <a:t>know</a:t>
            </a:r>
            <a:r>
              <a:rPr lang="de" sz="1600" dirty="0"/>
              <a:t> </a:t>
            </a:r>
            <a:r>
              <a:rPr lang="de" sz="1600" dirty="0" err="1"/>
              <a:t>it's</a:t>
            </a:r>
            <a:r>
              <a:rPr lang="de" sz="1600" dirty="0"/>
              <a:t> </a:t>
            </a:r>
            <a:r>
              <a:rPr lang="de" sz="1600" dirty="0" err="1"/>
              <a:t>important</a:t>
            </a:r>
            <a:r>
              <a:rPr lang="de" sz="1600" dirty="0"/>
              <a:t> </a:t>
            </a:r>
            <a:r>
              <a:rPr lang="de" sz="1600" dirty="0" err="1"/>
              <a:t>to</a:t>
            </a:r>
            <a:r>
              <a:rPr lang="de" sz="1600" dirty="0"/>
              <a:t>..., but I..."</a:t>
            </a:r>
            <a:br>
              <a:rPr lang="de" sz="1600" dirty="0"/>
            </a:br>
            <a:r>
              <a:rPr lang="de" sz="1600" b="1" dirty="0"/>
              <a:t>→ </a:t>
            </a:r>
            <a:r>
              <a:rPr lang="de" sz="1600" b="1" dirty="0" err="1"/>
              <a:t>Explain</a:t>
            </a:r>
            <a:r>
              <a:rPr lang="de" sz="1600" b="1" dirty="0"/>
              <a:t> </a:t>
            </a:r>
            <a:r>
              <a:rPr lang="de" sz="1600" b="1" dirty="0" err="1"/>
              <a:t>your</a:t>
            </a:r>
            <a:r>
              <a:rPr lang="de" sz="1600" b="1" dirty="0"/>
              <a:t> </a:t>
            </a:r>
            <a:r>
              <a:rPr lang="de" sz="1600" b="1" dirty="0" err="1"/>
              <a:t>disagreement</a:t>
            </a:r>
            <a:r>
              <a:rPr lang="de" sz="1600" b="1" dirty="0"/>
              <a:t> </a:t>
            </a:r>
            <a:r>
              <a:rPr lang="de" sz="1600" b="1" dirty="0" err="1"/>
              <a:t>using</a:t>
            </a:r>
            <a:r>
              <a:rPr lang="de" sz="1600" b="1" dirty="0"/>
              <a:t> PEEL</a:t>
            </a:r>
            <a:endParaRPr sz="16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6130775" y="773900"/>
            <a:ext cx="2726400" cy="422585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/>
              <a:t>3) CBp.61, Task 16 </a:t>
            </a:r>
            <a:br>
              <a:rPr lang="de" sz="1700" b="1" dirty="0"/>
            </a:br>
            <a:r>
              <a:rPr lang="de" sz="1700" dirty="0"/>
              <a:t>Use </a:t>
            </a:r>
            <a:r>
              <a:rPr lang="de" sz="1700" dirty="0" err="1"/>
              <a:t>your</a:t>
            </a:r>
            <a:r>
              <a:rPr lang="de" sz="1700" dirty="0"/>
              <a:t> </a:t>
            </a:r>
            <a:r>
              <a:rPr lang="de" sz="1700" dirty="0" err="1"/>
              <a:t>notes</a:t>
            </a:r>
            <a:r>
              <a:rPr lang="de" sz="1700" dirty="0"/>
              <a:t> </a:t>
            </a:r>
            <a:r>
              <a:rPr lang="de" sz="1700" dirty="0" err="1"/>
              <a:t>from</a:t>
            </a:r>
            <a:r>
              <a:rPr lang="de" sz="1700" dirty="0"/>
              <a:t> </a:t>
            </a:r>
            <a:r>
              <a:rPr lang="de" sz="1700" dirty="0" err="1"/>
              <a:t>today’s</a:t>
            </a:r>
            <a:r>
              <a:rPr lang="de" sz="1700" dirty="0"/>
              <a:t> </a:t>
            </a:r>
            <a:r>
              <a:rPr lang="de" sz="1700" dirty="0" err="1"/>
              <a:t>discussion</a:t>
            </a:r>
            <a:r>
              <a:rPr lang="de" sz="1700" dirty="0"/>
              <a:t> </a:t>
            </a:r>
            <a:r>
              <a:rPr lang="de" sz="1700" dirty="0" err="1"/>
              <a:t>with</a:t>
            </a:r>
            <a:r>
              <a:rPr lang="de" sz="1700" dirty="0"/>
              <a:t> </a:t>
            </a:r>
            <a:r>
              <a:rPr lang="de" sz="1700" dirty="0" err="1"/>
              <a:t>your</a:t>
            </a:r>
            <a:r>
              <a:rPr lang="de" sz="1700" dirty="0"/>
              <a:t> </a:t>
            </a:r>
            <a:r>
              <a:rPr lang="de" sz="1700" dirty="0" err="1"/>
              <a:t>neighbor</a:t>
            </a:r>
            <a:endParaRPr sz="17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 err="1"/>
              <a:t>Choose</a:t>
            </a:r>
            <a:r>
              <a:rPr lang="de" sz="1700" b="1" dirty="0"/>
              <a:t> ONE </a:t>
            </a:r>
            <a:r>
              <a:rPr lang="de" sz="1700" b="1" dirty="0" err="1"/>
              <a:t>question</a:t>
            </a:r>
            <a:r>
              <a:rPr lang="de" sz="1700" b="1" dirty="0"/>
              <a:t>: </a:t>
            </a:r>
            <a:br>
              <a:rPr lang="de" sz="1700" dirty="0"/>
            </a:br>
            <a:r>
              <a:rPr lang="de" sz="1700" dirty="0"/>
              <a:t>1</a:t>
            </a:r>
            <a:r>
              <a:rPr lang="de" sz="1700" i="1" dirty="0"/>
              <a:t>) </a:t>
            </a:r>
            <a:r>
              <a:rPr lang="de" sz="1700" i="1" dirty="0" err="1"/>
              <a:t>other</a:t>
            </a:r>
            <a:r>
              <a:rPr lang="de" sz="1700" i="1" dirty="0"/>
              <a:t> </a:t>
            </a:r>
            <a:r>
              <a:rPr lang="de" sz="1700" i="1" dirty="0" err="1"/>
              <a:t>healthy</a:t>
            </a:r>
            <a:r>
              <a:rPr lang="de" sz="1700" i="1" dirty="0"/>
              <a:t> </a:t>
            </a:r>
            <a:r>
              <a:rPr lang="de" sz="1700" i="1" dirty="0" err="1"/>
              <a:t>tips</a:t>
            </a:r>
            <a:r>
              <a:rPr lang="de" sz="1700" i="1" dirty="0"/>
              <a:t>? </a:t>
            </a:r>
            <a:br>
              <a:rPr lang="de" sz="1700" i="1" dirty="0"/>
            </a:br>
            <a:r>
              <a:rPr lang="de" sz="1700" i="1" dirty="0"/>
              <a:t>2) </a:t>
            </a:r>
            <a:r>
              <a:rPr lang="de" sz="1700" i="1" dirty="0" err="1"/>
              <a:t>encourage</a:t>
            </a:r>
            <a:r>
              <a:rPr lang="de" sz="1700" i="1" dirty="0"/>
              <a:t> </a:t>
            </a:r>
            <a:r>
              <a:rPr lang="de" sz="1700" i="1" dirty="0" err="1"/>
              <a:t>healthy</a:t>
            </a:r>
            <a:r>
              <a:rPr lang="de" sz="1700" i="1" dirty="0"/>
              <a:t> </a:t>
            </a:r>
            <a:r>
              <a:rPr lang="de" sz="1700" i="1" dirty="0" err="1"/>
              <a:t>eating</a:t>
            </a:r>
            <a:r>
              <a:rPr lang="de" sz="1700" i="1" dirty="0"/>
              <a:t>? </a:t>
            </a:r>
            <a:br>
              <a:rPr lang="de" sz="1700" i="1" dirty="0"/>
            </a:br>
            <a:r>
              <a:rPr lang="de" sz="1700" i="1" dirty="0"/>
              <a:t>3) </a:t>
            </a:r>
            <a:r>
              <a:rPr lang="de" sz="1700" i="1" dirty="0" err="1"/>
              <a:t>young</a:t>
            </a:r>
            <a:r>
              <a:rPr lang="de" sz="1700" i="1" dirty="0"/>
              <a:t> </a:t>
            </a:r>
            <a:r>
              <a:rPr lang="de" sz="1700" i="1" dirty="0" err="1"/>
              <a:t>people</a:t>
            </a:r>
            <a:r>
              <a:rPr lang="de" sz="1700" i="1" dirty="0"/>
              <a:t> </a:t>
            </a:r>
            <a:r>
              <a:rPr lang="de" sz="1700" i="1" dirty="0" err="1"/>
              <a:t>eat</a:t>
            </a:r>
            <a:r>
              <a:rPr lang="de" sz="1700" i="1" dirty="0"/>
              <a:t> </a:t>
            </a:r>
            <a:r>
              <a:rPr lang="de" sz="1700" i="1" dirty="0" err="1"/>
              <a:t>unhealthy</a:t>
            </a:r>
            <a:r>
              <a:rPr lang="de" sz="1700" i="1" dirty="0"/>
              <a:t>?</a:t>
            </a:r>
            <a:endParaRPr sz="1700" i="1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 b="1" dirty="0"/>
              <a:t>→ </a:t>
            </a:r>
            <a:r>
              <a:rPr lang="de" sz="1700" b="1" dirty="0" err="1"/>
              <a:t>Answer</a:t>
            </a:r>
            <a:r>
              <a:rPr lang="de" sz="1700" b="1" dirty="0"/>
              <a:t> </a:t>
            </a:r>
            <a:r>
              <a:rPr lang="de" sz="1700" b="1" dirty="0" err="1"/>
              <a:t>it</a:t>
            </a:r>
            <a:r>
              <a:rPr lang="de" sz="1700" b="1" dirty="0"/>
              <a:t> </a:t>
            </a:r>
            <a:r>
              <a:rPr lang="de" sz="1700" b="1" dirty="0" err="1"/>
              <a:t>with</a:t>
            </a:r>
            <a:r>
              <a:rPr lang="de" sz="1700" b="1" dirty="0"/>
              <a:t> </a:t>
            </a:r>
            <a:r>
              <a:rPr lang="de" sz="1700" b="1" dirty="0" err="1"/>
              <a:t>your</a:t>
            </a:r>
            <a:r>
              <a:rPr lang="de" sz="1700" b="1" dirty="0"/>
              <a:t> </a:t>
            </a:r>
            <a:r>
              <a:rPr lang="de" sz="1700" b="1" dirty="0" err="1"/>
              <a:t>opinion</a:t>
            </a:r>
            <a:r>
              <a:rPr lang="de" sz="1700" b="1" dirty="0"/>
              <a:t> </a:t>
            </a:r>
            <a:r>
              <a:rPr lang="de" sz="1700" b="1" dirty="0" err="1"/>
              <a:t>using</a:t>
            </a:r>
            <a:r>
              <a:rPr lang="de" sz="1700" b="1" dirty="0"/>
              <a:t> PEEL</a:t>
            </a:r>
            <a:endParaRPr sz="17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Macintosh PowerPoint</Application>
  <PresentationFormat>Bildschirmpräsentation (16:9)</PresentationFormat>
  <Paragraphs>39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Roboto</vt:lpstr>
      <vt:lpstr>Arial</vt:lpstr>
      <vt:lpstr>Merriweather</vt:lpstr>
      <vt:lpstr>Paradigm</vt:lpstr>
      <vt:lpstr>School exercise: PEEL Paragraph</vt:lpstr>
      <vt:lpstr>What is ‘PEEL’?</vt:lpstr>
      <vt:lpstr>PEEL is a writing structure that helps you argue a point clearly and convincingly. </vt:lpstr>
      <vt:lpstr>PEEL is a writing structure that helps you argue a point clearly and convincingly. </vt:lpstr>
      <vt:lpstr>Elements of a PEEL paragraph: </vt:lpstr>
      <vt:lpstr>Elements of a PEEL paragraph: </vt:lpstr>
      <vt:lpstr>Elements of a PEEL paragraph: </vt:lpstr>
      <vt:lpstr>Elements of a PEEL paragraph: </vt:lpstr>
      <vt:lpstr>PowerPoint-Präsentation</vt:lpstr>
      <vt:lpstr>PowerPoint-Präsentation</vt:lpstr>
      <vt:lpstr>PowerPoint-Präsentation</vt:lpstr>
      <vt:lpstr>PowerPoint-Präsentation</vt:lpstr>
      <vt:lpstr>YOUR TURN: Write a PEEL paragraph yourself! </vt:lpstr>
      <vt:lpstr>YOUR TURN: Write a PEEL paragraph yourself! </vt:lpstr>
      <vt:lpstr>YOUR TURN: Write a PEEL paragraph yourself! </vt:lpstr>
      <vt:lpstr>YOUR TURN: Write a PEEL paragraph yourself!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Orhan Vehabovic</cp:lastModifiedBy>
  <cp:revision>2</cp:revision>
  <dcterms:modified xsi:type="dcterms:W3CDTF">2025-11-05T16:37:54Z</dcterms:modified>
</cp:coreProperties>
</file>