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Nunito"/>
      <p:regular r:id="rId40"/>
      <p:bold r:id="rId41"/>
      <p:italic r:id="rId42"/>
      <p:boldItalic r:id="rId43"/>
    </p:embeddedFont>
    <p:embeddedFont>
      <p:font typeface="Merriweather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20" Type="http://schemas.openxmlformats.org/officeDocument/2006/relationships/slide" Target="slides/slide15.xml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22" Type="http://schemas.openxmlformats.org/officeDocument/2006/relationships/slide" Target="slides/slide17.xml"/><Relationship Id="rId44" Type="http://schemas.openxmlformats.org/officeDocument/2006/relationships/font" Target="fonts/Merriweather-regular.fntdata"/><Relationship Id="rId21" Type="http://schemas.openxmlformats.org/officeDocument/2006/relationships/slide" Target="slides/slide16.xml"/><Relationship Id="rId43" Type="http://schemas.openxmlformats.org/officeDocument/2006/relationships/font" Target="fonts/Nunito-boldItalic.fntdata"/><Relationship Id="rId24" Type="http://schemas.openxmlformats.org/officeDocument/2006/relationships/slide" Target="slides/slide19.xml"/><Relationship Id="rId46" Type="http://schemas.openxmlformats.org/officeDocument/2006/relationships/font" Target="fonts/Merriweather-italic.fntdata"/><Relationship Id="rId23" Type="http://schemas.openxmlformats.org/officeDocument/2006/relationships/slide" Target="slides/slide18.xml"/><Relationship Id="rId45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Merriweather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4564d8b9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4564d8b9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564d8b9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4564d8b9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564d8b9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564d8b9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564d8b9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564d8b9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4564d8b9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4564d8b9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4564d8b9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4564d8b9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4564d8b9a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4564d8b9a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4564d8b9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4564d8b9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564d8b9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4564d8b9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4564d8b9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4564d8b9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564d8b9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4564d8b9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4564d8b9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4564d8b9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4564d8b9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4564d8b9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4564d8b9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4564d8b9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4564d8b9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4564d8b9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8fa03a8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8fa03a8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8fa03a8f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8fa03a8f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8fa03a8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8fa03a8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8fa03a8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8fa03a8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a03a8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8fa03a8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8fa03a8f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8fa03a8f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8fa03a8f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8fa03a8f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8fa03a8f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8fa03a8f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fa03a8f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8fa03a8f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8fa03a8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8fa03a8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8fa03a8f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8fa03a8f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8fa03a8f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8fa03a8f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8fa03a8f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8fa03a8f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4564d8b9a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4564d8b9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lFf7GgH2apAHWQeyTw3dRdKmiS9FbIrt/view" TargetMode="External"/><Relationship Id="rId4" Type="http://schemas.openxmlformats.org/officeDocument/2006/relationships/image" Target="../media/image5.jpg"/><Relationship Id="rId10" Type="http://schemas.openxmlformats.org/officeDocument/2006/relationships/image" Target="../media/image1.jpg"/><Relationship Id="rId9" Type="http://schemas.openxmlformats.org/officeDocument/2006/relationships/hyperlink" Target="http://drive.google.com/file/d/1EWXXSct-XVZjeAZQYtseP7mxKG-DBsJq/view" TargetMode="External"/><Relationship Id="rId5" Type="http://schemas.openxmlformats.org/officeDocument/2006/relationships/hyperlink" Target="http://drive.google.com/file/d/1oxZsrojbHihg1SE2cfj2bfGwab4LmzZg/view" TargetMode="External"/><Relationship Id="rId6" Type="http://schemas.openxmlformats.org/officeDocument/2006/relationships/image" Target="../media/image4.jpg"/><Relationship Id="rId7" Type="http://schemas.openxmlformats.org/officeDocument/2006/relationships/hyperlink" Target="http://drive.google.com/file/d/1zWg-OyEp8-RF6xeptcoj_AAPG7TyByD_/view" TargetMode="External"/><Relationship Id="rId8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hyperlink" Target="https://de.wikipedia.org/wiki/Elmo_Lewi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lFf7GgH2apAHWQeyTw3dRdKmiS9FbIrt/view" TargetMode="External"/><Relationship Id="rId4" Type="http://schemas.openxmlformats.org/officeDocument/2006/relationships/image" Target="../media/image5.jpg"/><Relationship Id="rId10" Type="http://schemas.openxmlformats.org/officeDocument/2006/relationships/image" Target="../media/image1.jpg"/><Relationship Id="rId9" Type="http://schemas.openxmlformats.org/officeDocument/2006/relationships/hyperlink" Target="http://drive.google.com/file/d/1EWXXSct-XVZjeAZQYtseP7mxKG-DBsJq/view" TargetMode="External"/><Relationship Id="rId5" Type="http://schemas.openxmlformats.org/officeDocument/2006/relationships/hyperlink" Target="http://drive.google.com/file/d/1oxZsrojbHihg1SE2cfj2bfGwab4LmzZg/view" TargetMode="External"/><Relationship Id="rId6" Type="http://schemas.openxmlformats.org/officeDocument/2006/relationships/image" Target="../media/image4.jpg"/><Relationship Id="rId7" Type="http://schemas.openxmlformats.org/officeDocument/2006/relationships/hyperlink" Target="http://drive.google.com/file/d/1zWg-OyEp8-RF6xeptcoj_AAPG7TyByD_/view" TargetMode="External"/><Relationship Id="rId8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youtube.com/watch?v=qL8pVOe_8zQ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Themenblock 3: Werbepsychologie und Konsumverhalten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WPF PuP (2025/26)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eine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Werbevideos</a:t>
            </a:r>
            <a:endParaRPr/>
          </a:p>
        </p:txBody>
      </p:sp>
      <p:pic>
        <p:nvPicPr>
          <p:cNvPr id="80" name="Google Shape;80;p15" title="ScreenRecording_11-14-2025 23-21-02_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1391450"/>
            <a:ext cx="1663799" cy="359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creenRecording_11-15-2025 05-33-34_1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7925" y="1393675"/>
            <a:ext cx="1979245" cy="359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ScreenRecording_11-16-2025 08-01-37_1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8362" y="1364713"/>
            <a:ext cx="1842287" cy="359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ScreenRecording_11-16-2025 08-09-59_1.mov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1825" y="1335755"/>
            <a:ext cx="1979250" cy="365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 rot="-1879530">
            <a:off x="-34007" y="925978"/>
            <a:ext cx="3826290" cy="942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Arial"/>
              </a:rPr>
              <a:t>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 rot="-1879530">
            <a:off x="-34007" y="925978"/>
            <a:ext cx="3826290" cy="942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Arial"/>
              </a:rPr>
              <a:t>Attention</a:t>
            </a:r>
          </a:p>
        </p:txBody>
      </p:sp>
      <p:sp>
        <p:nvSpPr>
          <p:cNvPr id="113" name="Google Shape;113;p18"/>
          <p:cNvSpPr/>
          <p:nvPr/>
        </p:nvSpPr>
        <p:spPr>
          <a:xfrm rot="-1852352">
            <a:off x="1225939" y="1808996"/>
            <a:ext cx="4717825" cy="77990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00"/>
                </a:solidFill>
                <a:latin typeface="Arial"/>
              </a:rPr>
              <a:t>INTEREST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 rot="-1879530">
            <a:off x="-34007" y="925978"/>
            <a:ext cx="3826290" cy="942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Arial"/>
              </a:rPr>
              <a:t>Attention</a:t>
            </a:r>
          </a:p>
        </p:txBody>
      </p:sp>
      <p:sp>
        <p:nvSpPr>
          <p:cNvPr id="124" name="Google Shape;124;p19"/>
          <p:cNvSpPr/>
          <p:nvPr/>
        </p:nvSpPr>
        <p:spPr>
          <a:xfrm rot="-1852352">
            <a:off x="1225939" y="1808996"/>
            <a:ext cx="4717825" cy="77990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00"/>
                </a:solidFill>
                <a:latin typeface="Arial"/>
              </a:rPr>
              <a:t>INTEREST</a:t>
            </a:r>
          </a:p>
        </p:txBody>
      </p:sp>
      <p:sp>
        <p:nvSpPr>
          <p:cNvPr id="125" name="Google Shape;125;p19"/>
          <p:cNvSpPr/>
          <p:nvPr/>
        </p:nvSpPr>
        <p:spPr>
          <a:xfrm rot="-1885248">
            <a:off x="2715557" y="2672341"/>
            <a:ext cx="4496189" cy="954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FF"/>
                </a:solidFill>
                <a:latin typeface="Arial"/>
              </a:rPr>
              <a:t>DESIRE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Schau dir den Clip und bemerke folgendes: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137000" y="1352825"/>
            <a:ext cx="2145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die Aufmerksamkeit geweckt?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22823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Interesse geweckt? 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Wurde…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 .. ein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aufgezeigt?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gestellt?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etwas nützliches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erklärt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 tolles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gezeigt? </a:t>
            </a:r>
            <a:b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eine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erzählt?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572000" y="13528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Wie wird das Angebot gezeigt?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Gefühle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getriggert?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aufgezeigt?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Versprechen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gemacht?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Welche potentiellen </a:t>
            </a:r>
            <a:r>
              <a:rPr b="1"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Zweifel</a:t>
            </a:r>
            <a:r>
              <a:rPr lang="de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werden adressiert?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6919400" y="1406925"/>
            <a:ext cx="21453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 welchen Handlungen wird aufgefordert?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 rot="-1879530">
            <a:off x="-34007" y="925978"/>
            <a:ext cx="3826290" cy="942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Arial"/>
              </a:rPr>
              <a:t>Attention</a:t>
            </a:r>
          </a:p>
        </p:txBody>
      </p:sp>
      <p:sp>
        <p:nvSpPr>
          <p:cNvPr id="136" name="Google Shape;136;p20"/>
          <p:cNvSpPr/>
          <p:nvPr/>
        </p:nvSpPr>
        <p:spPr>
          <a:xfrm rot="-1852352">
            <a:off x="1225939" y="1808996"/>
            <a:ext cx="4717825" cy="77990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00"/>
                </a:solidFill>
                <a:latin typeface="Arial"/>
              </a:rPr>
              <a:t>INTEREST</a:t>
            </a:r>
          </a:p>
        </p:txBody>
      </p:sp>
      <p:sp>
        <p:nvSpPr>
          <p:cNvPr id="137" name="Google Shape;137;p20"/>
          <p:cNvSpPr/>
          <p:nvPr/>
        </p:nvSpPr>
        <p:spPr>
          <a:xfrm rot="-1885248">
            <a:off x="2715557" y="2672341"/>
            <a:ext cx="4496189" cy="954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FF"/>
                </a:solidFill>
                <a:latin typeface="Arial"/>
              </a:rPr>
              <a:t>DESIRE</a:t>
            </a:r>
          </a:p>
        </p:txBody>
      </p:sp>
      <p:sp>
        <p:nvSpPr>
          <p:cNvPr id="138" name="Google Shape;138;p20"/>
          <p:cNvSpPr/>
          <p:nvPr/>
        </p:nvSpPr>
        <p:spPr>
          <a:xfrm rot="-1888690">
            <a:off x="4784095" y="3053852"/>
            <a:ext cx="4364160" cy="121362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FF"/>
                </a:solidFill>
                <a:latin typeface="Arial"/>
              </a:rPr>
              <a:t>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aida-marketing-mode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251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631800" y="4499200"/>
            <a:ext cx="38112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  <a:highlight>
                  <a:srgbClr val="FFFFFF"/>
                </a:highlight>
              </a:rPr>
              <a:t>1898 von </a:t>
            </a:r>
            <a:r>
              <a:rPr b="1" lang="d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Elmo Lewis</a:t>
            </a:r>
            <a:r>
              <a:rPr b="1" lang="de">
                <a:solidFill>
                  <a:schemeClr val="dk1"/>
                </a:solidFill>
                <a:highlight>
                  <a:srgbClr val="FFFFFF"/>
                </a:highlight>
              </a:rPr>
              <a:t> entwickelt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300" y="500925"/>
            <a:ext cx="37044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 – ATTENTION (Aufmerksamkeit)</a:t>
            </a:r>
            <a:endParaRPr/>
          </a:p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311300" y="1796775"/>
            <a:ext cx="3704400" cy="23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100"/>
              <a:t>Du scrollst durch TikTok, Instagram oder YouTube – und siehst hunderte Posts und Videos. Wie schafft es Werbung, dass du überhaupt stehen bleibst?</a:t>
            </a:r>
            <a:endParaRPr i="1" sz="2100"/>
          </a:p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Werbung muss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aus der Masse herausstechen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Das passiert durch: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Auffällige Farben oder krasse Bilder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Provozierende oder witzige Sprüche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Unerwartete Situationen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Persönliche Ansprache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Wenn du nicht in den ersten 3 Sekunden aufmerksam wirst, ist die Werbung gescheitert.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300" y="500925"/>
            <a:ext cx="37044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 – INTEREST </a:t>
            </a:r>
            <a:r>
              <a:rPr lang="de"/>
              <a:t>(Interesse)</a:t>
            </a:r>
            <a:endParaRPr/>
          </a:p>
        </p:txBody>
      </p:sp>
      <p:sp>
        <p:nvSpPr>
          <p:cNvPr id="157" name="Google Shape;157;p23"/>
          <p:cNvSpPr txBox="1"/>
          <p:nvPr>
            <p:ph idx="1" type="subTitle"/>
          </p:nvPr>
        </p:nvSpPr>
        <p:spPr>
          <a:xfrm>
            <a:off x="311300" y="1796775"/>
            <a:ext cx="3704400" cy="23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100"/>
              <a:t>Jetzt, wo du hinschaust, muss die Werbung dich fesseln. Sie will, dass du nicht weiterscrollst, sondern dranbleibst.</a:t>
            </a:r>
            <a:endParaRPr i="1" sz="2100"/>
          </a:p>
        </p:txBody>
      </p:sp>
      <p:sp>
        <p:nvSpPr>
          <p:cNvPr id="158" name="Google Shape;158;p23"/>
          <p:cNvSpPr txBox="1"/>
          <p:nvPr>
            <p:ph idx="2" type="body"/>
          </p:nvPr>
        </p:nvSpPr>
        <p:spPr>
          <a:xfrm>
            <a:off x="4868100" y="184225"/>
            <a:ext cx="3954000" cy="45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Werbung zeigt dir etwas,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 dich betrifft: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Ein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das du kennst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Eine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die du dir selbst stellst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Eine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Geschichte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 der du dich wiedererkennst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Einen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Nutzen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der spannend klingt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dieser Phase wird die Werbung meist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persönlich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Sie spricht deine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Ängste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Wünsche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oder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96575" y="500925"/>
            <a:ext cx="40077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 – DESIRE (Verlangen / Begehrlichkeit)</a:t>
            </a:r>
            <a:endParaRPr/>
          </a:p>
        </p:txBody>
      </p:sp>
      <p:sp>
        <p:nvSpPr>
          <p:cNvPr id="164" name="Google Shape;164;p24"/>
          <p:cNvSpPr txBox="1"/>
          <p:nvPr>
            <p:ph idx="1" type="subTitle"/>
          </p:nvPr>
        </p:nvSpPr>
        <p:spPr>
          <a:xfrm>
            <a:off x="311300" y="1796775"/>
            <a:ext cx="3704400" cy="23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100"/>
              <a:t>OK – du findest die Werbung interessant – aber warum solltest du das Produkt wirklich haben wollen?</a:t>
            </a:r>
            <a:endParaRPr i="1" sz="2100"/>
          </a:p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4857175" y="129625"/>
            <a:ext cx="3954000" cy="4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Werbung verspricht dir etwas Wertvolles und macht dir klar, was du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verlierst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wenn du es nicht hast: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motionale Ebene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(Gefühle):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Soziale Anerkennung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Selbstwert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FOMO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Rationale Ebene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(Logik):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i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"Das ist p</a:t>
            </a:r>
            <a:r>
              <a:rPr i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raktisch und spart Zeit"</a:t>
            </a:r>
            <a:endParaRPr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i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"Das ist günstiger als andere Angebote"</a:t>
            </a:r>
            <a:endParaRPr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i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"Das ist qualitativ besser"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 wird das Produkt als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Lösung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für dein Problem präsentiert. Du stellst dir vor, wie es wäre, es zu haben.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96575" y="500925"/>
            <a:ext cx="40077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 – ACTION (Handlung)</a:t>
            </a:r>
            <a:endParaRPr/>
          </a:p>
        </p:txBody>
      </p:sp>
      <p:sp>
        <p:nvSpPr>
          <p:cNvPr id="171" name="Google Shape;171;p25"/>
          <p:cNvSpPr txBox="1"/>
          <p:nvPr>
            <p:ph idx="1" type="subTitle"/>
          </p:nvPr>
        </p:nvSpPr>
        <p:spPr>
          <a:xfrm>
            <a:off x="311300" y="1796775"/>
            <a:ext cx="3704400" cy="23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100"/>
              <a:t>Na gut – du willst es jetzt haben… aber was sollst du genau tun?</a:t>
            </a:r>
            <a:endParaRPr i="1" sz="2100"/>
          </a:p>
        </p:txBody>
      </p:sp>
      <p:sp>
        <p:nvSpPr>
          <p:cNvPr id="172" name="Google Shape;172;p25"/>
          <p:cNvSpPr txBox="1"/>
          <p:nvPr>
            <p:ph idx="2" type="body"/>
          </p:nvPr>
        </p:nvSpPr>
        <p:spPr>
          <a:xfrm>
            <a:off x="4717600" y="129625"/>
            <a:ext cx="4093500" cy="4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Werbung sagt dir ganz klar, was der nächste Schritt ist: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Call-to-Action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"Klick jetzt auf den Link"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"Tritt jetzt in die Gruppe ein"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"Sichere dir einen der wenigen Plätze"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"Lade die App jetzt runter"</a:t>
            </a:r>
            <a:br>
              <a:rPr i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Die Aufforderung ist oft mit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Zeitdruck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oder </a:t>
            </a:r>
            <a:r>
              <a:rPr b="1"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Verknappung</a:t>
            </a:r>
            <a:r>
              <a:rPr lang="d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verbunden ("jetzt", "schnell", "bevor es zu spät ist"), damit du nicht lange nachdenkst.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Werbevideos</a:t>
            </a:r>
            <a:endParaRPr/>
          </a:p>
        </p:txBody>
      </p:sp>
      <p:pic>
        <p:nvPicPr>
          <p:cNvPr id="178" name="Google Shape;178;p26" title="ScreenRecording_11-14-2025 23-21-02_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1391450"/>
            <a:ext cx="1663799" cy="359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 title="ScreenRecording_11-15-2025 05-33-34_1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7925" y="1393675"/>
            <a:ext cx="1979245" cy="359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 title="ScreenRecording_11-16-2025 08-01-37_1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8362" y="1364713"/>
            <a:ext cx="1842287" cy="359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 title="ScreenRecording_11-16-2025 08-09-59_1.mov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1825" y="1335755"/>
            <a:ext cx="1979250" cy="365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247000" y="256125"/>
            <a:ext cx="4145700" cy="44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SOCIAL PROOF (Sozialer Nachweis)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URGENCY (Zeitdruck) 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AUTHORITY CUE (Autoritäts-Signal)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FOMO (Fear of Missing Out)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BUNDLING (Bündelung)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SCARCITY (Verknappung)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INFORMATION GAP (Wissenslücke)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de" sz="2200"/>
              <a:t>LOSS AVERSION (Verlustaversion)</a:t>
            </a:r>
            <a:endParaRPr sz="2200"/>
          </a:p>
        </p:txBody>
      </p:sp>
      <p:sp>
        <p:nvSpPr>
          <p:cNvPr id="187" name="Google Shape;187;p27"/>
          <p:cNvSpPr txBox="1"/>
          <p:nvPr>
            <p:ph idx="2" type="body"/>
          </p:nvPr>
        </p:nvSpPr>
        <p:spPr>
          <a:xfrm>
            <a:off x="4738525" y="189750"/>
            <a:ext cx="4213500" cy="47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900">
                <a:solidFill>
                  <a:schemeClr val="dk1"/>
                </a:solidFill>
              </a:rPr>
              <a:t>📋 EURE AUFGABE: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900">
                <a:solidFill>
                  <a:schemeClr val="dk1"/>
                </a:solidFill>
              </a:rPr>
              <a:t>1. Lest die </a:t>
            </a:r>
            <a:r>
              <a:rPr b="1" lang="de" sz="1900">
                <a:solidFill>
                  <a:schemeClr val="dk1"/>
                </a:solidFill>
              </a:rPr>
              <a:t>Beschreibungen</a:t>
            </a:r>
            <a:r>
              <a:rPr lang="de" sz="1900">
                <a:solidFill>
                  <a:schemeClr val="dk1"/>
                </a:solidFill>
              </a:rPr>
              <a:t> und die </a:t>
            </a:r>
            <a:r>
              <a:rPr b="1" lang="de" sz="1900">
                <a:solidFill>
                  <a:schemeClr val="dk1"/>
                </a:solidFill>
              </a:rPr>
              <a:t>psychologischen Theorien</a:t>
            </a:r>
            <a:r>
              <a:rPr lang="de" sz="1900">
                <a:solidFill>
                  <a:schemeClr val="dk1"/>
                </a:solidFill>
              </a:rPr>
              <a:t> zu jeder Taktik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900">
                <a:solidFill>
                  <a:schemeClr val="dk1"/>
                </a:solidFill>
              </a:rPr>
              <a:t>2. Ordnet die passende BEZEICHNUNG zu (siehe links)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900">
                <a:solidFill>
                  <a:schemeClr val="dk1"/>
                </a:solidFill>
              </a:rPr>
              <a:t>3. Sucht in den 4 Transkripten nach konkreten Beispielen und tragt sie ein.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500">
                <a:solidFill>
                  <a:schemeClr val="dk1"/>
                </a:solidFill>
              </a:rPr>
              <a:t>TIPP #1</a:t>
            </a:r>
            <a:r>
              <a:rPr lang="de" sz="1500">
                <a:solidFill>
                  <a:schemeClr val="dk1"/>
                </a:solidFill>
              </a:rPr>
              <a:t>: Manche Taktiken kommen mehrfach vor! </a:t>
            </a:r>
            <a:br>
              <a:rPr lang="de" sz="1500">
                <a:solidFill>
                  <a:schemeClr val="dk1"/>
                </a:solidFill>
              </a:rPr>
            </a:br>
            <a:r>
              <a:rPr b="1" lang="de" sz="1500">
                <a:solidFill>
                  <a:schemeClr val="dk1"/>
                </a:solidFill>
              </a:rPr>
              <a:t>TIPP #2</a:t>
            </a:r>
            <a:r>
              <a:rPr lang="de" sz="1500">
                <a:solidFill>
                  <a:schemeClr val="dk1"/>
                </a:solidFill>
              </a:rPr>
              <a:t>: Manchmal nutzt eine Aussage mehrere Taktiken gleichzeitig!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88525" y="181150"/>
            <a:ext cx="8520600" cy="4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640"/>
              <a:t>🎬 JETZT SEID IHR DRAN!</a:t>
            </a:r>
            <a:endParaRPr sz="26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de" sz="1940"/>
              <a:t>Schreibt einen kurzen Werbeclip (30-60 Sekunden Sprechzeit) für ein Produkt/Dienstleistung eurer Wahl. </a:t>
            </a:r>
            <a:endParaRPr b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de" sz="1940"/>
              <a:t>Verwendet mindestens 3-4 verschiedene Werbetaktiken!</a:t>
            </a:r>
            <a:endParaRPr b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1940"/>
              <a:t>Mögliche Ideen (falls ihr noch keine habt): </a:t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Online-Kurse (Gitarre, Kochen, Programmieren ...)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Apps (Fitness, Gesundheit, Lernen …)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Kleidung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Gaming/Social Media Produkte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Reise-Angebote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…</a:t>
            </a:r>
            <a:endParaRPr sz="19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88525" y="181150"/>
            <a:ext cx="8520600" cy="4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640"/>
              <a:t>🎬 JETZT SEID IHR DRAN!</a:t>
            </a:r>
            <a:endParaRPr sz="26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de" sz="1940"/>
              <a:t>Schreibt einen kurzen Werbeclip (30-60 Sekunden Sprechzeit) für ein Produkt/Dienstleistung eurer Wahl. </a:t>
            </a:r>
            <a:endParaRPr b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de" sz="1940"/>
              <a:t>Verwendet mindestens 3-4 verschiedene Werbetaktiken!</a:t>
            </a:r>
            <a:endParaRPr b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1940"/>
              <a:t>Mögliche Ideen (falls ihr noch keine habt): </a:t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Online-Kurse (Gitarre, Kochen, Programmieren ...)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Apps (Fitness, Gesundheit, Lernen …)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Kleidung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Gaming/Social Media Produkte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Reise-Angebote </a:t>
            </a:r>
            <a:endParaRPr i="1" sz="1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de" sz="1940"/>
              <a:t>- …</a:t>
            </a:r>
            <a:endParaRPr sz="1940"/>
          </a:p>
        </p:txBody>
      </p:sp>
      <p:sp>
        <p:nvSpPr>
          <p:cNvPr id="198" name="Google Shape;198;p29"/>
          <p:cNvSpPr/>
          <p:nvPr/>
        </p:nvSpPr>
        <p:spPr>
          <a:xfrm rot="-618715">
            <a:off x="928722" y="1138991"/>
            <a:ext cx="6759306" cy="274431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00"/>
                </a:solidFill>
                <a:latin typeface="Arial"/>
              </a:rPr>
              <a:t>TEIL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Features (Merkmale) vs. Benefits (Vorteile)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Features (Merkmale) vs. Benefits (Vorteile)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 rot="-529553">
            <a:off x="612436" y="1733622"/>
            <a:ext cx="6569050" cy="233284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FF"/>
                </a:solidFill>
                <a:latin typeface="Arial"/>
              </a:rPr>
              <a:t>TEIL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Features (Merkmale) vs. Benefits (Vorteile)</a:t>
            </a:r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243200" y="1459150"/>
            <a:ext cx="8694000" cy="3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Erfolgreiche Werbung verkauft </a:t>
            </a:r>
            <a:r>
              <a:rPr lang="de" sz="2400" u="sng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keine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Produkteigenschaften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an sich, sondern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Lösungen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für konkrete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Probleme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und spricht die dahinter liegenden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Gefühle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an. </a:t>
            </a:r>
            <a:endParaRPr sz="24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Features (Merkmale) vs. Benefits (Vorteile)</a:t>
            </a:r>
            <a:endParaRPr/>
          </a:p>
        </p:txBody>
      </p:sp>
      <p:sp>
        <p:nvSpPr>
          <p:cNvPr id="221" name="Google Shape;221;p33"/>
          <p:cNvSpPr txBox="1"/>
          <p:nvPr/>
        </p:nvSpPr>
        <p:spPr>
          <a:xfrm>
            <a:off x="243200" y="1459150"/>
            <a:ext cx="8694000" cy="3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Erfolgreiche Werbung verkauft </a:t>
            </a:r>
            <a:r>
              <a:rPr lang="de" sz="2400" u="sng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keine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Produkteigenschaften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an sich, sondern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Lösungen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für konkrete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Probleme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und spricht die dahinter liegenden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Gefühle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an. </a:t>
            </a:r>
            <a:endParaRPr sz="24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Die werbepsychologische Aufgabe (und “Kunst”) ist es, die “trockenen Merkmale” eines Produkts in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überzeugende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Vorteile und konkreten Nutzen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zu </a:t>
            </a:r>
            <a:r>
              <a:rPr b="1"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übersetzen</a:t>
            </a:r>
            <a:r>
              <a:rPr lang="de" sz="2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300" y="500925"/>
            <a:ext cx="37044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Zusammengefasst</a:t>
            </a:r>
            <a:r>
              <a:rPr lang="de"/>
              <a:t>:</a:t>
            </a:r>
            <a:endParaRPr/>
          </a:p>
        </p:txBody>
      </p:sp>
      <p:sp>
        <p:nvSpPr>
          <p:cNvPr id="227" name="Google Shape;227;p34"/>
          <p:cNvSpPr txBox="1"/>
          <p:nvPr>
            <p:ph idx="1" type="subTitle"/>
          </p:nvPr>
        </p:nvSpPr>
        <p:spPr>
          <a:xfrm>
            <a:off x="311300" y="1021650"/>
            <a:ext cx="37044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de" sz="2100"/>
              <a:t>Feature</a:t>
            </a:r>
            <a:r>
              <a:rPr lang="de" sz="2100"/>
              <a:t> (Eigenschaft): Was das Produkt ist oder hat. (Faktisch, rational, trocken).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de" sz="2100"/>
              <a:t>Benefit</a:t>
            </a:r>
            <a:r>
              <a:rPr lang="de" sz="2100"/>
              <a:t> (Nutzen): Was das Produkt für den Kunden tut. (Emotional, löst ein Problem, macht das Leben besser).</a:t>
            </a:r>
            <a:endParaRPr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300" y="500925"/>
            <a:ext cx="3704400" cy="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Zusammengefasst:</a:t>
            </a:r>
            <a:endParaRPr/>
          </a:p>
        </p:txBody>
      </p:sp>
      <p:sp>
        <p:nvSpPr>
          <p:cNvPr id="233" name="Google Shape;233;p35"/>
          <p:cNvSpPr txBox="1"/>
          <p:nvPr>
            <p:ph idx="1" type="subTitle"/>
          </p:nvPr>
        </p:nvSpPr>
        <p:spPr>
          <a:xfrm>
            <a:off x="311300" y="1021650"/>
            <a:ext cx="37044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de" sz="2100"/>
              <a:t>Feature</a:t>
            </a:r>
            <a:r>
              <a:rPr lang="de" sz="2100"/>
              <a:t> (Eigenschaft): Was das Produkt ist oder hat. (Faktisch, rational, trocken).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de" sz="2100"/>
              <a:t>Benefit</a:t>
            </a:r>
            <a:r>
              <a:rPr lang="de" sz="2100"/>
              <a:t> (Nutzen): Was das Produkt für den Kunden tut. (Emotional, löst ein Problem, macht das Leben besser).</a:t>
            </a:r>
            <a:endParaRPr sz="2100"/>
          </a:p>
        </p:txBody>
      </p:sp>
      <p:sp>
        <p:nvSpPr>
          <p:cNvPr id="234" name="Google Shape;234;p35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solidFill>
                  <a:srgbClr val="262626"/>
                </a:solidFill>
              </a:rPr>
              <a:t>Der “Damit-Trick”: </a:t>
            </a:r>
            <a:endParaRPr sz="30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3000">
                <a:solidFill>
                  <a:srgbClr val="262626"/>
                </a:solidFill>
              </a:rPr>
              <a:t>Um vom </a:t>
            </a:r>
            <a:r>
              <a:rPr b="1" lang="de" sz="3000">
                <a:solidFill>
                  <a:srgbClr val="262626"/>
                </a:solidFill>
              </a:rPr>
              <a:t>Feature</a:t>
            </a:r>
            <a:r>
              <a:rPr lang="de" sz="3000">
                <a:solidFill>
                  <a:srgbClr val="262626"/>
                </a:solidFill>
              </a:rPr>
              <a:t> zum </a:t>
            </a:r>
            <a:r>
              <a:rPr b="1" lang="de" sz="3000">
                <a:solidFill>
                  <a:srgbClr val="262626"/>
                </a:solidFill>
              </a:rPr>
              <a:t>Benefit</a:t>
            </a:r>
            <a:r>
              <a:rPr lang="de" sz="3000">
                <a:solidFill>
                  <a:srgbClr val="262626"/>
                </a:solidFill>
              </a:rPr>
              <a:t> zu kommen, hänge den Satzteil </a:t>
            </a:r>
            <a:br>
              <a:rPr lang="de" sz="3000">
                <a:solidFill>
                  <a:srgbClr val="262626"/>
                </a:solidFill>
              </a:rPr>
            </a:br>
            <a:r>
              <a:rPr i="1" lang="de" sz="3000">
                <a:solidFill>
                  <a:srgbClr val="262626"/>
                </a:solidFill>
              </a:rPr>
              <a:t>"..., </a:t>
            </a:r>
            <a:r>
              <a:rPr b="1" i="1" lang="de" sz="3000">
                <a:solidFill>
                  <a:schemeClr val="accent5"/>
                </a:solidFill>
              </a:rPr>
              <a:t>damit du</a:t>
            </a:r>
            <a:r>
              <a:rPr i="1" lang="de" sz="3000">
                <a:solidFill>
                  <a:srgbClr val="262626"/>
                </a:solidFill>
              </a:rPr>
              <a:t>..."</a:t>
            </a:r>
            <a:r>
              <a:rPr lang="de" sz="3000">
                <a:solidFill>
                  <a:srgbClr val="262626"/>
                </a:solidFill>
              </a:rPr>
              <a:t> an das </a:t>
            </a:r>
            <a:r>
              <a:rPr b="1" lang="de" sz="3000">
                <a:solidFill>
                  <a:srgbClr val="262626"/>
                </a:solidFill>
              </a:rPr>
              <a:t>Feature</a:t>
            </a:r>
            <a:r>
              <a:rPr lang="de" sz="3000">
                <a:solidFill>
                  <a:srgbClr val="262626"/>
                </a:solidFill>
              </a:rPr>
              <a:t> an. </a:t>
            </a:r>
            <a:endParaRPr sz="30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/>
        </p:nvSpPr>
        <p:spPr>
          <a:xfrm>
            <a:off x="340475" y="145900"/>
            <a:ext cx="83415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6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Aufgabe</a:t>
            </a:r>
            <a:r>
              <a:rPr lang="de" sz="26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: Wähle 3 Eigenschaften/Merkmale (Features) deines Produkts und wandle sie in </a:t>
            </a:r>
            <a:r>
              <a:rPr b="1" lang="de" sz="26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Benefits</a:t>
            </a:r>
            <a:r>
              <a:rPr lang="de" sz="26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um.</a:t>
            </a:r>
            <a:endParaRPr sz="26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36" title="Bildschirmfoto 2025-11-23 um 14.48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0650"/>
            <a:ext cx="9143999" cy="286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/>
        </p:nvSpPr>
        <p:spPr>
          <a:xfrm>
            <a:off x="449900" y="145900"/>
            <a:ext cx="8232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Weitere Beispiele: </a:t>
            </a:r>
            <a:endParaRPr sz="37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37" title="Bildschirmfoto 2025-11-23 um 14.49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0700"/>
            <a:ext cx="9143998" cy="3958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Warum braucht man beides? </a:t>
            </a:r>
            <a:r>
              <a:rPr lang="de" u="sng"/>
              <a:t>Features UND Benefits</a:t>
            </a:r>
            <a:r>
              <a:rPr lang="de"/>
              <a:t> </a:t>
            </a:r>
            <a:endParaRPr/>
          </a:p>
        </p:txBody>
      </p:sp>
      <p:sp>
        <p:nvSpPr>
          <p:cNvPr id="252" name="Google Shape;252;p38"/>
          <p:cNvSpPr txBox="1"/>
          <p:nvPr/>
        </p:nvSpPr>
        <p:spPr>
          <a:xfrm>
            <a:off x="225025" y="1374025"/>
            <a:ext cx="86940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Benefits: Sprechen die Gefühle an (schnelles, impulsives Denken) → Wecken Verlangen (Desire). Man entscheidet innerlich oft schon hier: “</a:t>
            </a:r>
            <a:r>
              <a:rPr i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Das will ich haben!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Warum braucht man beides? </a:t>
            </a:r>
            <a:r>
              <a:rPr lang="de" u="sng"/>
              <a:t>Features UND Benefits</a:t>
            </a:r>
            <a:r>
              <a:rPr lang="de"/>
              <a:t> </a:t>
            </a:r>
            <a:endParaRPr/>
          </a:p>
        </p:txBody>
      </p:sp>
      <p:sp>
        <p:nvSpPr>
          <p:cNvPr id="258" name="Google Shape;258;p39"/>
          <p:cNvSpPr txBox="1"/>
          <p:nvPr/>
        </p:nvSpPr>
        <p:spPr>
          <a:xfrm>
            <a:off x="225025" y="1374025"/>
            <a:ext cx="86940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Benefits: Sprechen die Gefühle an (schnelles, impulsives Denken) → Wecken Verlangen (Desire). Man entscheidet innerlich oft schon hier: “</a:t>
            </a:r>
            <a:r>
              <a:rPr i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Das will ich haben!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Features: Sprechen den Verstand an (langsames, kritisches Denken). → Dienen der Rationalisierung. Nachdem das Gefühl “Ja” gesagt hat, braucht unser Verstand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logische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Fakten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, um den Kauf </a:t>
            </a:r>
            <a:r>
              <a:rPr lang="de" sz="2200" u="sng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vor sich selbst zu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rechtfertigen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Warum braucht man beides? </a:t>
            </a:r>
            <a:r>
              <a:rPr lang="de" u="sng"/>
              <a:t>Features UND Benefits</a:t>
            </a:r>
            <a:r>
              <a:rPr lang="de"/>
              <a:t> </a:t>
            </a:r>
            <a:endParaRPr/>
          </a:p>
        </p:txBody>
      </p:sp>
      <p:sp>
        <p:nvSpPr>
          <p:cNvPr id="264" name="Google Shape;264;p40"/>
          <p:cNvSpPr txBox="1"/>
          <p:nvPr/>
        </p:nvSpPr>
        <p:spPr>
          <a:xfrm>
            <a:off x="225025" y="1374025"/>
            <a:ext cx="86940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Benefits: Sprechen die Gefühle an (schnelles, impulsives Denken) → Wecken Verlangen (Desire). Man entscheidet innerlich oft schon hier: “</a:t>
            </a:r>
            <a:r>
              <a:rPr i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Das will ich haben!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Features: Sprechen den Verstand an (langsames, kritisches Denken). → Dienen der Rationalisierung. Nachdem das Gefühl “Ja” gesagt hat, braucht unser Verstand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logische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Fakten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, um den Kauf </a:t>
            </a:r>
            <a:r>
              <a:rPr lang="de" sz="2200" u="sng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vor sich selbst zu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rechtfertigen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1665850" y="4730075"/>
            <a:ext cx="725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de" sz="1100">
                <a:latin typeface="Nunito"/>
                <a:ea typeface="Nunito"/>
                <a:cs typeface="Nunito"/>
                <a:sym typeface="Nunito"/>
              </a:rPr>
              <a:t>vgl. Dual-Process-Theory</a:t>
            </a:r>
            <a:r>
              <a:rPr b="1" lang="de" sz="110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de" sz="1100"/>
              <a:t>Kahneman, D. (2011). </a:t>
            </a:r>
            <a:r>
              <a:rPr i="1" lang="de" sz="1100"/>
              <a:t>Thinking, fast and slow</a:t>
            </a:r>
            <a:r>
              <a:rPr lang="de" sz="1100"/>
              <a:t>. New York: Farrar, Straus and Giroux.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Warum braucht man beides? </a:t>
            </a:r>
            <a:r>
              <a:rPr lang="de" u="sng"/>
              <a:t>Features UND Benefits</a:t>
            </a:r>
            <a:r>
              <a:rPr lang="de"/>
              <a:t> </a:t>
            </a:r>
            <a:endParaRPr/>
          </a:p>
        </p:txBody>
      </p:sp>
      <p:sp>
        <p:nvSpPr>
          <p:cNvPr id="271" name="Google Shape;271;p41"/>
          <p:cNvSpPr txBox="1"/>
          <p:nvPr/>
        </p:nvSpPr>
        <p:spPr>
          <a:xfrm>
            <a:off x="225025" y="1374025"/>
            <a:ext cx="86940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Benefits: Sprechen die Gefühle an (schnelles, impulsives Denken) → Wecken Verlangen (Desire). Man entscheidet innerlich oft schon hier: "</a:t>
            </a:r>
            <a:r>
              <a:rPr i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Das will ich haben!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Roboto"/>
              <a:buAutoNum type="arabicPeriod"/>
            </a:pP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Features: Sprechen den Verstand an (langsames, kritisches Denken). → Dienen der Rationalisierung. Nachdem das Gefühl "Ja" gesagt hat, braucht unser Verstand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logische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Fakten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, um den Kauf </a:t>
            </a:r>
            <a:r>
              <a:rPr lang="de" sz="2200" u="sng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vor sich selbst zu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rechtfertigen</a:t>
            </a:r>
            <a:r>
              <a:rPr lang="de" sz="22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20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41"/>
          <p:cNvSpPr txBox="1"/>
          <p:nvPr/>
        </p:nvSpPr>
        <p:spPr>
          <a:xfrm>
            <a:off x="1665850" y="4730075"/>
            <a:ext cx="725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de" sz="1100">
                <a:latin typeface="Nunito"/>
                <a:ea typeface="Nunito"/>
                <a:cs typeface="Nunito"/>
                <a:sym typeface="Nunito"/>
              </a:rPr>
              <a:t>vgl. Dual-Process-Theory</a:t>
            </a:r>
            <a:r>
              <a:rPr b="1" lang="de" sz="110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de" sz="1100"/>
              <a:t>Kahneman, D. (2011). </a:t>
            </a:r>
            <a:r>
              <a:rPr i="1" lang="de" sz="1100"/>
              <a:t>Thinking, fast and slow</a:t>
            </a:r>
            <a:r>
              <a:rPr lang="de" sz="1100"/>
              <a:t>. New York: Farrar, Straus and Giroux.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 rot="353278">
            <a:off x="474206" y="1629395"/>
            <a:ext cx="7781954" cy="2687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💡 Faustregel: Wir kaufen emotional (Benefit) und rechtfertigen rational (Feature).</a:t>
            </a:r>
            <a:endParaRPr sz="4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311700" y="539725"/>
            <a:ext cx="85206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Und im Alltag?</a:t>
            </a:r>
            <a:endParaRPr/>
          </a:p>
        </p:txBody>
      </p:sp>
      <p:pic>
        <p:nvPicPr>
          <p:cNvPr descr="Supermarkets and grocery stores consult consumer psychology experts to analyze shopper behavior data, enabling them to arrange stores strategically to influence purchasing decisions and maximize profits. This video examines a number of these techniques with the goal of helping you make more informed decisions during your next trip to the local grocery store.&#10;&#10;Subscribe to my channel for more content on society, psychology, and similar topics!&#10;&#10;FOLLOW: &#10;X: https://x.com/humanredacted&#10;PATREON: https://www.patreon.com/inhumanform&#10;&#10;References:&#10;Brinkworth. C, (2017) &quot;Supermarket savvy: An analysis of psychological exploitation within grocery stores&quot; Independent Study.&#10;&#10;Mitchell, J. Gary (Director). (1971). Consumer power: Advertising – featuring Ralph Nader. Public Domain Docs." id="279" name="Google Shape;279;p42" title="How Grocery Stores Exploit Consumer Psycholog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400" y="1334450"/>
            <a:ext cx="6310000" cy="354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